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2"/>
  </p:sldMasterIdLst>
  <p:notesMasterIdLst>
    <p:notesMasterId r:id="rId42"/>
  </p:notesMasterIdLst>
  <p:sldIdLst>
    <p:sldId id="256" r:id="rId3"/>
    <p:sldId id="257" r:id="rId4"/>
    <p:sldId id="278" r:id="rId5"/>
    <p:sldId id="299" r:id="rId6"/>
    <p:sldId id="258" r:id="rId7"/>
    <p:sldId id="317" r:id="rId8"/>
    <p:sldId id="327" r:id="rId9"/>
    <p:sldId id="316" r:id="rId10"/>
    <p:sldId id="277" r:id="rId11"/>
    <p:sldId id="303" r:id="rId12"/>
    <p:sldId id="318" r:id="rId13"/>
    <p:sldId id="271" r:id="rId14"/>
    <p:sldId id="304" r:id="rId15"/>
    <p:sldId id="280" r:id="rId16"/>
    <p:sldId id="314" r:id="rId17"/>
    <p:sldId id="296" r:id="rId18"/>
    <p:sldId id="322" r:id="rId19"/>
    <p:sldId id="292" r:id="rId20"/>
    <p:sldId id="320" r:id="rId21"/>
    <p:sldId id="298" r:id="rId22"/>
    <p:sldId id="301" r:id="rId23"/>
    <p:sldId id="302" r:id="rId24"/>
    <p:sldId id="306" r:id="rId25"/>
    <p:sldId id="291" r:id="rId26"/>
    <p:sldId id="283" r:id="rId27"/>
    <p:sldId id="295" r:id="rId28"/>
    <p:sldId id="312" r:id="rId29"/>
    <p:sldId id="315" r:id="rId30"/>
    <p:sldId id="300" r:id="rId31"/>
    <p:sldId id="276" r:id="rId32"/>
    <p:sldId id="262" r:id="rId33"/>
    <p:sldId id="326" r:id="rId34"/>
    <p:sldId id="263" r:id="rId35"/>
    <p:sldId id="308" r:id="rId36"/>
    <p:sldId id="269" r:id="rId37"/>
    <p:sldId id="286" r:id="rId38"/>
    <p:sldId id="324" r:id="rId39"/>
    <p:sldId id="325" r:id="rId40"/>
    <p:sldId id="319" r:id="rId41"/>
  </p:sldIdLst>
  <p:sldSz cx="18288000" cy="10287000"/>
  <p:notesSz cx="6858000" cy="9144000"/>
  <p:embeddedFontLst>
    <p:embeddedFont>
      <p:font typeface="Calibri" panose="020F0502020204030204" pitchFamily="34" charset="0"/>
      <p:regular r:id="rId43"/>
      <p:bold r:id="rId44"/>
      <p:italic r:id="rId45"/>
      <p:boldItalic r:id="rId46"/>
    </p:embeddedFont>
    <p:embeddedFont>
      <p:font typeface="League Gothic" panose="020B0604020202020204" charset="0"/>
      <p:regular r:id="rId47"/>
    </p:embeddedFont>
    <p:embeddedFont>
      <p:font typeface="Montserrat Bold" panose="020B0604020202020204" charset="0"/>
      <p:regular r:id="rId48"/>
      <p:bold r:id="rId49"/>
    </p:embeddedFont>
    <p:embeddedFont>
      <p:font typeface="Quattrocento" panose="020B0604020202020204" charset="0"/>
      <p:regular r:id="rId50"/>
      <p:bold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656B"/>
    <a:srgbClr val="F0F8A4"/>
    <a:srgbClr val="C6E395"/>
    <a:srgbClr val="072E09"/>
    <a:srgbClr val="DAD887"/>
    <a:srgbClr val="C9C9C9"/>
    <a:srgbClr val="9BBB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6A1D8-F0DA-EC96-35C4-DDA150EDA713}" v="208" dt="2026-04-15T16:43:22.412"/>
    <p1510:client id="{077457FE-334A-775B-503E-577780C9B913}" v="1322" dt="2026-04-16T07:45:27.811"/>
    <p1510:client id="{28D89000-03CC-8C60-986C-5B2EF4098598}" v="33" dt="2026-04-15T10:32:17.415"/>
    <p1510:client id="{3323B13B-D590-FF15-64E3-6492413BEE95}" v="354" dt="2026-04-15T09:56:39.427"/>
    <p1510:client id="{425632BF-7417-319E-E763-F40A2DF50D2D}" v="66" dt="2026-04-15T11:10:12.339"/>
    <p1510:client id="{53B88043-8C04-3F6D-C1D5-96973E303B33}" v="558" dt="2026-04-16T06:38:49.125"/>
    <p1510:client id="{5C48C1CB-5B58-0901-6297-D0C8EEA40CF0}" v="1" dt="2026-04-16T15:09:44.790"/>
    <p1510:client id="{61E88937-5BF1-9D90-C29D-75C68954977A}" v="370" dt="2026-04-16T14:28:32.133"/>
    <p1510:client id="{716DB19B-CFF1-FB4D-1CEB-B5E4E24A3FB1}" v="2" dt="2026-04-15T06:04:13.373"/>
    <p1510:client id="{88E9900D-3658-49FA-B42C-D6BC46A0FA51}" v="1404" dt="2026-04-15T12:08:59.761"/>
    <p1510:client id="{90028A2A-104A-FA0B-68AF-ACD66ABC0256}" v="1288" dt="2026-04-15T19:48:50.498"/>
    <p1510:client id="{9766ECFC-29B9-116B-0879-9FDCD8F28BF0}" v="90" dt="2026-04-16T05:12:38.009"/>
    <p1510:client id="{A2B50512-CF49-54FA-9B72-277EE6720D64}" v="663" dt="2026-04-15T04:46:26.542"/>
    <p1510:client id="{A958E2A0-4A04-688A-DF1D-EEB922727935}" v="1475" dt="2026-04-16T13:27:24.584"/>
    <p1510:client id="{B62756F9-3F5D-D316-9C0B-F3D9379F88C8}" v="1026" dt="2026-04-14T23:35:18.583"/>
    <p1510:client id="{BD9593F7-2383-3C46-E4BD-FB25F7ECAA2B}" v="1921" dt="2026-04-15T10:36:06.577"/>
    <p1510:client id="{C8B3F852-D86A-DACB-D08D-BBE15B763E3D}" v="132" dt="2026-04-16T10:46:52.382"/>
    <p1510:client id="{D4988B8A-434D-D726-6514-8B1E1F302A0B}" v="36" dt="2026-04-15T11:11:04.898"/>
    <p1510:client id="{D5D588E0-BB09-7803-3D7E-DB8F8106F6A8}" v="1571" dt="2026-04-16T05:40:43.443"/>
    <p1510:client id="{DEA6F9B3-EB98-A6C0-FE83-C2BD6BA67738}" v="3" dt="2026-04-15T06:05:29.807"/>
    <p1510:client id="{E6BF1DEB-2B4C-C72F-A4B8-E489BA74253B}" v="144" dt="2026-04-16T07:14:31.597"/>
    <p1510:client id="{E949FDE9-55C5-BCED-0FF2-B68F4801D3D9}" v="88" dt="2026-04-16T17:38:18.365"/>
    <p1510:client id="{F1A0B93A-298F-6174-902C-6B6B04B2E0CF}" v="1508" dt="2026-04-16T14:44:05.775"/>
    <p1510:client id="{FCC33D45-C848-DF33-224B-14DF3C3C6FAB}" v="539" dt="2026-04-16T06:03:17.617"/>
  </p1510:revLst>
</p1510:revInfo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1" d="100"/>
          <a:sy n="41" d="100"/>
        </p:scale>
        <p:origin x="144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notesMaster" Target="notesMasters/notesMaster1.xml"/><Relationship Id="rId47" Type="http://schemas.openxmlformats.org/officeDocument/2006/relationships/font" Target="fonts/font5.fntdata"/><Relationship Id="rId50" Type="http://schemas.openxmlformats.org/officeDocument/2006/relationships/font" Target="fonts/font8.fntdata"/><Relationship Id="rId55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4.fnt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font" Target="fonts/font3.fntdata"/><Relationship Id="rId53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font" Target="fonts/font7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2.fntdata"/><Relationship Id="rId52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1.fntdata"/><Relationship Id="rId48" Type="http://schemas.openxmlformats.org/officeDocument/2006/relationships/font" Target="fonts/font6.fntdata"/><Relationship Id="rId56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font" Target="fonts/font9.fntdata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27D252-13C8-4739-A4C7-92D79D9C7130}" type="datetimeFigureOut">
              <a:t>4/17/2026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9F0721-DC00-4BBD-A665-2B95225E2F4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277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309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sv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8302327" y="1221568"/>
            <a:ext cx="10873368" cy="6351335"/>
            <a:chOff x="-40447" y="-114878"/>
            <a:chExt cx="1684569" cy="983988"/>
          </a:xfrm>
        </p:grpSpPr>
        <p:sp>
          <p:nvSpPr>
            <p:cNvPr id="7" name="Freeform 7"/>
            <p:cNvSpPr/>
            <p:nvPr/>
          </p:nvSpPr>
          <p:spPr>
            <a:xfrm>
              <a:off x="-40447" y="-114878"/>
              <a:ext cx="1684569" cy="983988"/>
            </a:xfrm>
            <a:custGeom>
              <a:avLst/>
              <a:gdLst/>
              <a:ahLst/>
              <a:cxnLst/>
              <a:rect l="l" t="t" r="r" b="b"/>
              <a:pathLst>
                <a:path w="1684569" h="983988">
                  <a:moveTo>
                    <a:pt x="0" y="0"/>
                  </a:moveTo>
                  <a:lnTo>
                    <a:pt x="1684569" y="0"/>
                  </a:lnTo>
                  <a:lnTo>
                    <a:pt x="1684569" y="983988"/>
                  </a:lnTo>
                  <a:lnTo>
                    <a:pt x="0" y="983988"/>
                  </a:lnTo>
                  <a:close/>
                </a:path>
              </a:pathLst>
            </a:custGeom>
            <a:blipFill>
              <a:blip r:embed="rId2"/>
              <a:stretch>
                <a:fillRect t="-7117" b="-7117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-2174029" y="824612"/>
            <a:ext cx="14258546" cy="6748293"/>
            <a:chOff x="0" y="-38100"/>
            <a:chExt cx="1368533" cy="6477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368533" cy="609600"/>
            </a:xfrm>
            <a:custGeom>
              <a:avLst/>
              <a:gdLst/>
              <a:ahLst/>
              <a:cxnLst/>
              <a:rect l="l" t="t" r="r" b="b"/>
              <a:pathLst>
                <a:path w="1368533" h="609600">
                  <a:moveTo>
                    <a:pt x="203200" y="0"/>
                  </a:moveTo>
                  <a:lnTo>
                    <a:pt x="1368533" y="0"/>
                  </a:lnTo>
                  <a:lnTo>
                    <a:pt x="1165333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600" y="-38100"/>
              <a:ext cx="1165333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4702" y="1895766"/>
            <a:ext cx="9438647" cy="41242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8000">
                <a:solidFill>
                  <a:srgbClr val="F0F8A4"/>
                </a:solidFill>
                <a:latin typeface="League Gothic"/>
                <a:ea typeface="League Gothic"/>
                <a:cs typeface="League Gothic"/>
                <a:sym typeface="League Gothic"/>
              </a:rPr>
              <a:t>Modelling and Forecasting India’s Gross Bank Credit: </a:t>
            </a:r>
          </a:p>
          <a:p>
            <a:r>
              <a:rPr lang="en-US" sz="5400">
                <a:solidFill>
                  <a:srgbClr val="F0F8A4"/>
                </a:solidFill>
                <a:latin typeface="League Gothic"/>
                <a:ea typeface="League Gothic"/>
                <a:cs typeface="League Gothic"/>
                <a:sym typeface="League Gothic"/>
              </a:rPr>
              <a:t>A Comparative Study of ARIMA, ARIMAX, VECM, and FAVAR Models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8182FE-B6B6-36A3-C258-1AF93528440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416"/>
            <a:ext cx="7509239" cy="10711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BC78E95-C574-AC44-9049-ABFB9E7A44AF}"/>
              </a:ext>
            </a:extLst>
          </p:cNvPr>
          <p:cNvSpPr txBox="1"/>
          <p:nvPr/>
        </p:nvSpPr>
        <p:spPr>
          <a:xfrm>
            <a:off x="879725" y="6599377"/>
            <a:ext cx="7889966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000">
                <a:solidFill>
                  <a:schemeClr val="bg1"/>
                </a:solidFill>
              </a:rPr>
              <a:t>Mentor:  Dr. Leena Kulkarni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1E78E4-A266-F610-6A50-68E315F64771}"/>
              </a:ext>
            </a:extLst>
          </p:cNvPr>
          <p:cNvSpPr txBox="1"/>
          <p:nvPr/>
        </p:nvSpPr>
        <p:spPr>
          <a:xfrm>
            <a:off x="879725" y="7736810"/>
            <a:ext cx="88174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/>
              <a:t>Presented by:  </a:t>
            </a:r>
          </a:p>
          <a:p>
            <a:r>
              <a:rPr lang="en-IN" sz="2400" b="1"/>
              <a:t>                        A040 - ATHARVA RAUT</a:t>
            </a:r>
          </a:p>
          <a:p>
            <a:r>
              <a:rPr lang="en-IN" sz="2400" b="1"/>
              <a:t>                        A041 - VAIDEHI THAKARE</a:t>
            </a:r>
          </a:p>
          <a:p>
            <a:r>
              <a:rPr lang="en-IN" sz="2400" b="1"/>
              <a:t>                        A042 - PRAANALIE CHAKRABORTY</a:t>
            </a:r>
          </a:p>
          <a:p>
            <a:r>
              <a:rPr lang="en-IN" sz="2400" b="1"/>
              <a:t>                        A044 - SHREYA SAWANT</a:t>
            </a:r>
          </a:p>
          <a:p>
            <a:r>
              <a:rPr lang="en-IN" sz="2400" b="1"/>
              <a:t>                        A045 - PRUTHVIRAJ DESHMUKH </a:t>
            </a:r>
            <a:endParaRPr lang="en-IN" b="1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10388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/>
          <p:cNvGrpSpPr>
            <a:grpSpLocks noGrp="1" noUngrp="1" noRot="1" noMove="1" noResize="1"/>
          </p:cNvGrpSpPr>
          <p:nvPr/>
        </p:nvGrpSpPr>
        <p:grpSpPr>
          <a:xfrm>
            <a:off x="1606141" y="2092503"/>
            <a:ext cx="13532064" cy="7085081"/>
            <a:chOff x="0" y="-95250"/>
            <a:chExt cx="2450836" cy="2660966"/>
          </a:xfrm>
        </p:grpSpPr>
        <p:sp>
          <p:nvSpPr>
            <p:cNvPr id="6" name="Freeform 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50836" cy="2565716"/>
            </a:xfrm>
            <a:custGeom>
              <a:avLst/>
              <a:gdLst/>
              <a:ahLst/>
              <a:cxnLst/>
              <a:rect l="l" t="t" r="r" b="b"/>
              <a:pathLst>
                <a:path w="2450836" h="2565716">
                  <a:moveTo>
                    <a:pt x="29660" y="0"/>
                  </a:moveTo>
                  <a:lnTo>
                    <a:pt x="2421176" y="0"/>
                  </a:lnTo>
                  <a:cubicBezTo>
                    <a:pt x="2437556" y="0"/>
                    <a:pt x="2450836" y="13279"/>
                    <a:pt x="2450836" y="29660"/>
                  </a:cubicBezTo>
                  <a:lnTo>
                    <a:pt x="2450836" y="2536056"/>
                  </a:lnTo>
                  <a:cubicBezTo>
                    <a:pt x="2450836" y="2552437"/>
                    <a:pt x="2437556" y="2565716"/>
                    <a:pt x="2421176" y="2565716"/>
                  </a:cubicBezTo>
                  <a:lnTo>
                    <a:pt x="29660" y="2565716"/>
                  </a:lnTo>
                  <a:cubicBezTo>
                    <a:pt x="21794" y="2565716"/>
                    <a:pt x="14249" y="2562591"/>
                    <a:pt x="8687" y="2557029"/>
                  </a:cubicBezTo>
                  <a:cubicBezTo>
                    <a:pt x="3125" y="2551467"/>
                    <a:pt x="0" y="2543923"/>
                    <a:pt x="0" y="2536056"/>
                  </a:cubicBezTo>
                  <a:lnTo>
                    <a:pt x="0" y="29660"/>
                  </a:lnTo>
                  <a:cubicBezTo>
                    <a:pt x="0" y="21794"/>
                    <a:pt x="3125" y="14249"/>
                    <a:pt x="8687" y="8687"/>
                  </a:cubicBezTo>
                  <a:cubicBezTo>
                    <a:pt x="14249" y="3125"/>
                    <a:pt x="21794" y="0"/>
                    <a:pt x="29660" y="0"/>
                  </a:cubicBezTo>
                  <a:close/>
                </a:path>
              </a:pathLst>
            </a:custGeom>
            <a:solidFill>
              <a:srgbClr val="9BBB59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5250"/>
              <a:ext cx="2450836" cy="2660966"/>
            </a:xfrm>
            <a:prstGeom prst="rect">
              <a:avLst/>
            </a:prstGeom>
            <a:solidFill>
              <a:srgbClr val="9BBB59"/>
            </a:solidFill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2362200" y="2645275"/>
            <a:ext cx="9483925" cy="1090830"/>
            <a:chOff x="-3789433" y="-76200"/>
            <a:chExt cx="4195833" cy="482600"/>
          </a:xfrm>
        </p:grpSpPr>
        <p:sp>
          <p:nvSpPr>
            <p:cNvPr id="10" name="Freeform 10"/>
            <p:cNvSpPr/>
            <p:nvPr/>
          </p:nvSpPr>
          <p:spPr>
            <a:xfrm>
              <a:off x="-3789433" y="-15836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76988" y="0"/>
                  </a:moveTo>
                  <a:lnTo>
                    <a:pt x="229412" y="0"/>
                  </a:lnTo>
                  <a:cubicBezTo>
                    <a:pt x="327160" y="0"/>
                    <a:pt x="406400" y="79240"/>
                    <a:pt x="406400" y="176988"/>
                  </a:cubicBezTo>
                  <a:lnTo>
                    <a:pt x="406400" y="229412"/>
                  </a:lnTo>
                  <a:cubicBezTo>
                    <a:pt x="406400" y="327160"/>
                    <a:pt x="327160" y="406400"/>
                    <a:pt x="229412" y="406400"/>
                  </a:cubicBezTo>
                  <a:lnTo>
                    <a:pt x="176988" y="406400"/>
                  </a:lnTo>
                  <a:cubicBezTo>
                    <a:pt x="79240" y="406400"/>
                    <a:pt x="0" y="327160"/>
                    <a:pt x="0" y="229412"/>
                  </a:cubicBezTo>
                  <a:lnTo>
                    <a:pt x="0" y="176988"/>
                  </a:lnTo>
                  <a:cubicBezTo>
                    <a:pt x="0" y="79240"/>
                    <a:pt x="79240" y="0"/>
                    <a:pt x="176988" y="0"/>
                  </a:cubicBezTo>
                  <a:close/>
                </a:path>
              </a:pathLst>
            </a:custGeom>
            <a:solidFill>
              <a:srgbClr val="F0F8A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76200"/>
              <a:ext cx="406400" cy="482600"/>
            </a:xfrm>
            <a:prstGeom prst="rect">
              <a:avLst/>
            </a:prstGeom>
          </p:spPr>
          <p:txBody>
            <a:bodyPr lIns="56106" tIns="56106" rIns="56106" bIns="56106" rtlCol="0" anchor="ctr"/>
            <a:lstStyle/>
            <a:p>
              <a:pPr algn="ctr">
                <a:lnSpc>
                  <a:spcPts val="5320"/>
                </a:lnSpc>
                <a:spcBef>
                  <a:spcPct val="0"/>
                </a:spcBef>
              </a:pPr>
              <a:endParaRPr lang="en-US" sz="3800" b="1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388750" y="6936758"/>
            <a:ext cx="937949" cy="1090830"/>
            <a:chOff x="11746" y="256311"/>
            <a:chExt cx="414963" cy="482600"/>
          </a:xfrm>
        </p:grpSpPr>
        <p:sp>
          <p:nvSpPr>
            <p:cNvPr id="13" name="Freeform 13"/>
            <p:cNvSpPr/>
            <p:nvPr/>
          </p:nvSpPr>
          <p:spPr>
            <a:xfrm>
              <a:off x="20309" y="299141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76988" y="0"/>
                  </a:moveTo>
                  <a:lnTo>
                    <a:pt x="229412" y="0"/>
                  </a:lnTo>
                  <a:cubicBezTo>
                    <a:pt x="327160" y="0"/>
                    <a:pt x="406400" y="79240"/>
                    <a:pt x="406400" y="176988"/>
                  </a:cubicBezTo>
                  <a:lnTo>
                    <a:pt x="406400" y="229412"/>
                  </a:lnTo>
                  <a:cubicBezTo>
                    <a:pt x="406400" y="327160"/>
                    <a:pt x="327160" y="406400"/>
                    <a:pt x="229412" y="406400"/>
                  </a:cubicBezTo>
                  <a:lnTo>
                    <a:pt x="176988" y="406400"/>
                  </a:lnTo>
                  <a:cubicBezTo>
                    <a:pt x="79240" y="406400"/>
                    <a:pt x="0" y="327160"/>
                    <a:pt x="0" y="229412"/>
                  </a:cubicBezTo>
                  <a:lnTo>
                    <a:pt x="0" y="176988"/>
                  </a:lnTo>
                  <a:cubicBezTo>
                    <a:pt x="0" y="79240"/>
                    <a:pt x="79240" y="0"/>
                    <a:pt x="176988" y="0"/>
                  </a:cubicBezTo>
                  <a:close/>
                </a:path>
              </a:pathLst>
            </a:custGeom>
            <a:solidFill>
              <a:srgbClr val="F0F8A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746" y="256311"/>
              <a:ext cx="406400" cy="482600"/>
            </a:xfrm>
            <a:prstGeom prst="rect">
              <a:avLst/>
            </a:prstGeom>
          </p:spPr>
          <p:txBody>
            <a:bodyPr lIns="56106" tIns="56106" rIns="56106" bIns="56106" rtlCol="0" anchor="ctr"/>
            <a:lstStyle/>
            <a:p>
              <a:pPr marL="0" lvl="0" indent="0" algn="ctr">
                <a:lnSpc>
                  <a:spcPts val="5320"/>
                </a:lnSpc>
                <a:spcBef>
                  <a:spcPct val="0"/>
                </a:spcBef>
              </a:pPr>
              <a:r>
                <a:rPr lang="en-US" sz="3800" b="1" u="none" strike="noStrike">
                  <a:solidFill>
                    <a:srgbClr val="36656B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</a:p>
          </p:txBody>
        </p:sp>
      </p:grpSp>
      <p:grpSp>
        <p:nvGrpSpPr>
          <p:cNvPr id="15" name="Group 15"/>
          <p:cNvGrpSpPr>
            <a:grpSpLocks noGrp="1" noUngrp="1" noRot="1" noMove="1" noResize="1"/>
          </p:cNvGrpSpPr>
          <p:nvPr/>
        </p:nvGrpSpPr>
        <p:grpSpPr>
          <a:xfrm>
            <a:off x="2362200" y="3836800"/>
            <a:ext cx="9483925" cy="1116614"/>
            <a:chOff x="-3789433" y="-76200"/>
            <a:chExt cx="4195833" cy="494007"/>
          </a:xfrm>
        </p:grpSpPr>
        <p:sp>
          <p:nvSpPr>
            <p:cNvPr id="16" name="Freeform 16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3789433" y="11407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76988" y="0"/>
                  </a:moveTo>
                  <a:lnTo>
                    <a:pt x="229412" y="0"/>
                  </a:lnTo>
                  <a:cubicBezTo>
                    <a:pt x="327160" y="0"/>
                    <a:pt x="406400" y="79240"/>
                    <a:pt x="406400" y="176988"/>
                  </a:cubicBezTo>
                  <a:lnTo>
                    <a:pt x="406400" y="229412"/>
                  </a:lnTo>
                  <a:cubicBezTo>
                    <a:pt x="406400" y="327160"/>
                    <a:pt x="327160" y="406400"/>
                    <a:pt x="229412" y="406400"/>
                  </a:cubicBezTo>
                  <a:lnTo>
                    <a:pt x="176988" y="406400"/>
                  </a:lnTo>
                  <a:cubicBezTo>
                    <a:pt x="79240" y="406400"/>
                    <a:pt x="0" y="327160"/>
                    <a:pt x="0" y="229412"/>
                  </a:cubicBezTo>
                  <a:lnTo>
                    <a:pt x="0" y="176988"/>
                  </a:lnTo>
                  <a:cubicBezTo>
                    <a:pt x="0" y="79240"/>
                    <a:pt x="79240" y="0"/>
                    <a:pt x="176988" y="0"/>
                  </a:cubicBezTo>
                  <a:close/>
                </a:path>
              </a:pathLst>
            </a:custGeom>
            <a:solidFill>
              <a:srgbClr val="F0F8A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7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76200"/>
              <a:ext cx="406400" cy="482600"/>
            </a:xfrm>
            <a:prstGeom prst="rect">
              <a:avLst/>
            </a:prstGeom>
          </p:spPr>
          <p:txBody>
            <a:bodyPr lIns="56106" tIns="56106" rIns="56106" bIns="56106" rtlCol="0" anchor="ctr"/>
            <a:lstStyle/>
            <a:p>
              <a:pPr marL="0" lvl="0" indent="0" algn="ctr">
                <a:lnSpc>
                  <a:spcPts val="5320"/>
                </a:lnSpc>
                <a:spcBef>
                  <a:spcPct val="0"/>
                </a:spcBef>
              </a:pPr>
              <a:endParaRPr lang="en-US" sz="3800" b="1" u="none" strike="noStrike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362200" y="2711857"/>
            <a:ext cx="6954692" cy="5827216"/>
            <a:chOff x="-3769206" y="-2147711"/>
            <a:chExt cx="3076862" cy="2578050"/>
          </a:xfrm>
        </p:grpSpPr>
        <p:sp>
          <p:nvSpPr>
            <p:cNvPr id="19" name="Freeform 19"/>
            <p:cNvSpPr/>
            <p:nvPr/>
          </p:nvSpPr>
          <p:spPr>
            <a:xfrm>
              <a:off x="-1098744" y="-2147711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76988" y="0"/>
                  </a:moveTo>
                  <a:lnTo>
                    <a:pt x="229412" y="0"/>
                  </a:lnTo>
                  <a:cubicBezTo>
                    <a:pt x="327160" y="0"/>
                    <a:pt x="406400" y="79240"/>
                    <a:pt x="406400" y="176988"/>
                  </a:cubicBezTo>
                  <a:lnTo>
                    <a:pt x="406400" y="229412"/>
                  </a:lnTo>
                  <a:cubicBezTo>
                    <a:pt x="406400" y="327160"/>
                    <a:pt x="327160" y="406400"/>
                    <a:pt x="229412" y="406400"/>
                  </a:cubicBezTo>
                  <a:lnTo>
                    <a:pt x="176988" y="406400"/>
                  </a:lnTo>
                  <a:cubicBezTo>
                    <a:pt x="79240" y="406400"/>
                    <a:pt x="0" y="327160"/>
                    <a:pt x="0" y="229412"/>
                  </a:cubicBezTo>
                  <a:lnTo>
                    <a:pt x="0" y="176988"/>
                  </a:lnTo>
                  <a:cubicBezTo>
                    <a:pt x="0" y="79240"/>
                    <a:pt x="79240" y="0"/>
                    <a:pt x="176988" y="0"/>
                  </a:cubicBezTo>
                  <a:close/>
                </a:path>
              </a:pathLst>
            </a:custGeom>
            <a:solidFill>
              <a:srgbClr val="F0F8A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0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3769206" y="-52261"/>
              <a:ext cx="406400" cy="482600"/>
            </a:xfrm>
            <a:prstGeom prst="rect">
              <a:avLst/>
            </a:prstGeom>
          </p:spPr>
          <p:txBody>
            <a:bodyPr lIns="56106" tIns="56106" rIns="56106" bIns="56106" rtlCol="0" anchor="ctr"/>
            <a:lstStyle/>
            <a:p>
              <a:pPr marL="0" lvl="0" indent="0" algn="ctr">
                <a:lnSpc>
                  <a:spcPts val="5320"/>
                </a:lnSpc>
                <a:spcBef>
                  <a:spcPct val="0"/>
                </a:spcBef>
              </a:pPr>
              <a:endParaRPr lang="en-US" sz="3800" b="1" u="none" strike="noStrike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21" name="Group 21"/>
          <p:cNvGrpSpPr>
            <a:grpSpLocks noGrp="1" noUngrp="1" noRot="1" noMove="1" noResize="1"/>
          </p:cNvGrpSpPr>
          <p:nvPr/>
        </p:nvGrpSpPr>
        <p:grpSpPr>
          <a:xfrm>
            <a:off x="2362200" y="5021736"/>
            <a:ext cx="9483925" cy="1090830"/>
            <a:chOff x="-3789433" y="-76200"/>
            <a:chExt cx="4195833" cy="482600"/>
          </a:xfrm>
        </p:grpSpPr>
        <p:sp>
          <p:nvSpPr>
            <p:cNvPr id="22" name="Freeform 22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-3789433" y="-5387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76988" y="0"/>
                  </a:moveTo>
                  <a:lnTo>
                    <a:pt x="229412" y="0"/>
                  </a:lnTo>
                  <a:cubicBezTo>
                    <a:pt x="327160" y="0"/>
                    <a:pt x="406400" y="79240"/>
                    <a:pt x="406400" y="176988"/>
                  </a:cubicBezTo>
                  <a:lnTo>
                    <a:pt x="406400" y="229412"/>
                  </a:lnTo>
                  <a:cubicBezTo>
                    <a:pt x="406400" y="327160"/>
                    <a:pt x="327160" y="406400"/>
                    <a:pt x="229412" y="406400"/>
                  </a:cubicBezTo>
                  <a:lnTo>
                    <a:pt x="176988" y="406400"/>
                  </a:lnTo>
                  <a:cubicBezTo>
                    <a:pt x="79240" y="406400"/>
                    <a:pt x="0" y="327160"/>
                    <a:pt x="0" y="229412"/>
                  </a:cubicBezTo>
                  <a:lnTo>
                    <a:pt x="0" y="176988"/>
                  </a:lnTo>
                  <a:cubicBezTo>
                    <a:pt x="0" y="79240"/>
                    <a:pt x="79240" y="0"/>
                    <a:pt x="176988" y="0"/>
                  </a:cubicBezTo>
                  <a:close/>
                </a:path>
              </a:pathLst>
            </a:custGeom>
            <a:solidFill>
              <a:srgbClr val="F0F8A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TextBox 23"/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76200"/>
              <a:ext cx="406400" cy="482600"/>
            </a:xfrm>
            <a:prstGeom prst="rect">
              <a:avLst/>
            </a:prstGeom>
          </p:spPr>
          <p:txBody>
            <a:bodyPr lIns="56106" tIns="56106" rIns="56106" bIns="56106" rtlCol="0" anchor="ctr"/>
            <a:lstStyle/>
            <a:p>
              <a:pPr marL="0" lvl="0" indent="0" algn="ctr">
                <a:lnSpc>
                  <a:spcPts val="5320"/>
                </a:lnSpc>
                <a:spcBef>
                  <a:spcPct val="0"/>
                </a:spcBef>
              </a:pPr>
              <a:endParaRPr lang="en-US" sz="3800" b="1" u="none" strike="noStrike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4" name="AutoShape 24"/>
          <p:cNvSpPr/>
          <p:nvPr/>
        </p:nvSpPr>
        <p:spPr>
          <a:xfrm>
            <a:off x="841094" y="1735038"/>
            <a:ext cx="8918977" cy="19050"/>
          </a:xfrm>
          <a:prstGeom prst="line">
            <a:avLst/>
          </a:prstGeom>
          <a:ln w="38100" cap="flat">
            <a:solidFill>
              <a:srgbClr val="DAD887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Box 28"/>
          <p:cNvSpPr txBox="1"/>
          <p:nvPr/>
        </p:nvSpPr>
        <p:spPr>
          <a:xfrm>
            <a:off x="12359255" y="3987590"/>
            <a:ext cx="3619901" cy="96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97B71F8-7FED-48DF-8F80-0C011633837A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1821190" y="2882935"/>
            <a:ext cx="9239250" cy="71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600" b="1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575B5D-0A48-4637-9362-848D840005A6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210878" y="4088808"/>
            <a:ext cx="10064750" cy="71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35E61E8-AD22-B08C-6A86-5423E23B519F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-2325470" y="5247381"/>
            <a:ext cx="10247810" cy="71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grpSp>
        <p:nvGrpSpPr>
          <p:cNvPr id="48" name="Group 21">
            <a:extLst>
              <a:ext uri="{FF2B5EF4-FFF2-40B4-BE49-F238E27FC236}">
                <a16:creationId xmlns:a16="http://schemas.microsoft.com/office/drawing/2014/main" id="{2DBFFBC1-7355-3950-6023-823E559270EA}"/>
              </a:ext>
            </a:extLst>
          </p:cNvPr>
          <p:cNvGrpSpPr/>
          <p:nvPr/>
        </p:nvGrpSpPr>
        <p:grpSpPr>
          <a:xfrm>
            <a:off x="8398392" y="3890868"/>
            <a:ext cx="9483925" cy="1090830"/>
            <a:chOff x="-3789433" y="-76200"/>
            <a:chExt cx="4195833" cy="482600"/>
          </a:xfrm>
        </p:grpSpPr>
        <p:sp>
          <p:nvSpPr>
            <p:cNvPr id="49" name="Freeform 22">
              <a:extLst>
                <a:ext uri="{FF2B5EF4-FFF2-40B4-BE49-F238E27FC236}">
                  <a16:creationId xmlns:a16="http://schemas.microsoft.com/office/drawing/2014/main" id="{8080C827-0696-911B-A382-3DC7C4E611E0}"/>
                </a:ext>
              </a:extLst>
            </p:cNvPr>
            <p:cNvSpPr/>
            <p:nvPr/>
          </p:nvSpPr>
          <p:spPr>
            <a:xfrm>
              <a:off x="-3789433" y="-5387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76988" y="0"/>
                  </a:moveTo>
                  <a:lnTo>
                    <a:pt x="229412" y="0"/>
                  </a:lnTo>
                  <a:cubicBezTo>
                    <a:pt x="327160" y="0"/>
                    <a:pt x="406400" y="79240"/>
                    <a:pt x="406400" y="176988"/>
                  </a:cubicBezTo>
                  <a:lnTo>
                    <a:pt x="406400" y="229412"/>
                  </a:lnTo>
                  <a:cubicBezTo>
                    <a:pt x="406400" y="327160"/>
                    <a:pt x="327160" y="406400"/>
                    <a:pt x="229412" y="406400"/>
                  </a:cubicBezTo>
                  <a:lnTo>
                    <a:pt x="176988" y="406400"/>
                  </a:lnTo>
                  <a:cubicBezTo>
                    <a:pt x="79240" y="406400"/>
                    <a:pt x="0" y="327160"/>
                    <a:pt x="0" y="229412"/>
                  </a:cubicBezTo>
                  <a:lnTo>
                    <a:pt x="0" y="176988"/>
                  </a:lnTo>
                  <a:cubicBezTo>
                    <a:pt x="0" y="79240"/>
                    <a:pt x="79240" y="0"/>
                    <a:pt x="176988" y="0"/>
                  </a:cubicBezTo>
                  <a:close/>
                </a:path>
              </a:pathLst>
            </a:custGeom>
            <a:solidFill>
              <a:srgbClr val="F0F8A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23">
              <a:extLst>
                <a:ext uri="{FF2B5EF4-FFF2-40B4-BE49-F238E27FC236}">
                  <a16:creationId xmlns:a16="http://schemas.microsoft.com/office/drawing/2014/main" id="{C95EED82-6B3F-84C1-4494-F0370F936014}"/>
                </a:ext>
              </a:extLst>
            </p:cNvPr>
            <p:cNvSpPr txBox="1"/>
            <p:nvPr/>
          </p:nvSpPr>
          <p:spPr>
            <a:xfrm>
              <a:off x="0" y="-76200"/>
              <a:ext cx="406400" cy="482600"/>
            </a:xfrm>
            <a:prstGeom prst="rect">
              <a:avLst/>
            </a:prstGeom>
          </p:spPr>
          <p:txBody>
            <a:bodyPr lIns="56106" tIns="56106" rIns="56106" bIns="56106" rtlCol="0" anchor="ctr"/>
            <a:lstStyle/>
            <a:p>
              <a:pPr marL="0" lvl="0" indent="0" algn="ctr">
                <a:lnSpc>
                  <a:spcPts val="5320"/>
                </a:lnSpc>
                <a:spcBef>
                  <a:spcPct val="0"/>
                </a:spcBef>
              </a:pPr>
              <a:endParaRPr lang="en-US" sz="3800" b="1" u="none" strike="noStrike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57" name="Group 21">
            <a:extLst>
              <a:ext uri="{FF2B5EF4-FFF2-40B4-BE49-F238E27FC236}">
                <a16:creationId xmlns:a16="http://schemas.microsoft.com/office/drawing/2014/main" id="{C3667D43-FFD5-94C3-ADDD-AD162BE53304}"/>
              </a:ext>
            </a:extLst>
          </p:cNvPr>
          <p:cNvGrpSpPr/>
          <p:nvPr/>
        </p:nvGrpSpPr>
        <p:grpSpPr>
          <a:xfrm>
            <a:off x="8393944" y="5153328"/>
            <a:ext cx="9483925" cy="1090830"/>
            <a:chOff x="-3789433" y="-76200"/>
            <a:chExt cx="4195833" cy="482600"/>
          </a:xfrm>
        </p:grpSpPr>
        <p:sp>
          <p:nvSpPr>
            <p:cNvPr id="58" name="Freeform 22">
              <a:extLst>
                <a:ext uri="{FF2B5EF4-FFF2-40B4-BE49-F238E27FC236}">
                  <a16:creationId xmlns:a16="http://schemas.microsoft.com/office/drawing/2014/main" id="{8C3E2C6B-59B8-5B0D-E594-7C4595DD8EDA}"/>
                </a:ext>
              </a:extLst>
            </p:cNvPr>
            <p:cNvSpPr/>
            <p:nvPr/>
          </p:nvSpPr>
          <p:spPr>
            <a:xfrm>
              <a:off x="-3789433" y="-5387"/>
              <a:ext cx="406400" cy="406400"/>
            </a:xfrm>
            <a:custGeom>
              <a:avLst/>
              <a:gdLst/>
              <a:ahLst/>
              <a:cxnLst/>
              <a:rect l="l" t="t" r="r" b="b"/>
              <a:pathLst>
                <a:path w="406400" h="406400">
                  <a:moveTo>
                    <a:pt x="176988" y="0"/>
                  </a:moveTo>
                  <a:lnTo>
                    <a:pt x="229412" y="0"/>
                  </a:lnTo>
                  <a:cubicBezTo>
                    <a:pt x="327160" y="0"/>
                    <a:pt x="406400" y="79240"/>
                    <a:pt x="406400" y="176988"/>
                  </a:cubicBezTo>
                  <a:lnTo>
                    <a:pt x="406400" y="229412"/>
                  </a:lnTo>
                  <a:cubicBezTo>
                    <a:pt x="406400" y="327160"/>
                    <a:pt x="327160" y="406400"/>
                    <a:pt x="229412" y="406400"/>
                  </a:cubicBezTo>
                  <a:lnTo>
                    <a:pt x="176988" y="406400"/>
                  </a:lnTo>
                  <a:cubicBezTo>
                    <a:pt x="79240" y="406400"/>
                    <a:pt x="0" y="327160"/>
                    <a:pt x="0" y="229412"/>
                  </a:cubicBezTo>
                  <a:lnTo>
                    <a:pt x="0" y="176988"/>
                  </a:lnTo>
                  <a:cubicBezTo>
                    <a:pt x="0" y="79240"/>
                    <a:pt x="79240" y="0"/>
                    <a:pt x="176988" y="0"/>
                  </a:cubicBezTo>
                  <a:close/>
                </a:path>
              </a:pathLst>
            </a:custGeom>
            <a:solidFill>
              <a:srgbClr val="F0F8A4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TextBox 23">
              <a:extLst>
                <a:ext uri="{FF2B5EF4-FFF2-40B4-BE49-F238E27FC236}">
                  <a16:creationId xmlns:a16="http://schemas.microsoft.com/office/drawing/2014/main" id="{C4229C38-ED8D-89B2-82F4-2BDA5EC23E81}"/>
                </a:ext>
              </a:extLst>
            </p:cNvPr>
            <p:cNvSpPr txBox="1"/>
            <p:nvPr/>
          </p:nvSpPr>
          <p:spPr>
            <a:xfrm>
              <a:off x="0" y="-76200"/>
              <a:ext cx="406400" cy="482600"/>
            </a:xfrm>
            <a:prstGeom prst="rect">
              <a:avLst/>
            </a:prstGeom>
          </p:spPr>
          <p:txBody>
            <a:bodyPr lIns="56106" tIns="56106" rIns="56106" bIns="56106" rtlCol="0" anchor="ctr"/>
            <a:lstStyle/>
            <a:p>
              <a:pPr marL="0" lvl="0" indent="0" algn="ctr">
                <a:lnSpc>
                  <a:spcPts val="5320"/>
                </a:lnSpc>
                <a:spcBef>
                  <a:spcPct val="0"/>
                </a:spcBef>
              </a:pPr>
              <a:endParaRPr lang="en-US" sz="3800" b="1" u="none" strike="noStrike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6AC71008-0F7C-5D01-390A-63A3283A529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39413" y="4099228"/>
            <a:ext cx="10306594" cy="71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ts val="5320"/>
              </a:lnSpc>
              <a:spcBef>
                <a:spcPct val="0"/>
              </a:spcBef>
            </a:pPr>
            <a:r>
              <a:rPr lang="en-US" sz="3600" b="1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06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A5FBC8D-2AAE-0E1A-CB64-792BC536675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78173" y="5405357"/>
            <a:ext cx="10306594" cy="71615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3600" b="1">
                <a:solidFill>
                  <a:srgbClr val="36656B"/>
                </a:solidFill>
                <a:latin typeface="Montserrat Bold"/>
              </a:rPr>
              <a:t>07</a:t>
            </a:r>
            <a:endParaRPr lang="en-US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D4B046F9-8710-D8AC-B532-38E2E9B81549}"/>
              </a:ext>
            </a:extLst>
          </p:cNvPr>
          <p:cNvSpPr txBox="1">
            <a:spLocks/>
          </p:cNvSpPr>
          <p:nvPr/>
        </p:nvSpPr>
        <p:spPr>
          <a:xfrm>
            <a:off x="3496719" y="2791911"/>
            <a:ext cx="419196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800" b="1">
                <a:solidFill>
                  <a:schemeClr val="bg1"/>
                </a:solidFill>
                <a:ea typeface="Calibri"/>
                <a:cs typeface="Calibri"/>
              </a:rPr>
              <a:t>INTRODUCTION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4FCF774-4ECD-F72A-CD9E-57F10D0472F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503300" y="4109749"/>
            <a:ext cx="357932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800" b="1">
                <a:solidFill>
                  <a:schemeClr val="bg1"/>
                </a:solidFill>
                <a:ea typeface="Calibri"/>
                <a:cs typeface="Calibri"/>
              </a:rPr>
              <a:t>OBJECTIVE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0A9552D-517B-DCB5-1271-BF4A6A7460A6}"/>
              </a:ext>
            </a:extLst>
          </p:cNvPr>
          <p:cNvSpPr txBox="1">
            <a:spLocks/>
          </p:cNvSpPr>
          <p:nvPr/>
        </p:nvSpPr>
        <p:spPr>
          <a:xfrm>
            <a:off x="3512009" y="5288275"/>
            <a:ext cx="4124236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800" b="1">
                <a:solidFill>
                  <a:schemeClr val="bg1"/>
                </a:solidFill>
                <a:ea typeface="Calibri"/>
                <a:cs typeface="Calibri"/>
              </a:rPr>
              <a:t>DATA DESCRIPTION</a:t>
            </a:r>
          </a:p>
          <a:p>
            <a:endParaRPr lang="en-IN" sz="48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73F327CD-1C32-0458-EE56-7B58E9C10163}"/>
              </a:ext>
            </a:extLst>
          </p:cNvPr>
          <p:cNvSpPr txBox="1">
            <a:spLocks/>
          </p:cNvSpPr>
          <p:nvPr/>
        </p:nvSpPr>
        <p:spPr>
          <a:xfrm>
            <a:off x="3535958" y="7115888"/>
            <a:ext cx="483621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800" b="1">
                <a:solidFill>
                  <a:schemeClr val="bg1"/>
                </a:solidFill>
                <a:ea typeface="Calibri"/>
                <a:cs typeface="Calibri"/>
              </a:rPr>
              <a:t>ANALYSIS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83B07961-A03A-9E77-9B37-76E7961C5C84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3696568" y="2795815"/>
            <a:ext cx="10306594" cy="71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lnSpc>
                <a:spcPts val="5320"/>
              </a:lnSpc>
              <a:spcBef>
                <a:spcPct val="0"/>
              </a:spcBef>
            </a:pPr>
            <a:r>
              <a:rPr lang="en-US" sz="3600" b="1" u="none" strike="noStrike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D191FB47-87EB-F9FB-34E9-8124C455854F}"/>
              </a:ext>
            </a:extLst>
          </p:cNvPr>
          <p:cNvSpPr txBox="1">
            <a:spLocks/>
          </p:cNvSpPr>
          <p:nvPr/>
        </p:nvSpPr>
        <p:spPr>
          <a:xfrm>
            <a:off x="9607166" y="2728989"/>
            <a:ext cx="4267613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800" b="1">
                <a:solidFill>
                  <a:schemeClr val="bg1"/>
                </a:solidFill>
                <a:ea typeface="Calibri"/>
                <a:cs typeface="Calibri"/>
              </a:rPr>
              <a:t>COMPARISION</a:t>
            </a:r>
            <a:endParaRPr lang="en-IN" sz="44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4F87618-18A2-50DA-3E9E-FD1C037A4F57}"/>
              </a:ext>
            </a:extLst>
          </p:cNvPr>
          <p:cNvSpPr txBox="1">
            <a:spLocks/>
          </p:cNvSpPr>
          <p:nvPr/>
        </p:nvSpPr>
        <p:spPr>
          <a:xfrm>
            <a:off x="9607166" y="4057957"/>
            <a:ext cx="3619901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800" b="1">
                <a:solidFill>
                  <a:schemeClr val="bg1"/>
                </a:solidFill>
                <a:ea typeface="Calibri"/>
                <a:cs typeface="Calibri"/>
              </a:rPr>
              <a:t>CONCLUSION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263AD5C-316E-1068-4663-BCA99B149532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9607167" y="5431741"/>
            <a:ext cx="3619901" cy="83880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4800" b="1">
                <a:solidFill>
                  <a:schemeClr val="bg1"/>
                </a:solidFill>
                <a:ea typeface="Calibri"/>
                <a:cs typeface="Calibri"/>
              </a:rPr>
              <a:t>REFERENCES</a:t>
            </a:r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D48EA4A-709C-9975-588F-92AD631072D6}"/>
              </a:ext>
            </a:extLst>
          </p:cNvPr>
          <p:cNvGrpSpPr/>
          <p:nvPr/>
        </p:nvGrpSpPr>
        <p:grpSpPr>
          <a:xfrm>
            <a:off x="1138803" y="523061"/>
            <a:ext cx="15998511" cy="786366"/>
            <a:chOff x="1187123" y="550086"/>
            <a:chExt cx="15998511" cy="786366"/>
          </a:xfrm>
        </p:grpSpPr>
        <p:grpSp>
          <p:nvGrpSpPr>
            <p:cNvPr id="4" name="Group 42">
              <a:extLst>
                <a:ext uri="{FF2B5EF4-FFF2-40B4-BE49-F238E27FC236}">
                  <a16:creationId xmlns:a16="http://schemas.microsoft.com/office/drawing/2014/main" id="{96A5B24A-D408-01C9-766C-85843DCA333F}"/>
                </a:ext>
              </a:extLst>
            </p:cNvPr>
            <p:cNvGrpSpPr/>
            <p:nvPr/>
          </p:nvGrpSpPr>
          <p:grpSpPr>
            <a:xfrm>
              <a:off x="1187123" y="550086"/>
              <a:ext cx="13117261" cy="775707"/>
              <a:chOff x="0" y="-38100"/>
              <a:chExt cx="10952656" cy="647700"/>
            </a:xfrm>
          </p:grpSpPr>
          <p:sp>
            <p:nvSpPr>
              <p:cNvPr id="32" name="Freeform 43">
                <a:extLst>
                  <a:ext uri="{FF2B5EF4-FFF2-40B4-BE49-F238E27FC236}">
                    <a16:creationId xmlns:a16="http://schemas.microsoft.com/office/drawing/2014/main" id="{FC49E34F-19F7-A35C-72B1-B451B0C10CA0}"/>
                  </a:ext>
                </a:extLst>
              </p:cNvPr>
              <p:cNvSpPr/>
              <p:nvPr/>
            </p:nvSpPr>
            <p:spPr>
              <a:xfrm>
                <a:off x="0" y="-18007"/>
                <a:ext cx="1095265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0952656" h="609600">
                    <a:moveTo>
                      <a:pt x="203200" y="0"/>
                    </a:moveTo>
                    <a:lnTo>
                      <a:pt x="10952656" y="0"/>
                    </a:lnTo>
                    <a:lnTo>
                      <a:pt x="1074945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6656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3" name="TextBox 44">
                <a:extLst>
                  <a:ext uri="{FF2B5EF4-FFF2-40B4-BE49-F238E27FC236}">
                    <a16:creationId xmlns:a16="http://schemas.microsoft.com/office/drawing/2014/main" id="{0C85D450-9B21-B8CA-3F29-5F9C8023E39A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0749456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5" name="Group 45">
              <a:extLst>
                <a:ext uri="{FF2B5EF4-FFF2-40B4-BE49-F238E27FC236}">
                  <a16:creationId xmlns:a16="http://schemas.microsoft.com/office/drawing/2014/main" id="{2991AA66-68F6-3835-1046-469BD1E66C1E}"/>
                </a:ext>
              </a:extLst>
            </p:cNvPr>
            <p:cNvGrpSpPr/>
            <p:nvPr/>
          </p:nvGrpSpPr>
          <p:grpSpPr>
            <a:xfrm>
              <a:off x="14322527" y="550086"/>
              <a:ext cx="1041917" cy="775707"/>
              <a:chOff x="0" y="-38100"/>
              <a:chExt cx="869980" cy="647700"/>
            </a:xfrm>
          </p:grpSpPr>
          <p:sp>
            <p:nvSpPr>
              <p:cNvPr id="30" name="Freeform 46">
                <a:extLst>
                  <a:ext uri="{FF2B5EF4-FFF2-40B4-BE49-F238E27FC236}">
                    <a16:creationId xmlns:a16="http://schemas.microsoft.com/office/drawing/2014/main" id="{9CCF6053-8701-5706-0E09-C42C0FE29A89}"/>
                  </a:ext>
                </a:extLst>
              </p:cNvPr>
              <p:cNvSpPr/>
              <p:nvPr/>
            </p:nvSpPr>
            <p:spPr>
              <a:xfrm>
                <a:off x="0" y="0"/>
                <a:ext cx="8699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869980" h="609600">
                    <a:moveTo>
                      <a:pt x="203200" y="0"/>
                    </a:moveTo>
                    <a:lnTo>
                      <a:pt x="869980" y="0"/>
                    </a:lnTo>
                    <a:lnTo>
                      <a:pt x="6667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DAD88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TextBox 47">
                <a:extLst>
                  <a:ext uri="{FF2B5EF4-FFF2-40B4-BE49-F238E27FC236}">
                    <a16:creationId xmlns:a16="http://schemas.microsoft.com/office/drawing/2014/main" id="{EDB0CC34-DB56-7257-C131-4DEEF2D8D065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667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6" name="Group 48">
              <a:extLst>
                <a:ext uri="{FF2B5EF4-FFF2-40B4-BE49-F238E27FC236}">
                  <a16:creationId xmlns:a16="http://schemas.microsoft.com/office/drawing/2014/main" id="{DF5C5ECE-8D58-E1F2-D87F-08F9BA7225E2}"/>
                </a:ext>
              </a:extLst>
            </p:cNvPr>
            <p:cNvGrpSpPr/>
            <p:nvPr/>
          </p:nvGrpSpPr>
          <p:grpSpPr>
            <a:xfrm>
              <a:off x="15352562" y="550086"/>
              <a:ext cx="1833072" cy="786366"/>
              <a:chOff x="-9921" y="-38100"/>
              <a:chExt cx="1530580" cy="656600"/>
            </a:xfrm>
          </p:grpSpPr>
          <p:sp>
            <p:nvSpPr>
              <p:cNvPr id="27" name="Freeform 49">
                <a:extLst>
                  <a:ext uri="{FF2B5EF4-FFF2-40B4-BE49-F238E27FC236}">
                    <a16:creationId xmlns:a16="http://schemas.microsoft.com/office/drawing/2014/main" id="{6EDBBA02-979E-D40C-CC75-B34EC148E47C}"/>
                  </a:ext>
                </a:extLst>
              </p:cNvPr>
              <p:cNvSpPr/>
              <p:nvPr/>
            </p:nvSpPr>
            <p:spPr>
              <a:xfrm>
                <a:off x="-9921" y="8900"/>
                <a:ext cx="15305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530580" h="609600">
                    <a:moveTo>
                      <a:pt x="203200" y="0"/>
                    </a:moveTo>
                    <a:lnTo>
                      <a:pt x="1530580" y="0"/>
                    </a:lnTo>
                    <a:lnTo>
                      <a:pt x="13273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75B06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50">
                <a:extLst>
                  <a:ext uri="{FF2B5EF4-FFF2-40B4-BE49-F238E27FC236}">
                    <a16:creationId xmlns:a16="http://schemas.microsoft.com/office/drawing/2014/main" id="{64B956EE-EDFF-D87F-D81F-862959BE2F32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3273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38" name="Group 19">
            <a:extLst>
              <a:ext uri="{FF2B5EF4-FFF2-40B4-BE49-F238E27FC236}">
                <a16:creationId xmlns:a16="http://schemas.microsoft.com/office/drawing/2014/main" id="{C39F62DD-3C8F-CA9D-462D-E6E82344CCBC}"/>
              </a:ext>
            </a:extLst>
          </p:cNvPr>
          <p:cNvGrpSpPr/>
          <p:nvPr/>
        </p:nvGrpSpPr>
        <p:grpSpPr>
          <a:xfrm>
            <a:off x="925621" y="331966"/>
            <a:ext cx="718334" cy="1007856"/>
            <a:chOff x="0" y="-57150"/>
            <a:chExt cx="189191" cy="265444"/>
          </a:xfrm>
        </p:grpSpPr>
        <p:sp>
          <p:nvSpPr>
            <p:cNvPr id="36" name="Freeform 20">
              <a:extLst>
                <a:ext uri="{FF2B5EF4-FFF2-40B4-BE49-F238E27FC236}">
                  <a16:creationId xmlns:a16="http://schemas.microsoft.com/office/drawing/2014/main" id="{9585FF00-FDE5-B964-ACA2-75055550FFB6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7" name="TextBox 21">
              <a:extLst>
                <a:ext uri="{FF2B5EF4-FFF2-40B4-BE49-F238E27FC236}">
                  <a16:creationId xmlns:a16="http://schemas.microsoft.com/office/drawing/2014/main" id="{E964F5DB-E387-4A5E-0986-80221C5A6DBB}"/>
                </a:ext>
              </a:extLst>
            </p:cNvPr>
            <p:cNvSpPr txBox="1"/>
            <p:nvPr/>
          </p:nvSpPr>
          <p:spPr>
            <a:xfrm>
              <a:off x="0" y="-57150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991721" y="-5570"/>
            <a:ext cx="9747383" cy="14146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12836"/>
              </a:lnSpc>
              <a:spcBef>
                <a:spcPct val="0"/>
              </a:spcBef>
            </a:pPr>
            <a:r>
              <a:rPr lang="en-US" sz="5400">
                <a:solidFill>
                  <a:schemeClr val="bg1"/>
                </a:solidFill>
                <a:latin typeface="League Gothic"/>
                <a:cs typeface="Leelawadee"/>
                <a:sym typeface="League Gothic"/>
              </a:rPr>
              <a:t>AGENDA</a:t>
            </a:r>
            <a:endParaRPr lang="en-US" sz="5400">
              <a:solidFill>
                <a:schemeClr val="bg1"/>
              </a:solidFill>
              <a:latin typeface="League Gothic"/>
              <a:cs typeface="Leelawadee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20E5-8CE1-F2EA-2414-1AB33CCE0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Freeform 2">
            <a:extLst>
              <a:ext uri="{FF2B5EF4-FFF2-40B4-BE49-F238E27FC236}">
                <a16:creationId xmlns:a16="http://schemas.microsoft.com/office/drawing/2014/main" id="{8755A9C8-C273-755D-E62A-10F829BCB73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4" name="Group 17">
            <a:extLst>
              <a:ext uri="{FF2B5EF4-FFF2-40B4-BE49-F238E27FC236}">
                <a16:creationId xmlns:a16="http://schemas.microsoft.com/office/drawing/2014/main" id="{DE20A69D-E89F-6A32-C7F1-FBA8BF0F109C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985384" y="-3675322"/>
            <a:ext cx="13681364" cy="12880324"/>
            <a:chOff x="0" y="-95250"/>
            <a:chExt cx="6128058" cy="936767"/>
          </a:xfrm>
        </p:grpSpPr>
        <p:sp>
          <p:nvSpPr>
            <p:cNvPr id="55" name="Freeform 18">
              <a:extLst>
                <a:ext uri="{FF2B5EF4-FFF2-40B4-BE49-F238E27FC236}">
                  <a16:creationId xmlns:a16="http://schemas.microsoft.com/office/drawing/2014/main" id="{D5EC63B4-0892-BD93-DA4F-7DDF03B1317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281" y="588234"/>
              <a:ext cx="6095777" cy="253283"/>
            </a:xfrm>
            <a:custGeom>
              <a:avLst/>
              <a:gdLst/>
              <a:ahLst/>
              <a:cxnLst/>
              <a:rect l="l" t="t" r="r" b="b"/>
              <a:pathLst>
                <a:path w="6095777" h="253283">
                  <a:moveTo>
                    <a:pt x="0" y="0"/>
                  </a:moveTo>
                  <a:lnTo>
                    <a:pt x="6095777" y="0"/>
                  </a:lnTo>
                  <a:lnTo>
                    <a:pt x="6095777" y="253283"/>
                  </a:lnTo>
                  <a:lnTo>
                    <a:pt x="0" y="253283"/>
                  </a:lnTo>
                  <a:close/>
                </a:path>
              </a:pathLst>
            </a:custGeom>
            <a:solidFill>
              <a:srgbClr val="DAD88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TextBox 19">
              <a:extLst>
                <a:ext uri="{FF2B5EF4-FFF2-40B4-BE49-F238E27FC236}">
                  <a16:creationId xmlns:a16="http://schemas.microsoft.com/office/drawing/2014/main" id="{69785CB2-12BA-2ED7-72BD-F0C0906EE9C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5250"/>
              <a:ext cx="6095777" cy="348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00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>
            <a:extLst>
              <a:ext uri="{FF2B5EF4-FFF2-40B4-BE49-F238E27FC236}">
                <a16:creationId xmlns:a16="http://schemas.microsoft.com/office/drawing/2014/main" id="{2BDB85F2-3ECD-58A9-7983-95AABC2D77D2}"/>
              </a:ext>
            </a:extLst>
          </p:cNvPr>
          <p:cNvGrpSpPr/>
          <p:nvPr/>
        </p:nvGrpSpPr>
        <p:grpSpPr>
          <a:xfrm>
            <a:off x="1374880" y="1099729"/>
            <a:ext cx="13009431" cy="1077631"/>
            <a:chOff x="0" y="-38100"/>
            <a:chExt cx="10952656" cy="6477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EDD9582-845C-BB70-767C-1EBA7CB50EA7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50AFE635-B040-ECB9-9699-7D78DF1B2F60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C9A80E9A-2FE5-DA9F-2998-79166C013186}"/>
              </a:ext>
            </a:extLst>
          </p:cNvPr>
          <p:cNvGrpSpPr/>
          <p:nvPr/>
        </p:nvGrpSpPr>
        <p:grpSpPr>
          <a:xfrm>
            <a:off x="14384311" y="1083554"/>
            <a:ext cx="1041917" cy="1093806"/>
            <a:chOff x="0" y="-38100"/>
            <a:chExt cx="869980" cy="6477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115F835F-E430-EDDF-9AB1-F993C033CDD7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C5E07FE7-AF74-1E4A-5D8E-A92CFD8C9F49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FE9FD20-8A50-8AA2-BE4F-6654DC78906F}"/>
              </a:ext>
            </a:extLst>
          </p:cNvPr>
          <p:cNvGrpSpPr/>
          <p:nvPr/>
        </p:nvGrpSpPr>
        <p:grpSpPr>
          <a:xfrm>
            <a:off x="942436" y="793569"/>
            <a:ext cx="869296" cy="1392619"/>
            <a:chOff x="0" y="-57150"/>
            <a:chExt cx="189191" cy="265444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E1A17EEA-98F4-C091-A553-30FC66CC28F3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4CA39103-63C7-285A-78CA-CD870DE9B5AF}"/>
                </a:ext>
              </a:extLst>
            </p:cNvPr>
            <p:cNvSpPr txBox="1"/>
            <p:nvPr/>
          </p:nvSpPr>
          <p:spPr>
            <a:xfrm>
              <a:off x="0" y="-57150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C0600B5B-A426-7966-1FFA-05429B8F8D4F}"/>
              </a:ext>
            </a:extLst>
          </p:cNvPr>
          <p:cNvSpPr/>
          <p:nvPr/>
        </p:nvSpPr>
        <p:spPr>
          <a:xfrm>
            <a:off x="16044464" y="1125833"/>
            <a:ext cx="596599" cy="596599"/>
          </a:xfrm>
          <a:custGeom>
            <a:avLst/>
            <a:gdLst/>
            <a:ahLst/>
            <a:cxnLst/>
            <a:rect l="l" t="t" r="r" b="b"/>
            <a:pathLst>
              <a:path w="596599" h="596599">
                <a:moveTo>
                  <a:pt x="0" y="0"/>
                </a:moveTo>
                <a:lnTo>
                  <a:pt x="596599" y="0"/>
                </a:lnTo>
                <a:lnTo>
                  <a:pt x="596599" y="596599"/>
                </a:lnTo>
                <a:lnTo>
                  <a:pt x="0" y="596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623018-028A-104C-2806-3C3F109CE1B6}"/>
              </a:ext>
            </a:extLst>
          </p:cNvPr>
          <p:cNvSpPr txBox="1"/>
          <p:nvPr/>
        </p:nvSpPr>
        <p:spPr>
          <a:xfrm>
            <a:off x="2035197" y="1262903"/>
            <a:ext cx="6977866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5400">
                <a:solidFill>
                  <a:schemeClr val="bg1"/>
                </a:solidFill>
                <a:latin typeface="League Gothic"/>
              </a:rPr>
              <a:t>INTRODUCTION </a:t>
            </a:r>
          </a:p>
        </p:txBody>
      </p:sp>
      <p:grpSp>
        <p:nvGrpSpPr>
          <p:cNvPr id="17" name="Group 17">
            <a:extLst>
              <a:ext uri="{FF2B5EF4-FFF2-40B4-BE49-F238E27FC236}">
                <a16:creationId xmlns:a16="http://schemas.microsoft.com/office/drawing/2014/main" id="{F2C50600-35E2-A1E7-D2AC-F92FDB3A560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831020" y="4468525"/>
            <a:ext cx="8625960" cy="860055"/>
            <a:chOff x="0" y="0"/>
            <a:chExt cx="6095777" cy="253283"/>
          </a:xfrm>
        </p:grpSpPr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BC958007-EA9A-224B-DAE4-7F5602CC78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6095777" cy="253283"/>
            </a:xfrm>
            <a:custGeom>
              <a:avLst/>
              <a:gdLst/>
              <a:ahLst/>
              <a:cxnLst/>
              <a:rect l="l" t="t" r="r" b="b"/>
              <a:pathLst>
                <a:path w="6095777" h="253283">
                  <a:moveTo>
                    <a:pt x="0" y="0"/>
                  </a:moveTo>
                  <a:lnTo>
                    <a:pt x="6095777" y="0"/>
                  </a:lnTo>
                  <a:lnTo>
                    <a:pt x="6095777" y="253283"/>
                  </a:lnTo>
                  <a:lnTo>
                    <a:pt x="0" y="253283"/>
                  </a:lnTo>
                  <a:close/>
                </a:path>
              </a:pathLst>
            </a:custGeom>
            <a:solidFill>
              <a:srgbClr val="DAD88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TextBox 19">
              <a:extLst>
                <a:ext uri="{FF2B5EF4-FFF2-40B4-BE49-F238E27FC236}">
                  <a16:creationId xmlns:a16="http://schemas.microsoft.com/office/drawing/2014/main" id="{7D929330-2A59-CE45-1A8A-3BDD7F87A3C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5250"/>
              <a:ext cx="6095777" cy="348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0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224518F6-870E-F44A-3A98-3B10B92D68A4}"/>
              </a:ext>
            </a:extLst>
          </p:cNvPr>
          <p:cNvSpPr txBox="1"/>
          <p:nvPr/>
        </p:nvSpPr>
        <p:spPr>
          <a:xfrm>
            <a:off x="4923405" y="4659028"/>
            <a:ext cx="86130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Gross Bank Credit (GBC)</a:t>
            </a:r>
            <a:r>
              <a:rPr lang="en-US" sz="2400"/>
              <a:t> = Total loans and advances given by banks</a:t>
            </a:r>
            <a:endParaRPr lang="en-IN" sz="240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EF684A9-1796-A9C7-7FD9-00231FEAAF9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76211" y="5886473"/>
            <a:ext cx="879115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Shows economic growth and activity </a:t>
            </a:r>
          </a:p>
          <a:p>
            <a:br>
              <a:rPr lang="en-US" sz="3200"/>
            </a:br>
            <a:endParaRPr lang="en-IN" sz="3200"/>
          </a:p>
        </p:txBody>
      </p:sp>
      <p:grpSp>
        <p:nvGrpSpPr>
          <p:cNvPr id="39" name="Group 17">
            <a:extLst>
              <a:ext uri="{FF2B5EF4-FFF2-40B4-BE49-F238E27FC236}">
                <a16:creationId xmlns:a16="http://schemas.microsoft.com/office/drawing/2014/main" id="{5EE742DA-5C58-8DEB-8EAA-CD8D316AEFFE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028700" y="-751078"/>
            <a:ext cx="16316551" cy="4952697"/>
            <a:chOff x="0" y="-95250"/>
            <a:chExt cx="6128058" cy="936767"/>
          </a:xfrm>
        </p:grpSpPr>
        <p:sp>
          <p:nvSpPr>
            <p:cNvPr id="40" name="Freeform 18">
              <a:extLst>
                <a:ext uri="{FF2B5EF4-FFF2-40B4-BE49-F238E27FC236}">
                  <a16:creationId xmlns:a16="http://schemas.microsoft.com/office/drawing/2014/main" id="{9BD54115-7CD0-FE78-6B68-AB2ABA94979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32281" y="588234"/>
              <a:ext cx="6095777" cy="253283"/>
            </a:xfrm>
            <a:custGeom>
              <a:avLst/>
              <a:gdLst/>
              <a:ahLst/>
              <a:cxnLst/>
              <a:rect l="l" t="t" r="r" b="b"/>
              <a:pathLst>
                <a:path w="6095777" h="253283">
                  <a:moveTo>
                    <a:pt x="0" y="0"/>
                  </a:moveTo>
                  <a:lnTo>
                    <a:pt x="6095777" y="0"/>
                  </a:lnTo>
                  <a:lnTo>
                    <a:pt x="6095777" y="253283"/>
                  </a:lnTo>
                  <a:lnTo>
                    <a:pt x="0" y="253283"/>
                  </a:lnTo>
                  <a:close/>
                </a:path>
              </a:pathLst>
            </a:custGeom>
            <a:solidFill>
              <a:srgbClr val="DAD887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TextBox 19">
              <a:extLst>
                <a:ext uri="{FF2B5EF4-FFF2-40B4-BE49-F238E27FC236}">
                  <a16:creationId xmlns:a16="http://schemas.microsoft.com/office/drawing/2014/main" id="{80884E79-EFAD-4088-6FF7-160207D70B1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5250"/>
              <a:ext cx="6095777" cy="3485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0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89900F8-6EB3-A9C3-439C-64FBE08E501A}"/>
              </a:ext>
            </a:extLst>
          </p:cNvPr>
          <p:cNvSpPr txBox="1"/>
          <p:nvPr/>
        </p:nvSpPr>
        <p:spPr>
          <a:xfrm>
            <a:off x="2487063" y="3144561"/>
            <a:ext cx="13756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Gross Bank Credit</a:t>
            </a:r>
            <a:r>
              <a:rPr lang="en-US" sz="2400"/>
              <a:t> is the </a:t>
            </a:r>
            <a:r>
              <a:rPr lang="en-US" sz="2400" b="1"/>
              <a:t>total amount of loans and advances that banks have given to borrowers</a:t>
            </a:r>
            <a:r>
              <a:rPr lang="en-US" sz="2400"/>
              <a:t> </a:t>
            </a:r>
          </a:p>
          <a:p>
            <a:r>
              <a:rPr lang="en-US" sz="2400"/>
              <a:t>(like individuals, businesses, and government entities) </a:t>
            </a:r>
            <a:r>
              <a:rPr lang="en-US" sz="2400" b="1"/>
              <a:t>before subtracting any provisions or bad loans</a:t>
            </a:r>
            <a:r>
              <a:rPr lang="en-US"/>
              <a:t>.</a:t>
            </a:r>
            <a:endParaRPr lang="en-IN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B05D8C7-8C61-C54F-CB60-83E162507746}"/>
              </a:ext>
            </a:extLst>
          </p:cNvPr>
          <p:cNvSpPr txBox="1"/>
          <p:nvPr/>
        </p:nvSpPr>
        <p:spPr>
          <a:xfrm>
            <a:off x="4543425" y="4679434"/>
            <a:ext cx="9163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/>
          </a:p>
        </p:txBody>
      </p:sp>
      <p:sp>
        <p:nvSpPr>
          <p:cNvPr id="50" name="Rectangle 4">
            <a:extLst>
              <a:ext uri="{FF2B5EF4-FFF2-40B4-BE49-F238E27FC236}">
                <a16:creationId xmlns:a16="http://schemas.microsoft.com/office/drawing/2014/main" id="{A058A743-F163-3E4C-B700-F67E4A67AF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1" name="Rectangle 5">
            <a:extLst>
              <a:ext uri="{FF2B5EF4-FFF2-40B4-BE49-F238E27FC236}">
                <a16:creationId xmlns:a16="http://schemas.microsoft.com/office/drawing/2014/main" id="{94E32D16-7726-22BE-9B22-71D31406BB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24712" y="-598678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F3455062-E5B8-3FD6-0699-9852F3BE2EE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67383">
            <a:off x="1075222" y="2895696"/>
            <a:ext cx="1465303" cy="1465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BE2E32DD-C84A-1014-8CC8-26F403F4EF3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76212" y="6759370"/>
            <a:ext cx="87911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Higher GBC → more investment &amp; consumption 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8974F28E-63AB-5DFF-31BE-A910C4BBA62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76211" y="7533807"/>
            <a:ext cx="78312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Helps policymakers monitor credit trends</a:t>
            </a:r>
            <a:endParaRPr lang="en-IN" sz="32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F739BEDA-B56A-7660-DB4B-0A5DE16277D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676211" y="8375215"/>
            <a:ext cx="7696200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Used by Reserve Bank of India for analysis </a:t>
            </a:r>
          </a:p>
          <a:p>
            <a:br>
              <a:rPr lang="en-US"/>
            </a:br>
            <a:endParaRPr lang="en-IN"/>
          </a:p>
          <a:p>
            <a:endParaRPr lang="en-IN"/>
          </a:p>
        </p:txBody>
      </p:sp>
      <p:pic>
        <p:nvPicPr>
          <p:cNvPr id="60" name="Picture 7">
            <a:extLst>
              <a:ext uri="{FF2B5EF4-FFF2-40B4-BE49-F238E27FC236}">
                <a16:creationId xmlns:a16="http://schemas.microsoft.com/office/drawing/2014/main" id="{784BC04C-139A-72CC-4DF4-30DC958DCB4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67383">
            <a:off x="3913919" y="5786998"/>
            <a:ext cx="782746" cy="791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7">
            <a:extLst>
              <a:ext uri="{FF2B5EF4-FFF2-40B4-BE49-F238E27FC236}">
                <a16:creationId xmlns:a16="http://schemas.microsoft.com/office/drawing/2014/main" id="{9B4931C5-40BA-82C5-1575-7C9F4932018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67383">
            <a:off x="3896990" y="6583491"/>
            <a:ext cx="797394" cy="75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" name="Picture 7">
            <a:extLst>
              <a:ext uri="{FF2B5EF4-FFF2-40B4-BE49-F238E27FC236}">
                <a16:creationId xmlns:a16="http://schemas.microsoft.com/office/drawing/2014/main" id="{F1A876E8-BA9C-00B8-45DF-83A5A0D081B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67383">
            <a:off x="3896990" y="7454011"/>
            <a:ext cx="797394" cy="75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5" name="Picture 7">
            <a:extLst>
              <a:ext uri="{FF2B5EF4-FFF2-40B4-BE49-F238E27FC236}">
                <a16:creationId xmlns:a16="http://schemas.microsoft.com/office/drawing/2014/main" id="{65AC9735-D9E2-5B31-90CE-F1104D5B83A5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2367383">
            <a:off x="3907372" y="8293391"/>
            <a:ext cx="797394" cy="7584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reeform 49">
            <a:extLst>
              <a:ext uri="{FF2B5EF4-FFF2-40B4-BE49-F238E27FC236}">
                <a16:creationId xmlns:a16="http://schemas.microsoft.com/office/drawing/2014/main" id="{3CAB5B8C-F47F-EF4E-71B1-5B6AB2BB3B60}"/>
              </a:ext>
            </a:extLst>
          </p:cNvPr>
          <p:cNvSpPr/>
          <p:nvPr/>
        </p:nvSpPr>
        <p:spPr>
          <a:xfrm>
            <a:off x="15416316" y="1153189"/>
            <a:ext cx="1919336" cy="988869"/>
          </a:xfrm>
          <a:custGeom>
            <a:avLst/>
            <a:gdLst/>
            <a:ahLst/>
            <a:cxnLst/>
            <a:rect l="l" t="t" r="r" b="b"/>
            <a:pathLst>
              <a:path w="1530580" h="609600">
                <a:moveTo>
                  <a:pt x="203200" y="0"/>
                </a:moveTo>
                <a:lnTo>
                  <a:pt x="1530580" y="0"/>
                </a:lnTo>
                <a:lnTo>
                  <a:pt x="1327380" y="609600"/>
                </a:lnTo>
                <a:lnTo>
                  <a:pt x="0" y="609600"/>
                </a:lnTo>
                <a:lnTo>
                  <a:pt x="203200" y="0"/>
                </a:lnTo>
                <a:close/>
              </a:path>
            </a:pathLst>
          </a:custGeom>
          <a:solidFill>
            <a:srgbClr val="75B06F"/>
          </a:solid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508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A900A3-1AD0-FB44-2AE8-978783BC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51F9FE6-B436-BE2C-B160-614FB4FB5A45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39D411E0-6AB0-2685-5A87-E7050E08466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21" y="3747399"/>
            <a:ext cx="4296616" cy="4296616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FD2BAB6-46AE-7C78-9D50-24D30DEC24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3515" y="3748488"/>
            <a:ext cx="4296616" cy="4296616"/>
          </a:xfrm>
          <a:prstGeom prst="rect">
            <a:avLst/>
          </a:prstGeom>
        </p:spPr>
      </p:pic>
      <p:sp>
        <p:nvSpPr>
          <p:cNvPr id="7" name="TextBox 7">
            <a:extLst>
              <a:ext uri="{FF2B5EF4-FFF2-40B4-BE49-F238E27FC236}">
                <a16:creationId xmlns:a16="http://schemas.microsoft.com/office/drawing/2014/main" id="{83ADD527-AB9A-F330-0D84-EFF66949878E}"/>
              </a:ext>
            </a:extLst>
          </p:cNvPr>
          <p:cNvSpPr txBox="1"/>
          <p:nvPr/>
        </p:nvSpPr>
        <p:spPr>
          <a:xfrm>
            <a:off x="3192265" y="2505621"/>
            <a:ext cx="10424678" cy="901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00"/>
              </a:lnSpc>
              <a:spcBef>
                <a:spcPct val="0"/>
              </a:spcBef>
            </a:pPr>
            <a:r>
              <a:rPr lang="en-US" sz="7200" b="1" u="none" strike="noStrike">
                <a:solidFill>
                  <a:srgbClr val="36656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06C305BB-A1C9-E08B-DD94-34B2748A9FDF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99396" y="3748488"/>
            <a:ext cx="4296616" cy="4296616"/>
          </a:xfrm>
          <a:prstGeom prst="rect">
            <a:avLst/>
          </a:prstGeom>
        </p:spPr>
      </p:pic>
      <p:grpSp>
        <p:nvGrpSpPr>
          <p:cNvPr id="10" name="Group 10">
            <a:extLst>
              <a:ext uri="{FF2B5EF4-FFF2-40B4-BE49-F238E27FC236}">
                <a16:creationId xmlns:a16="http://schemas.microsoft.com/office/drawing/2014/main" id="{FAFC38CE-E205-A391-B693-3B6A92EFACB0}"/>
              </a:ext>
            </a:extLst>
          </p:cNvPr>
          <p:cNvGrpSpPr/>
          <p:nvPr/>
        </p:nvGrpSpPr>
        <p:grpSpPr>
          <a:xfrm>
            <a:off x="1267050" y="1059094"/>
            <a:ext cx="13117261" cy="730077"/>
            <a:chOff x="0" y="0"/>
            <a:chExt cx="10952656" cy="6096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128D842-93E0-EC3D-1DC5-0DF707F3D6BD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272A862-EE30-8D9C-6DD4-41F4A8BBF2E7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5A6989FE-5597-43A9-1EE8-568282B8D1BD}"/>
              </a:ext>
            </a:extLst>
          </p:cNvPr>
          <p:cNvGrpSpPr/>
          <p:nvPr/>
        </p:nvGrpSpPr>
        <p:grpSpPr>
          <a:xfrm>
            <a:off x="14384311" y="1059094"/>
            <a:ext cx="1041917" cy="730077"/>
            <a:chOff x="0" y="0"/>
            <a:chExt cx="869980" cy="6096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BB0B7C4E-DD2B-DA5C-0DA4-24BDACABD5A1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05C7BAD-8D78-3E9A-F55B-5A7EE092140A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28392C99-F88B-C885-101D-CFE741556484}"/>
              </a:ext>
            </a:extLst>
          </p:cNvPr>
          <p:cNvGrpSpPr/>
          <p:nvPr/>
        </p:nvGrpSpPr>
        <p:grpSpPr>
          <a:xfrm>
            <a:off x="1028700" y="1028700"/>
            <a:ext cx="718334" cy="790865"/>
            <a:chOff x="0" y="0"/>
            <a:chExt cx="189191" cy="208294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237DEEF7-1309-B7E6-4958-16B636F8551D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8CE6C66E-9DB5-5DFF-FA05-F0FBAB51190E}"/>
                </a:ext>
              </a:extLst>
            </p:cNvPr>
            <p:cNvSpPr txBox="1"/>
            <p:nvPr/>
          </p:nvSpPr>
          <p:spPr>
            <a:xfrm>
              <a:off x="0" y="-57150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8CB695D9-ADBC-FEF1-7B1B-EC60B269C2BB}"/>
              </a:ext>
            </a:extLst>
          </p:cNvPr>
          <p:cNvSpPr/>
          <p:nvPr/>
        </p:nvSpPr>
        <p:spPr>
          <a:xfrm>
            <a:off x="16044464" y="1125833"/>
            <a:ext cx="596599" cy="596599"/>
          </a:xfrm>
          <a:custGeom>
            <a:avLst/>
            <a:gdLst/>
            <a:ahLst/>
            <a:cxnLst/>
            <a:rect l="l" t="t" r="r" b="b"/>
            <a:pathLst>
              <a:path w="596599" h="596599">
                <a:moveTo>
                  <a:pt x="0" y="0"/>
                </a:moveTo>
                <a:lnTo>
                  <a:pt x="596599" y="0"/>
                </a:lnTo>
                <a:lnTo>
                  <a:pt x="596599" y="596599"/>
                </a:lnTo>
                <a:lnTo>
                  <a:pt x="0" y="596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24" name="Picture 3">
            <a:extLst>
              <a:ext uri="{FF2B5EF4-FFF2-40B4-BE49-F238E27FC236}">
                <a16:creationId xmlns:a16="http://schemas.microsoft.com/office/drawing/2014/main" id="{E58CB3EA-3E13-DE31-4E5C-71419C817D5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5177" y="3747399"/>
            <a:ext cx="4296616" cy="4296616"/>
          </a:xfrm>
          <a:prstGeom prst="rect">
            <a:avLst/>
          </a:prstGeom>
        </p:spPr>
      </p:pic>
      <p:sp>
        <p:nvSpPr>
          <p:cNvPr id="25" name="Oval 24">
            <a:extLst>
              <a:ext uri="{FF2B5EF4-FFF2-40B4-BE49-F238E27FC236}">
                <a16:creationId xmlns:a16="http://schemas.microsoft.com/office/drawing/2014/main" id="{ED315DBB-6FC3-5D5F-5E87-C65EBDD335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245345" y="4662143"/>
            <a:ext cx="2667000" cy="2514600"/>
          </a:xfrm>
          <a:prstGeom prst="ellipse">
            <a:avLst/>
          </a:prstGeom>
          <a:solidFill>
            <a:srgbClr val="F0F8A4"/>
          </a:solidFill>
          <a:ln>
            <a:solidFill>
              <a:srgbClr val="F0F8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0F8A4"/>
                </a:solidFill>
              </a:ln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DEBCEBD-E537-2A50-7438-6ABC72BE96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690687" y="4688916"/>
            <a:ext cx="2667000" cy="2514600"/>
          </a:xfrm>
          <a:prstGeom prst="ellipse">
            <a:avLst/>
          </a:prstGeom>
          <a:solidFill>
            <a:srgbClr val="F0F8A4"/>
          </a:solidFill>
          <a:ln>
            <a:solidFill>
              <a:srgbClr val="F0F8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0F8A4"/>
                </a:solidFill>
              </a:ln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3E268D7-BC7B-2AE2-2343-E2E0D66BFFF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9747475" y="4622348"/>
            <a:ext cx="2667000" cy="2514600"/>
          </a:xfrm>
          <a:prstGeom prst="ellipse">
            <a:avLst/>
          </a:prstGeom>
          <a:solidFill>
            <a:srgbClr val="F0F8A4"/>
          </a:solidFill>
          <a:ln>
            <a:solidFill>
              <a:srgbClr val="F0F8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0F8A4"/>
                </a:solidFill>
              </a:ln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79388733-6D49-85C8-BF70-4AEEA9E76D5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13971049" y="4639496"/>
            <a:ext cx="2667000" cy="2514600"/>
          </a:xfrm>
          <a:prstGeom prst="ellipse">
            <a:avLst/>
          </a:prstGeom>
          <a:solidFill>
            <a:srgbClr val="F0F8A4"/>
          </a:solidFill>
          <a:ln>
            <a:solidFill>
              <a:srgbClr val="F0F8A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n>
                <a:solidFill>
                  <a:srgbClr val="F0F8A4"/>
                </a:solidFill>
              </a:ln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37DA32F-6AB3-C58B-7C78-F7ACC5F9960E}"/>
              </a:ext>
            </a:extLst>
          </p:cNvPr>
          <p:cNvSpPr txBox="1">
            <a:spLocks/>
          </p:cNvSpPr>
          <p:nvPr/>
        </p:nvSpPr>
        <p:spPr>
          <a:xfrm>
            <a:off x="1271110" y="4985254"/>
            <a:ext cx="264999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/>
              <a:t>Forecast gross bank credit demand using univariate and multivariate time-series models.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3700BAD-5318-BA26-C6CE-98D65E6CBFA1}"/>
              </a:ext>
            </a:extLst>
          </p:cNvPr>
          <p:cNvSpPr txBox="1"/>
          <p:nvPr/>
        </p:nvSpPr>
        <p:spPr>
          <a:xfrm>
            <a:off x="5754864" y="4920957"/>
            <a:ext cx="2565812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/>
              <a:t> Examine long-run and short-run relationships among sectoral credit components using ARIMAX and  VECM.</a:t>
            </a:r>
          </a:p>
          <a:p>
            <a:endParaRPr lang="en-IN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EEAE737-7BE8-3412-E132-CBC0CDA2A2C4}"/>
              </a:ext>
            </a:extLst>
          </p:cNvPr>
          <p:cNvSpPr txBox="1"/>
          <p:nvPr/>
        </p:nvSpPr>
        <p:spPr>
          <a:xfrm>
            <a:off x="9864609" y="4920957"/>
            <a:ext cx="271431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000" b="1"/>
              <a:t>Incorporate high-dimensional information through a FAVAR framework for improved forecasting performance.</a:t>
            </a:r>
          </a:p>
          <a:p>
            <a:endParaRPr lang="en-IN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C2619A7-17D0-FD2A-DAE2-31C5ED2BAF6D}"/>
              </a:ext>
            </a:extLst>
          </p:cNvPr>
          <p:cNvSpPr txBox="1"/>
          <p:nvPr/>
        </p:nvSpPr>
        <p:spPr>
          <a:xfrm>
            <a:off x="13944620" y="4857852"/>
            <a:ext cx="280616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IN" sz="2000" b="1"/>
              <a:t>Compare the predictive accuracy and dynamic responses of Exponential Smoothing, ARIMA, ARIMAX, VAR/VECM, and FAVAR models.</a:t>
            </a:r>
          </a:p>
          <a:p>
            <a:r>
              <a:rPr lang="en-IN" sz="2000" b="1"/>
              <a:t> </a:t>
            </a:r>
          </a:p>
          <a:p>
            <a:endParaRPr lang="en-IN"/>
          </a:p>
        </p:txBody>
      </p:sp>
      <p:sp>
        <p:nvSpPr>
          <p:cNvPr id="4" name="Freeform 49">
            <a:extLst>
              <a:ext uri="{FF2B5EF4-FFF2-40B4-BE49-F238E27FC236}">
                <a16:creationId xmlns:a16="http://schemas.microsoft.com/office/drawing/2014/main" id="{73EDA2ED-97D5-B097-AB3C-65846743C1D5}"/>
              </a:ext>
            </a:extLst>
          </p:cNvPr>
          <p:cNvSpPr/>
          <p:nvPr/>
        </p:nvSpPr>
        <p:spPr>
          <a:xfrm>
            <a:off x="15426227" y="1089488"/>
            <a:ext cx="1833072" cy="730077"/>
          </a:xfrm>
          <a:custGeom>
            <a:avLst/>
            <a:gdLst/>
            <a:ahLst/>
            <a:cxnLst/>
            <a:rect l="l" t="t" r="r" b="b"/>
            <a:pathLst>
              <a:path w="1530580" h="609600">
                <a:moveTo>
                  <a:pt x="203200" y="0"/>
                </a:moveTo>
                <a:lnTo>
                  <a:pt x="1530580" y="0"/>
                </a:lnTo>
                <a:lnTo>
                  <a:pt x="1327380" y="609600"/>
                </a:lnTo>
                <a:lnTo>
                  <a:pt x="0" y="609600"/>
                </a:lnTo>
                <a:lnTo>
                  <a:pt x="203200" y="0"/>
                </a:lnTo>
                <a:close/>
              </a:path>
            </a:pathLst>
          </a:custGeom>
          <a:solidFill>
            <a:srgbClr val="75B06F"/>
          </a:solid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665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 rot="-10800000"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6656B">
                    <a:alpha val="98000"/>
                  </a:srgbClr>
                </a:gs>
                <a:gs pos="100000">
                  <a:srgbClr val="36656B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405841" y="1028700"/>
            <a:ext cx="853459" cy="853459"/>
          </a:xfrm>
          <a:custGeom>
            <a:avLst/>
            <a:gdLst/>
            <a:ahLst/>
            <a:cxnLst/>
            <a:rect l="l" t="t" r="r" b="b"/>
            <a:pathLst>
              <a:path w="853459" h="853459">
                <a:moveTo>
                  <a:pt x="0" y="0"/>
                </a:moveTo>
                <a:lnTo>
                  <a:pt x="853459" y="0"/>
                </a:lnTo>
                <a:lnTo>
                  <a:pt x="853459" y="853459"/>
                </a:lnTo>
                <a:lnTo>
                  <a:pt x="0" y="85345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7982156-797A-D01C-4068-BC4B852351C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7996" cy="88188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C7010C0-D348-61B0-5233-94D92CCB9F69}"/>
              </a:ext>
            </a:extLst>
          </p:cNvPr>
          <p:cNvSpPr txBox="1"/>
          <p:nvPr/>
        </p:nvSpPr>
        <p:spPr>
          <a:xfrm>
            <a:off x="26555" y="8835026"/>
            <a:ext cx="6913417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8000" b="1">
                <a:solidFill>
                  <a:schemeClr val="bg2"/>
                </a:solidFill>
                <a:latin typeface="League Gothic"/>
              </a:rPr>
              <a:t>MAIN DATASET</a:t>
            </a:r>
            <a:endParaRPr lang="en-IN" sz="8000" b="1">
              <a:solidFill>
                <a:schemeClr val="bg2"/>
              </a:solidFill>
              <a:latin typeface="League Gothic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D74462-474D-6412-2956-CD1FDF4FC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6D1C349-681C-2CF5-5D9F-FC2B953170AF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14EFC732-409C-609D-808F-9A9721834452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 rot="-10800000">
            <a:off x="0" y="-8404841"/>
            <a:ext cx="18288000" cy="10287000"/>
            <a:chOff x="0" y="0"/>
            <a:chExt cx="4816593" cy="270933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DFD9523-9BFA-24AE-2C66-828F5D31378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36656B">
                    <a:alpha val="98000"/>
                  </a:srgbClr>
                </a:gs>
                <a:gs pos="100000">
                  <a:srgbClr val="36656B">
                    <a:alpha val="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95019896-15D9-5F31-D66A-6968332044D8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67DB87A-62A5-636F-59B4-7BE5E96FF85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76200" y="114300"/>
            <a:ext cx="7391400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6000" b="1">
                <a:solidFill>
                  <a:schemeClr val="bg2"/>
                </a:solidFill>
                <a:latin typeface="League Gothic"/>
              </a:rPr>
              <a:t>EXTERNAL VARIABLE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D0AC2-CC33-22C7-E86E-01C3BE9D5A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5" y="1123037"/>
            <a:ext cx="18266470" cy="9168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790E7C73-D28A-2813-2C73-8472AC2B0296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 sz="1300" i="1">
              <a:solidFill>
                <a:srgbClr val="22D3EE"/>
              </a:solidFill>
              <a:ea typeface="Calibri"/>
              <a:cs typeface="Calibri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18973B2A-D112-082E-00A2-632D64056C29}"/>
              </a:ext>
            </a:extLst>
          </p:cNvPr>
          <p:cNvGrpSpPr/>
          <p:nvPr/>
        </p:nvGrpSpPr>
        <p:grpSpPr>
          <a:xfrm>
            <a:off x="1281518" y="608350"/>
            <a:ext cx="13117261" cy="775707"/>
            <a:chOff x="0" y="-38100"/>
            <a:chExt cx="10952656" cy="6477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C29C6DF-1020-EB0F-9AA0-FD79F92C12C0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A0F75A9F-2A6F-D574-D1A8-98AE22C1DF69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3">
            <a:extLst>
              <a:ext uri="{FF2B5EF4-FFF2-40B4-BE49-F238E27FC236}">
                <a16:creationId xmlns:a16="http://schemas.microsoft.com/office/drawing/2014/main" id="{04A6642E-5F3B-3651-A7DE-2A16283D972D}"/>
              </a:ext>
            </a:extLst>
          </p:cNvPr>
          <p:cNvGrpSpPr/>
          <p:nvPr/>
        </p:nvGrpSpPr>
        <p:grpSpPr>
          <a:xfrm>
            <a:off x="14384311" y="608350"/>
            <a:ext cx="1041917" cy="775707"/>
            <a:chOff x="0" y="-38100"/>
            <a:chExt cx="869980" cy="647700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E7FAAD92-FC95-CE63-EB50-8FC14DCF9638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8D935D-2FD8-AF42-9E03-8E890E7393FF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1" name="Group 19">
            <a:extLst>
              <a:ext uri="{FF2B5EF4-FFF2-40B4-BE49-F238E27FC236}">
                <a16:creationId xmlns:a16="http://schemas.microsoft.com/office/drawing/2014/main" id="{7B462FA8-0ED6-F238-62AD-0ECFAF60E598}"/>
              </a:ext>
            </a:extLst>
          </p:cNvPr>
          <p:cNvGrpSpPr/>
          <p:nvPr/>
        </p:nvGrpSpPr>
        <p:grpSpPr>
          <a:xfrm>
            <a:off x="1028700" y="377658"/>
            <a:ext cx="718334" cy="1007856"/>
            <a:chOff x="0" y="-57150"/>
            <a:chExt cx="189191" cy="265444"/>
          </a:xfrm>
        </p:grpSpPr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C686EA57-22B6-8E52-5B39-5E3E1DCB0385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0" name="TextBox 21">
              <a:extLst>
                <a:ext uri="{FF2B5EF4-FFF2-40B4-BE49-F238E27FC236}">
                  <a16:creationId xmlns:a16="http://schemas.microsoft.com/office/drawing/2014/main" id="{614917F5-F2B8-4473-6DB6-12C95356DD6A}"/>
                </a:ext>
              </a:extLst>
            </p:cNvPr>
            <p:cNvSpPr txBox="1"/>
            <p:nvPr/>
          </p:nvSpPr>
          <p:spPr>
            <a:xfrm>
              <a:off x="0" y="-57150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3" name="Freeform 49">
            <a:extLst>
              <a:ext uri="{FF2B5EF4-FFF2-40B4-BE49-F238E27FC236}">
                <a16:creationId xmlns:a16="http://schemas.microsoft.com/office/drawing/2014/main" id="{A0F4A28B-6E8D-BC88-7CCB-514BAF612041}"/>
              </a:ext>
            </a:extLst>
          </p:cNvPr>
          <p:cNvSpPr/>
          <p:nvPr/>
        </p:nvSpPr>
        <p:spPr>
          <a:xfrm>
            <a:off x="15426227" y="655437"/>
            <a:ext cx="1833072" cy="730077"/>
          </a:xfrm>
          <a:custGeom>
            <a:avLst/>
            <a:gdLst/>
            <a:ahLst/>
            <a:cxnLst/>
            <a:rect l="l" t="t" r="r" b="b"/>
            <a:pathLst>
              <a:path w="1530580" h="609600">
                <a:moveTo>
                  <a:pt x="203200" y="0"/>
                </a:moveTo>
                <a:lnTo>
                  <a:pt x="1530580" y="0"/>
                </a:lnTo>
                <a:lnTo>
                  <a:pt x="1327380" y="609600"/>
                </a:lnTo>
                <a:lnTo>
                  <a:pt x="0" y="609600"/>
                </a:lnTo>
                <a:lnTo>
                  <a:pt x="203200" y="0"/>
                </a:lnTo>
                <a:close/>
              </a:path>
            </a:pathLst>
          </a:custGeom>
          <a:solidFill>
            <a:srgbClr val="75B06F"/>
          </a:solidFill>
        </p:spPr>
        <p:txBody>
          <a:bodyPr/>
          <a:lstStyle/>
          <a:p>
            <a:endParaRPr lang="en-IN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9B7B61-995D-FA8B-220F-F64EE30A9E6E}"/>
              </a:ext>
            </a:extLst>
          </p:cNvPr>
          <p:cNvSpPr txBox="1"/>
          <p:nvPr/>
        </p:nvSpPr>
        <p:spPr>
          <a:xfrm>
            <a:off x="1956483" y="611557"/>
            <a:ext cx="5207577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chemeClr val="bg1"/>
                </a:solidFill>
                <a:latin typeface="League Gothic"/>
                <a:ea typeface="Calibri"/>
                <a:cs typeface="Calibri"/>
              </a:rPr>
              <a:t>DATA TIMELINE</a:t>
            </a:r>
            <a:endParaRPr lang="en-US" sz="4400">
              <a:solidFill>
                <a:schemeClr val="bg1"/>
              </a:solidFill>
              <a:latin typeface="League Gothic"/>
            </a:endParaRPr>
          </a:p>
        </p:txBody>
      </p:sp>
      <p:pic>
        <p:nvPicPr>
          <p:cNvPr id="2945" name="Picture 2944" descr="A green line with text and numbers&#10;&#10;AI-generated content may be incorrect.">
            <a:extLst>
              <a:ext uri="{FF2B5EF4-FFF2-40B4-BE49-F238E27FC236}">
                <a16:creationId xmlns:a16="http://schemas.microsoft.com/office/drawing/2014/main" id="{56425CAD-4EEF-67A5-2AF2-25E7E70F6E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3600" y="2020651"/>
            <a:ext cx="14573250" cy="4035897"/>
          </a:xfrm>
          <a:prstGeom prst="rect">
            <a:avLst/>
          </a:prstGeom>
        </p:spPr>
      </p:pic>
      <p:pic>
        <p:nvPicPr>
          <p:cNvPr id="2946" name="Picture 2945" descr="A green rectangle with black text&#10;&#10;AI-generated content may be incorrect.">
            <a:extLst>
              <a:ext uri="{FF2B5EF4-FFF2-40B4-BE49-F238E27FC236}">
                <a16:creationId xmlns:a16="http://schemas.microsoft.com/office/drawing/2014/main" id="{1295FACB-A1F2-45E9-B4B3-36CCECF230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650" y="6722942"/>
            <a:ext cx="15297150" cy="259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131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CC261-CE99-CD57-9461-9BF049185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75721F-7528-F607-A4DD-EDAC74FF64FD}"/>
              </a:ext>
            </a:extLst>
          </p:cNvPr>
          <p:cNvSpPr/>
          <p:nvPr/>
        </p:nvSpPr>
        <p:spPr>
          <a:xfrm flipH="1">
            <a:off x="0" y="26725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48569CF-20BA-BDDB-5543-1C6904F7B0EC}"/>
              </a:ext>
            </a:extLst>
          </p:cNvPr>
          <p:cNvGrpSpPr/>
          <p:nvPr/>
        </p:nvGrpSpPr>
        <p:grpSpPr>
          <a:xfrm>
            <a:off x="1281518" y="653980"/>
            <a:ext cx="13117261" cy="730077"/>
            <a:chOff x="0" y="0"/>
            <a:chExt cx="10952656" cy="6096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E72DBACB-6625-3FFB-0105-B2C93791AEC0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361FE2D6-5A35-30E3-56BA-0241DBEE7CF2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E2D15840-C835-884B-5650-04DAF33DF002}"/>
              </a:ext>
            </a:extLst>
          </p:cNvPr>
          <p:cNvGrpSpPr/>
          <p:nvPr/>
        </p:nvGrpSpPr>
        <p:grpSpPr>
          <a:xfrm>
            <a:off x="14384311" y="653980"/>
            <a:ext cx="1041917" cy="730077"/>
            <a:chOff x="0" y="0"/>
            <a:chExt cx="869980" cy="6096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66DCDB1-63E9-0039-EDB8-CB8740095BF5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76B6A2BF-A179-2C98-667E-0571477FA1EC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9">
            <a:extLst>
              <a:ext uri="{FF2B5EF4-FFF2-40B4-BE49-F238E27FC236}">
                <a16:creationId xmlns:a16="http://schemas.microsoft.com/office/drawing/2014/main" id="{3C17224B-AE0F-325D-5D6E-9CF9765B4A41}"/>
              </a:ext>
            </a:extLst>
          </p:cNvPr>
          <p:cNvGrpSpPr/>
          <p:nvPr/>
        </p:nvGrpSpPr>
        <p:grpSpPr>
          <a:xfrm>
            <a:off x="1028700" y="594649"/>
            <a:ext cx="718334" cy="790865"/>
            <a:chOff x="0" y="0"/>
            <a:chExt cx="189191" cy="208294"/>
          </a:xfrm>
        </p:grpSpPr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8E5D981F-6AA2-B45B-CC5F-FC2C334F1A30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21">
              <a:extLst>
                <a:ext uri="{FF2B5EF4-FFF2-40B4-BE49-F238E27FC236}">
                  <a16:creationId xmlns:a16="http://schemas.microsoft.com/office/drawing/2014/main" id="{0F0920C3-078A-8D76-BE4A-F6F3742FD201}"/>
                </a:ext>
              </a:extLst>
            </p:cNvPr>
            <p:cNvSpPr txBox="1"/>
            <p:nvPr/>
          </p:nvSpPr>
          <p:spPr>
            <a:xfrm>
              <a:off x="0" y="-57150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23" name="Freeform 23">
            <a:extLst>
              <a:ext uri="{FF2B5EF4-FFF2-40B4-BE49-F238E27FC236}">
                <a16:creationId xmlns:a16="http://schemas.microsoft.com/office/drawing/2014/main" id="{49079D71-1B19-318E-8BEA-F808B6A89968}"/>
              </a:ext>
            </a:extLst>
          </p:cNvPr>
          <p:cNvSpPr/>
          <p:nvPr/>
        </p:nvSpPr>
        <p:spPr>
          <a:xfrm>
            <a:off x="16044464" y="1125833"/>
            <a:ext cx="596599" cy="596599"/>
          </a:xfrm>
          <a:custGeom>
            <a:avLst/>
            <a:gdLst/>
            <a:ahLst/>
            <a:cxnLst/>
            <a:rect l="l" t="t" r="r" b="b"/>
            <a:pathLst>
              <a:path w="596599" h="596599">
                <a:moveTo>
                  <a:pt x="0" y="0"/>
                </a:moveTo>
                <a:lnTo>
                  <a:pt x="596599" y="0"/>
                </a:lnTo>
                <a:lnTo>
                  <a:pt x="596599" y="596599"/>
                </a:lnTo>
                <a:lnTo>
                  <a:pt x="0" y="5965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49">
            <a:extLst>
              <a:ext uri="{FF2B5EF4-FFF2-40B4-BE49-F238E27FC236}">
                <a16:creationId xmlns:a16="http://schemas.microsoft.com/office/drawing/2014/main" id="{A179698B-214D-3E57-286D-4C8B746296FE}"/>
              </a:ext>
            </a:extLst>
          </p:cNvPr>
          <p:cNvSpPr/>
          <p:nvPr/>
        </p:nvSpPr>
        <p:spPr>
          <a:xfrm>
            <a:off x="15426227" y="655437"/>
            <a:ext cx="1833072" cy="730077"/>
          </a:xfrm>
          <a:custGeom>
            <a:avLst/>
            <a:gdLst/>
            <a:ahLst/>
            <a:cxnLst/>
            <a:rect l="l" t="t" r="r" b="b"/>
            <a:pathLst>
              <a:path w="1530580" h="609600">
                <a:moveTo>
                  <a:pt x="203200" y="0"/>
                </a:moveTo>
                <a:lnTo>
                  <a:pt x="1530580" y="0"/>
                </a:lnTo>
                <a:lnTo>
                  <a:pt x="1327380" y="609600"/>
                </a:lnTo>
                <a:lnTo>
                  <a:pt x="0" y="609600"/>
                </a:lnTo>
                <a:lnTo>
                  <a:pt x="203200" y="0"/>
                </a:lnTo>
                <a:close/>
              </a:path>
            </a:pathLst>
          </a:custGeom>
          <a:solidFill>
            <a:srgbClr val="75B06F"/>
          </a:solidFill>
        </p:spPr>
        <p:txBody>
          <a:bodyPr/>
          <a:lstStyle/>
          <a:p>
            <a:endParaRPr lang="en-IN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AA1DA85-63F9-E03C-0F2D-EE45A713F855}"/>
              </a:ext>
            </a:extLst>
          </p:cNvPr>
          <p:cNvGrpSpPr/>
          <p:nvPr/>
        </p:nvGrpSpPr>
        <p:grpSpPr>
          <a:xfrm>
            <a:off x="7396523" y="1830654"/>
            <a:ext cx="3506102" cy="741356"/>
            <a:chOff x="7590617" y="1960050"/>
            <a:chExt cx="3506102" cy="741356"/>
          </a:xfrm>
        </p:grpSpPr>
        <p:sp>
          <p:nvSpPr>
            <p:cNvPr id="51" name="Rectangle: Rounded Corners 50">
              <a:extLst>
                <a:ext uri="{FF2B5EF4-FFF2-40B4-BE49-F238E27FC236}">
                  <a16:creationId xmlns:a16="http://schemas.microsoft.com/office/drawing/2014/main" id="{E4B17AFB-EA31-D42F-16A8-A6DFBAA2F566}"/>
                </a:ext>
              </a:extLst>
            </p:cNvPr>
            <p:cNvSpPr/>
            <p:nvPr/>
          </p:nvSpPr>
          <p:spPr>
            <a:xfrm>
              <a:off x="7590617" y="1960050"/>
              <a:ext cx="2567624" cy="741356"/>
            </a:xfrm>
            <a:prstGeom prst="roundRect">
              <a:avLst/>
            </a:prstGeom>
            <a:solidFill>
              <a:srgbClr val="F0F8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BF1BBD8-39CB-7048-CE49-99657682FBBD}"/>
                </a:ext>
              </a:extLst>
            </p:cNvPr>
            <p:cNvSpPr txBox="1"/>
            <p:nvPr/>
          </p:nvSpPr>
          <p:spPr>
            <a:xfrm>
              <a:off x="7841984" y="2109523"/>
              <a:ext cx="3254735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400" b="1">
                  <a:ea typeface="Calibri"/>
                  <a:cs typeface="Calibri"/>
                </a:rPr>
                <a:t>GROSS CREDIT</a:t>
              </a:r>
              <a:endParaRPr lang="en-US" sz="2400" b="1"/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2BCBC8DE-05A1-4974-20A4-889EF8B02431}"/>
              </a:ext>
            </a:extLst>
          </p:cNvPr>
          <p:cNvGrpSpPr/>
          <p:nvPr/>
        </p:nvGrpSpPr>
        <p:grpSpPr>
          <a:xfrm>
            <a:off x="1855946" y="2759392"/>
            <a:ext cx="13949950" cy="1602418"/>
            <a:chOff x="1855946" y="2759392"/>
            <a:chExt cx="13949950" cy="1602418"/>
          </a:xfrm>
        </p:grpSpPr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EED57ED2-B701-756D-5845-16AE556C1F9D}"/>
                </a:ext>
              </a:extLst>
            </p:cNvPr>
            <p:cNvGrpSpPr/>
            <p:nvPr/>
          </p:nvGrpSpPr>
          <p:grpSpPr>
            <a:xfrm>
              <a:off x="1855946" y="3386032"/>
              <a:ext cx="13949950" cy="975778"/>
              <a:chOff x="1855946" y="3386032"/>
              <a:chExt cx="13949950" cy="975778"/>
            </a:xfrm>
          </p:grpSpPr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03566817-FC35-666E-2DDA-58B13BC4AF64}"/>
                  </a:ext>
                </a:extLst>
              </p:cNvPr>
              <p:cNvGrpSpPr/>
              <p:nvPr/>
            </p:nvGrpSpPr>
            <p:grpSpPr>
              <a:xfrm>
                <a:off x="1855946" y="3386032"/>
                <a:ext cx="1904616" cy="889515"/>
                <a:chOff x="1855946" y="3386032"/>
                <a:chExt cx="1904616" cy="889515"/>
              </a:xfrm>
            </p:grpSpPr>
            <p:sp>
              <p:nvSpPr>
                <p:cNvPr id="40" name="Shape 2">
                  <a:extLst>
                    <a:ext uri="{FF2B5EF4-FFF2-40B4-BE49-F238E27FC236}">
                      <a16:creationId xmlns:a16="http://schemas.microsoft.com/office/drawing/2014/main" id="{8EAD5753-EB95-0CC3-8F1B-2C128151480F}"/>
                    </a:ext>
                  </a:extLst>
                </p:cNvPr>
                <p:cNvSpPr/>
                <p:nvPr/>
              </p:nvSpPr>
              <p:spPr>
                <a:xfrm>
                  <a:off x="1855946" y="3386032"/>
                  <a:ext cx="1904616" cy="889515"/>
                </a:xfrm>
                <a:prstGeom prst="rect">
                  <a:avLst/>
                </a:prstGeom>
                <a:solidFill>
                  <a:srgbClr val="9BBB59"/>
                </a:solidFill>
                <a:ln/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597E349F-2572-7E5D-3346-08BC346E9841}"/>
                    </a:ext>
                  </a:extLst>
                </p:cNvPr>
                <p:cNvSpPr txBox="1"/>
                <p:nvPr/>
              </p:nvSpPr>
              <p:spPr>
                <a:xfrm>
                  <a:off x="2335312" y="3598947"/>
                  <a:ext cx="1410385" cy="52322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2800" b="1">
                      <a:ea typeface="Calibri"/>
                      <a:cs typeface="Calibri"/>
                    </a:rPr>
                    <a:t>FOOD</a:t>
                  </a:r>
                  <a:endParaRPr lang="en-US" sz="2800" b="1"/>
                </a:p>
              </p:txBody>
            </p: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107727C1-1839-A141-2D6C-79137CF9AD34}"/>
                  </a:ext>
                </a:extLst>
              </p:cNvPr>
              <p:cNvGrpSpPr/>
              <p:nvPr/>
            </p:nvGrpSpPr>
            <p:grpSpPr>
              <a:xfrm>
                <a:off x="4837219" y="3450729"/>
                <a:ext cx="2316138" cy="889515"/>
                <a:chOff x="4837219" y="3450729"/>
                <a:chExt cx="2316138" cy="889515"/>
              </a:xfrm>
            </p:grpSpPr>
            <p:sp>
              <p:nvSpPr>
                <p:cNvPr id="45" name="Shape 2">
                  <a:extLst>
                    <a:ext uri="{FF2B5EF4-FFF2-40B4-BE49-F238E27FC236}">
                      <a16:creationId xmlns:a16="http://schemas.microsoft.com/office/drawing/2014/main" id="{37728BAB-1228-2B7C-9F0A-63FCBC4436BF}"/>
                    </a:ext>
                  </a:extLst>
                </p:cNvPr>
                <p:cNvSpPr/>
                <p:nvPr/>
              </p:nvSpPr>
              <p:spPr>
                <a:xfrm>
                  <a:off x="4837219" y="3450729"/>
                  <a:ext cx="1904616" cy="889515"/>
                </a:xfrm>
                <a:prstGeom prst="rect">
                  <a:avLst/>
                </a:prstGeom>
                <a:solidFill>
                  <a:srgbClr val="9BBB59"/>
                </a:solidFill>
                <a:ln/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68F7386-2C2C-F556-FBA1-63842BF059FB}"/>
                    </a:ext>
                  </a:extLst>
                </p:cNvPr>
                <p:cNvSpPr txBox="1"/>
                <p:nvPr/>
              </p:nvSpPr>
              <p:spPr>
                <a:xfrm>
                  <a:off x="4907731" y="3691607"/>
                  <a:ext cx="2245626" cy="40011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2000" b="1">
                      <a:ea typeface="Calibri"/>
                      <a:cs typeface="Calibri"/>
                    </a:rPr>
                    <a:t>AGRICULTURE</a:t>
                  </a:r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F9DAD2D6-00B2-20C6-5A10-56A0BFA1E4FF}"/>
                  </a:ext>
                </a:extLst>
              </p:cNvPr>
              <p:cNvGrpSpPr/>
              <p:nvPr/>
            </p:nvGrpSpPr>
            <p:grpSpPr>
              <a:xfrm>
                <a:off x="7764422" y="3450729"/>
                <a:ext cx="1904616" cy="889515"/>
                <a:chOff x="7764422" y="3450729"/>
                <a:chExt cx="1904616" cy="889515"/>
              </a:xfrm>
            </p:grpSpPr>
            <p:sp>
              <p:nvSpPr>
                <p:cNvPr id="41" name="Shape 2">
                  <a:extLst>
                    <a:ext uri="{FF2B5EF4-FFF2-40B4-BE49-F238E27FC236}">
                      <a16:creationId xmlns:a16="http://schemas.microsoft.com/office/drawing/2014/main" id="{14517C4A-F6B8-9714-06CF-A194308A40F3}"/>
                    </a:ext>
                  </a:extLst>
                </p:cNvPr>
                <p:cNvSpPr/>
                <p:nvPr/>
              </p:nvSpPr>
              <p:spPr>
                <a:xfrm>
                  <a:off x="7764422" y="3450729"/>
                  <a:ext cx="1904616" cy="889515"/>
                </a:xfrm>
                <a:prstGeom prst="rect">
                  <a:avLst/>
                </a:prstGeom>
                <a:solidFill>
                  <a:srgbClr val="9BBB59"/>
                </a:solidFill>
                <a:ln/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1BFA7492-A50E-D16D-1DB9-64F25B7C7FC9}"/>
                    </a:ext>
                  </a:extLst>
                </p:cNvPr>
                <p:cNvSpPr txBox="1"/>
                <p:nvPr/>
              </p:nvSpPr>
              <p:spPr>
                <a:xfrm>
                  <a:off x="7929713" y="3650670"/>
                  <a:ext cx="1644127" cy="461665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2400" b="1">
                      <a:ea typeface="Calibri"/>
                      <a:cs typeface="Calibri"/>
                    </a:rPr>
                    <a:t>INDUSTRY</a:t>
                  </a:r>
                  <a:endParaRPr lang="en-US" sz="2400" b="1"/>
                </a:p>
              </p:txBody>
            </p:sp>
          </p:grpSp>
          <p:grpSp>
            <p:nvGrpSpPr>
              <p:cNvPr id="69" name="Group 68">
                <a:extLst>
                  <a:ext uri="{FF2B5EF4-FFF2-40B4-BE49-F238E27FC236}">
                    <a16:creationId xmlns:a16="http://schemas.microsoft.com/office/drawing/2014/main" id="{66D3806D-D3ED-D08E-04D0-4F0CA597B834}"/>
                  </a:ext>
                </a:extLst>
              </p:cNvPr>
              <p:cNvGrpSpPr/>
              <p:nvPr/>
            </p:nvGrpSpPr>
            <p:grpSpPr>
              <a:xfrm>
                <a:off x="10572275" y="3450729"/>
                <a:ext cx="1906854" cy="889515"/>
                <a:chOff x="10572275" y="3450729"/>
                <a:chExt cx="1906854" cy="889515"/>
              </a:xfrm>
            </p:grpSpPr>
            <p:sp>
              <p:nvSpPr>
                <p:cNvPr id="42" name="Shape 2">
                  <a:extLst>
                    <a:ext uri="{FF2B5EF4-FFF2-40B4-BE49-F238E27FC236}">
                      <a16:creationId xmlns:a16="http://schemas.microsoft.com/office/drawing/2014/main" id="{1D1F4951-A25F-E3F9-0E4A-54BF029EAA4E}"/>
                    </a:ext>
                  </a:extLst>
                </p:cNvPr>
                <p:cNvSpPr/>
                <p:nvPr/>
              </p:nvSpPr>
              <p:spPr>
                <a:xfrm>
                  <a:off x="10572275" y="3450729"/>
                  <a:ext cx="1904616" cy="889515"/>
                </a:xfrm>
                <a:prstGeom prst="rect">
                  <a:avLst/>
                </a:prstGeom>
                <a:solidFill>
                  <a:srgbClr val="9BBB59"/>
                </a:solidFill>
                <a:ln/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054DF342-890D-5797-278C-7A508A13B920}"/>
                    </a:ext>
                  </a:extLst>
                </p:cNvPr>
                <p:cNvSpPr txBox="1"/>
                <p:nvPr/>
              </p:nvSpPr>
              <p:spPr>
                <a:xfrm>
                  <a:off x="10996417" y="3661367"/>
                  <a:ext cx="1482712" cy="461665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pPr algn="l"/>
                  <a:r>
                    <a:rPr lang="en-US" sz="2400" b="1">
                      <a:ea typeface="Calibri"/>
                      <a:cs typeface="Calibri"/>
                    </a:rPr>
                    <a:t>SERVICE</a:t>
                  </a:r>
                  <a:endParaRPr lang="en-US" sz="2400" b="1"/>
                </a:p>
              </p:txBody>
            </p:sp>
          </p:grpSp>
          <p:grpSp>
            <p:nvGrpSpPr>
              <p:cNvPr id="70" name="Group 69">
                <a:extLst>
                  <a:ext uri="{FF2B5EF4-FFF2-40B4-BE49-F238E27FC236}">
                    <a16:creationId xmlns:a16="http://schemas.microsoft.com/office/drawing/2014/main" id="{2FE52D2D-C624-43D3-BC19-27E1386D24DB}"/>
                  </a:ext>
                </a:extLst>
              </p:cNvPr>
              <p:cNvGrpSpPr/>
              <p:nvPr/>
            </p:nvGrpSpPr>
            <p:grpSpPr>
              <a:xfrm>
                <a:off x="13672236" y="3472295"/>
                <a:ext cx="2133660" cy="889515"/>
                <a:chOff x="13672236" y="3472295"/>
                <a:chExt cx="2133660" cy="889515"/>
              </a:xfrm>
            </p:grpSpPr>
            <p:sp>
              <p:nvSpPr>
                <p:cNvPr id="43" name="Shape 2">
                  <a:extLst>
                    <a:ext uri="{FF2B5EF4-FFF2-40B4-BE49-F238E27FC236}">
                      <a16:creationId xmlns:a16="http://schemas.microsoft.com/office/drawing/2014/main" id="{A2F404B7-85D4-639B-41C9-265E2872089B}"/>
                    </a:ext>
                  </a:extLst>
                </p:cNvPr>
                <p:cNvSpPr/>
                <p:nvPr/>
              </p:nvSpPr>
              <p:spPr>
                <a:xfrm>
                  <a:off x="13672610" y="3472295"/>
                  <a:ext cx="1904616" cy="889515"/>
                </a:xfrm>
                <a:prstGeom prst="rect">
                  <a:avLst/>
                </a:prstGeom>
                <a:solidFill>
                  <a:srgbClr val="9BBB59"/>
                </a:solidFill>
                <a:ln/>
                <a:effectLst>
                  <a:outerShdw blurRad="101600" dist="38100" dir="8100000" algn="bl" rotWithShape="0">
                    <a:srgbClr val="000000">
                      <a:alpha val="12000"/>
                    </a:srgbClr>
                  </a:outerShdw>
                </a:effectLst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23D6204A-85E2-2136-E9AA-A21D09433F2C}"/>
                    </a:ext>
                  </a:extLst>
                </p:cNvPr>
                <p:cNvSpPr txBox="1"/>
                <p:nvPr/>
              </p:nvSpPr>
              <p:spPr>
                <a:xfrm>
                  <a:off x="13672236" y="3696083"/>
                  <a:ext cx="2133660" cy="400110"/>
                </a:xfrm>
                <a:prstGeom prst="rect">
                  <a:avLst/>
                </a:prstGeom>
                <a:noFill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  <a:prstTxWarp prst="textNoShape">
                    <a:avLst/>
                  </a:prstTxWarp>
                  <a:spAutoFit/>
                </a:bodyPr>
                <a:lstStyle/>
                <a:p>
                  <a:r>
                    <a:rPr lang="en-US" sz="2000" b="1">
                      <a:ea typeface="Calibri"/>
                      <a:cs typeface="Calibri"/>
                    </a:rPr>
                    <a:t>PERSONAL LOAN </a:t>
                  </a:r>
                </a:p>
              </p:txBody>
            </p:sp>
          </p:grpSp>
          <p:sp>
            <p:nvSpPr>
              <p:cNvPr id="46" name="Plus Sign 45">
                <a:extLst>
                  <a:ext uri="{FF2B5EF4-FFF2-40B4-BE49-F238E27FC236}">
                    <a16:creationId xmlns:a16="http://schemas.microsoft.com/office/drawing/2014/main" id="{A9142EFA-BBA5-1C09-486E-43CBBF0E2EF7}"/>
                  </a:ext>
                </a:extLst>
              </p:cNvPr>
              <p:cNvSpPr/>
              <p:nvPr/>
            </p:nvSpPr>
            <p:spPr>
              <a:xfrm>
                <a:off x="3907242" y="3604580"/>
                <a:ext cx="669042" cy="556924"/>
              </a:xfrm>
              <a:prstGeom prst="mathPlus">
                <a:avLst/>
              </a:prstGeom>
              <a:solidFill>
                <a:srgbClr val="36656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Plus Sign 46">
                <a:extLst>
                  <a:ext uri="{FF2B5EF4-FFF2-40B4-BE49-F238E27FC236}">
                    <a16:creationId xmlns:a16="http://schemas.microsoft.com/office/drawing/2014/main" id="{633810AE-D76F-FA06-65A6-32C0DD11E5E9}"/>
                  </a:ext>
                </a:extLst>
              </p:cNvPr>
              <p:cNvSpPr/>
              <p:nvPr/>
            </p:nvSpPr>
            <p:spPr>
              <a:xfrm>
                <a:off x="6919831" y="3604579"/>
                <a:ext cx="669042" cy="556924"/>
              </a:xfrm>
              <a:prstGeom prst="mathPlus">
                <a:avLst/>
              </a:prstGeom>
              <a:solidFill>
                <a:srgbClr val="36656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Plus Sign 47">
                <a:extLst>
                  <a:ext uri="{FF2B5EF4-FFF2-40B4-BE49-F238E27FC236}">
                    <a16:creationId xmlns:a16="http://schemas.microsoft.com/office/drawing/2014/main" id="{E7E6D3D6-BAAC-C8DD-00FF-71D4FE3DEDA7}"/>
                  </a:ext>
                </a:extLst>
              </p:cNvPr>
              <p:cNvSpPr/>
              <p:nvPr/>
            </p:nvSpPr>
            <p:spPr>
              <a:xfrm>
                <a:off x="12745435" y="3643872"/>
                <a:ext cx="669042" cy="556924"/>
              </a:xfrm>
              <a:prstGeom prst="mathPlus">
                <a:avLst/>
              </a:prstGeom>
              <a:solidFill>
                <a:srgbClr val="36656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Plus Sign 48">
                <a:extLst>
                  <a:ext uri="{FF2B5EF4-FFF2-40B4-BE49-F238E27FC236}">
                    <a16:creationId xmlns:a16="http://schemas.microsoft.com/office/drawing/2014/main" id="{465AC12A-1097-4E8C-D15A-8C9E079A68A0}"/>
                  </a:ext>
                </a:extLst>
              </p:cNvPr>
              <p:cNvSpPr/>
              <p:nvPr/>
            </p:nvSpPr>
            <p:spPr>
              <a:xfrm>
                <a:off x="9697384" y="3553160"/>
                <a:ext cx="669042" cy="556924"/>
              </a:xfrm>
              <a:prstGeom prst="mathPlus">
                <a:avLst/>
              </a:prstGeom>
              <a:solidFill>
                <a:srgbClr val="36656B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2" name="Equals 51">
              <a:extLst>
                <a:ext uri="{FF2B5EF4-FFF2-40B4-BE49-F238E27FC236}">
                  <a16:creationId xmlns:a16="http://schemas.microsoft.com/office/drawing/2014/main" id="{5DB6EC11-D61F-F6AA-A8DB-ECBEF6BA004B}"/>
                </a:ext>
              </a:extLst>
            </p:cNvPr>
            <p:cNvSpPr/>
            <p:nvPr/>
          </p:nvSpPr>
          <p:spPr>
            <a:xfrm>
              <a:off x="8379772" y="2759392"/>
              <a:ext cx="509287" cy="451413"/>
            </a:xfrm>
            <a:prstGeom prst="mathEqual">
              <a:avLst/>
            </a:prstGeom>
            <a:solidFill>
              <a:srgbClr val="C9C9C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61" name="TextBox 60">
            <a:extLst>
              <a:ext uri="{FF2B5EF4-FFF2-40B4-BE49-F238E27FC236}">
                <a16:creationId xmlns:a16="http://schemas.microsoft.com/office/drawing/2014/main" id="{8E57B882-C07F-DBF1-95B4-A0CECFC79B91}"/>
              </a:ext>
            </a:extLst>
          </p:cNvPr>
          <p:cNvSpPr txBox="1"/>
          <p:nvPr/>
        </p:nvSpPr>
        <p:spPr>
          <a:xfrm>
            <a:off x="1956483" y="676255"/>
            <a:ext cx="520757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800">
                <a:solidFill>
                  <a:schemeClr val="bg1"/>
                </a:solidFill>
                <a:latin typeface="League Gothic"/>
                <a:ea typeface="Calibri"/>
                <a:cs typeface="Calibri"/>
              </a:rPr>
              <a:t>DATA USEAGE</a:t>
            </a:r>
            <a:endParaRPr lang="en-US" sz="3800">
              <a:solidFill>
                <a:schemeClr val="bg1"/>
              </a:solidFill>
              <a:latin typeface="League Gothic"/>
            </a:endParaRPr>
          </a:p>
        </p:txBody>
      </p:sp>
      <p:grpSp>
        <p:nvGrpSpPr>
          <p:cNvPr id="76" name="Group 75">
            <a:extLst>
              <a:ext uri="{FF2B5EF4-FFF2-40B4-BE49-F238E27FC236}">
                <a16:creationId xmlns:a16="http://schemas.microsoft.com/office/drawing/2014/main" id="{74A6ADF5-60C2-ACAD-0F8F-E32CC6BAE335}"/>
              </a:ext>
            </a:extLst>
          </p:cNvPr>
          <p:cNvGrpSpPr/>
          <p:nvPr/>
        </p:nvGrpSpPr>
        <p:grpSpPr>
          <a:xfrm>
            <a:off x="4010654" y="5626276"/>
            <a:ext cx="10072605" cy="1107978"/>
            <a:chOff x="3385239" y="5583144"/>
            <a:chExt cx="10072605" cy="1107978"/>
          </a:xfrm>
        </p:grpSpPr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3BF46B54-1467-75A5-A829-6DD8ECC3112B}"/>
                </a:ext>
              </a:extLst>
            </p:cNvPr>
            <p:cNvGrpSpPr/>
            <p:nvPr/>
          </p:nvGrpSpPr>
          <p:grpSpPr>
            <a:xfrm>
              <a:off x="3385239" y="5583144"/>
              <a:ext cx="3312008" cy="1107978"/>
              <a:chOff x="3385239" y="5583144"/>
              <a:chExt cx="3312008" cy="1107978"/>
            </a:xfrm>
          </p:grpSpPr>
          <p:sp>
            <p:nvSpPr>
              <p:cNvPr id="3" name="Rectangle: Rounded Corners 2">
                <a:extLst>
                  <a:ext uri="{FF2B5EF4-FFF2-40B4-BE49-F238E27FC236}">
                    <a16:creationId xmlns:a16="http://schemas.microsoft.com/office/drawing/2014/main" id="{698F1E44-E51D-A470-DF73-3101111E7C18}"/>
                  </a:ext>
                </a:extLst>
              </p:cNvPr>
              <p:cNvSpPr/>
              <p:nvPr/>
            </p:nvSpPr>
            <p:spPr>
              <a:xfrm>
                <a:off x="3385239" y="5583144"/>
                <a:ext cx="2891114" cy="1107978"/>
              </a:xfrm>
              <a:prstGeom prst="roundRect">
                <a:avLst/>
              </a:prstGeom>
              <a:solidFill>
                <a:srgbClr val="F0F8A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F4698032-CADE-2F6A-C678-66C0D2D122BE}"/>
                  </a:ext>
                </a:extLst>
              </p:cNvPr>
              <p:cNvSpPr txBox="1"/>
              <p:nvPr/>
            </p:nvSpPr>
            <p:spPr>
              <a:xfrm rot="-10800000" flipV="1">
                <a:off x="3528776" y="5852369"/>
                <a:ext cx="3168471" cy="58477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200" b="1">
                    <a:ea typeface="Calibri"/>
                    <a:cs typeface="Calibri"/>
                  </a:rPr>
                  <a:t>GROSS CREDIT</a:t>
                </a:r>
                <a:endParaRPr lang="en-US" sz="3200" b="1"/>
              </a:p>
            </p:txBody>
          </p:sp>
        </p:grpSp>
        <p:sp>
          <p:nvSpPr>
            <p:cNvPr id="16" name="Plus Sign 15">
              <a:extLst>
                <a:ext uri="{FF2B5EF4-FFF2-40B4-BE49-F238E27FC236}">
                  <a16:creationId xmlns:a16="http://schemas.microsoft.com/office/drawing/2014/main" id="{D60F130F-60D6-EBC0-56F6-49A7DD478F97}"/>
                </a:ext>
              </a:extLst>
            </p:cNvPr>
            <p:cNvSpPr/>
            <p:nvPr/>
          </p:nvSpPr>
          <p:spPr>
            <a:xfrm>
              <a:off x="6488510" y="5782748"/>
              <a:ext cx="669042" cy="556924"/>
            </a:xfrm>
            <a:prstGeom prst="mathPlus">
              <a:avLst/>
            </a:prstGeom>
            <a:solidFill>
              <a:srgbClr val="3665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Plus Sign 26">
              <a:extLst>
                <a:ext uri="{FF2B5EF4-FFF2-40B4-BE49-F238E27FC236}">
                  <a16:creationId xmlns:a16="http://schemas.microsoft.com/office/drawing/2014/main" id="{55394478-8463-78B4-42D3-2F3626C56850}"/>
                </a:ext>
              </a:extLst>
            </p:cNvPr>
            <p:cNvSpPr/>
            <p:nvPr/>
          </p:nvSpPr>
          <p:spPr>
            <a:xfrm>
              <a:off x="10025340" y="5825880"/>
              <a:ext cx="669042" cy="556924"/>
            </a:xfrm>
            <a:prstGeom prst="mathPlus">
              <a:avLst/>
            </a:prstGeom>
            <a:solidFill>
              <a:srgbClr val="3665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2" name="Group 71">
              <a:extLst>
                <a:ext uri="{FF2B5EF4-FFF2-40B4-BE49-F238E27FC236}">
                  <a16:creationId xmlns:a16="http://schemas.microsoft.com/office/drawing/2014/main" id="{A487E88C-8AC0-5B5B-4C56-8CB3A2BE63BB}"/>
                </a:ext>
              </a:extLst>
            </p:cNvPr>
            <p:cNvGrpSpPr/>
            <p:nvPr/>
          </p:nvGrpSpPr>
          <p:grpSpPr>
            <a:xfrm>
              <a:off x="7353390" y="5734106"/>
              <a:ext cx="2567624" cy="741356"/>
              <a:chOff x="7353390" y="5734106"/>
              <a:chExt cx="2567624" cy="741356"/>
            </a:xfrm>
          </p:grpSpPr>
          <p:sp>
            <p:nvSpPr>
              <p:cNvPr id="25" name="Rectangle: Rounded Corners 24">
                <a:extLst>
                  <a:ext uri="{FF2B5EF4-FFF2-40B4-BE49-F238E27FC236}">
                    <a16:creationId xmlns:a16="http://schemas.microsoft.com/office/drawing/2014/main" id="{D6E356F3-0716-19F4-3A87-C94A18A08B23}"/>
                  </a:ext>
                </a:extLst>
              </p:cNvPr>
              <p:cNvSpPr/>
              <p:nvPr/>
            </p:nvSpPr>
            <p:spPr>
              <a:xfrm>
                <a:off x="7353390" y="5734106"/>
                <a:ext cx="2567624" cy="741356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1212DFE-80A6-D2D1-D549-ACE2B252BFAE}"/>
                  </a:ext>
                </a:extLst>
              </p:cNvPr>
              <p:cNvSpPr txBox="1"/>
              <p:nvPr/>
            </p:nvSpPr>
            <p:spPr>
              <a:xfrm>
                <a:off x="7564838" y="5766934"/>
                <a:ext cx="2122714" cy="707886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4000" b="1">
                    <a:ea typeface="Calibri"/>
                    <a:cs typeface="Calibri"/>
                  </a:rPr>
                  <a:t>CRR</a:t>
                </a:r>
                <a:endParaRPr lang="en-US" sz="4000"/>
              </a:p>
            </p:txBody>
          </p:sp>
        </p:grpSp>
        <p:grpSp>
          <p:nvGrpSpPr>
            <p:cNvPr id="73" name="Group 72">
              <a:extLst>
                <a:ext uri="{FF2B5EF4-FFF2-40B4-BE49-F238E27FC236}">
                  <a16:creationId xmlns:a16="http://schemas.microsoft.com/office/drawing/2014/main" id="{98E03DEB-AF50-F041-C317-F6983AF1E6BA}"/>
                </a:ext>
              </a:extLst>
            </p:cNvPr>
            <p:cNvGrpSpPr/>
            <p:nvPr/>
          </p:nvGrpSpPr>
          <p:grpSpPr>
            <a:xfrm>
              <a:off x="10890220" y="5734106"/>
              <a:ext cx="2567624" cy="741356"/>
              <a:chOff x="10890220" y="5734106"/>
              <a:chExt cx="2567624" cy="741356"/>
            </a:xfrm>
          </p:grpSpPr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73A7542B-2EB0-970B-870B-1C5ED36574D1}"/>
                  </a:ext>
                </a:extLst>
              </p:cNvPr>
              <p:cNvSpPr/>
              <p:nvPr/>
            </p:nvSpPr>
            <p:spPr>
              <a:xfrm>
                <a:off x="10890220" y="5734106"/>
                <a:ext cx="2567624" cy="741356"/>
              </a:xfrm>
              <a:prstGeom prst="round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97055719-782C-6C82-3F3D-96A176435C9A}"/>
                  </a:ext>
                </a:extLst>
              </p:cNvPr>
              <p:cNvSpPr txBox="1"/>
              <p:nvPr/>
            </p:nvSpPr>
            <p:spPr>
              <a:xfrm>
                <a:off x="11250429" y="5792021"/>
                <a:ext cx="1842795" cy="64633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3600" b="1">
                    <a:ea typeface="Calibri"/>
                    <a:cs typeface="Calibri"/>
                  </a:rPr>
                  <a:t>CDR</a:t>
                </a:r>
              </a:p>
            </p:txBody>
          </p:sp>
        </p:grp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1D84E62-C96B-D741-0A3F-36789A287D04}"/>
              </a:ext>
            </a:extLst>
          </p:cNvPr>
          <p:cNvGrpSpPr/>
          <p:nvPr/>
        </p:nvGrpSpPr>
        <p:grpSpPr>
          <a:xfrm>
            <a:off x="5347748" y="8214200"/>
            <a:ext cx="7376850" cy="1107978"/>
            <a:chOff x="5132088" y="8041672"/>
            <a:chExt cx="7376850" cy="1107978"/>
          </a:xfrm>
        </p:grpSpPr>
        <p:sp>
          <p:nvSpPr>
            <p:cNvPr id="24" name="Plus Sign 23">
              <a:extLst>
                <a:ext uri="{FF2B5EF4-FFF2-40B4-BE49-F238E27FC236}">
                  <a16:creationId xmlns:a16="http://schemas.microsoft.com/office/drawing/2014/main" id="{8EA4E636-77F9-7320-DBB6-65FB840460C0}"/>
                </a:ext>
              </a:extLst>
            </p:cNvPr>
            <p:cNvSpPr/>
            <p:nvPr/>
          </p:nvSpPr>
          <p:spPr>
            <a:xfrm>
              <a:off x="8386322" y="8305975"/>
              <a:ext cx="669042" cy="556924"/>
            </a:xfrm>
            <a:prstGeom prst="mathPlus">
              <a:avLst/>
            </a:prstGeom>
            <a:solidFill>
              <a:srgbClr val="36656B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75" name="Group 74">
              <a:extLst>
                <a:ext uri="{FF2B5EF4-FFF2-40B4-BE49-F238E27FC236}">
                  <a16:creationId xmlns:a16="http://schemas.microsoft.com/office/drawing/2014/main" id="{E6A1ECDE-7AA9-EA5D-021B-2F59E1228594}"/>
                </a:ext>
              </a:extLst>
            </p:cNvPr>
            <p:cNvGrpSpPr/>
            <p:nvPr/>
          </p:nvGrpSpPr>
          <p:grpSpPr>
            <a:xfrm>
              <a:off x="9402164" y="8127934"/>
              <a:ext cx="3106774" cy="955689"/>
              <a:chOff x="9402164" y="8127934"/>
              <a:chExt cx="3106774" cy="955689"/>
            </a:xfrm>
          </p:grpSpPr>
          <p:sp>
            <p:nvSpPr>
              <p:cNvPr id="29" name="Rectangle: Rounded Corners 28">
                <a:extLst>
                  <a:ext uri="{FF2B5EF4-FFF2-40B4-BE49-F238E27FC236}">
                    <a16:creationId xmlns:a16="http://schemas.microsoft.com/office/drawing/2014/main" id="{9B8262D3-5F75-28B0-8478-7A29311DB238}"/>
                  </a:ext>
                </a:extLst>
              </p:cNvPr>
              <p:cNvSpPr/>
              <p:nvPr/>
            </p:nvSpPr>
            <p:spPr>
              <a:xfrm>
                <a:off x="9402164" y="8127934"/>
                <a:ext cx="3106774" cy="935450"/>
              </a:xfrm>
              <a:prstGeom prst="round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5141950-C16D-39A0-6216-E5D241F3B912}"/>
                  </a:ext>
                </a:extLst>
              </p:cNvPr>
              <p:cNvSpPr txBox="1"/>
              <p:nvPr/>
            </p:nvSpPr>
            <p:spPr>
              <a:xfrm>
                <a:off x="9684031" y="8129516"/>
                <a:ext cx="2705877" cy="95410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ctr"/>
                <a:r>
                  <a:rPr lang="en-US" sz="2800" b="1">
                    <a:ea typeface="Calibri"/>
                    <a:cs typeface="Calibri"/>
                  </a:rPr>
                  <a:t>41 EXTERNAL VARIABLES</a:t>
                </a:r>
              </a:p>
            </p:txBody>
          </p:sp>
        </p:grpSp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B9C7EFA8-E72D-BA74-81C4-E5AE00E1E7AD}"/>
                </a:ext>
              </a:extLst>
            </p:cNvPr>
            <p:cNvGrpSpPr/>
            <p:nvPr/>
          </p:nvGrpSpPr>
          <p:grpSpPr>
            <a:xfrm>
              <a:off x="5132088" y="8041672"/>
              <a:ext cx="3376706" cy="1107978"/>
              <a:chOff x="5132088" y="8041672"/>
              <a:chExt cx="3376706" cy="1107978"/>
            </a:xfrm>
          </p:grpSpPr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92108431-815D-4D3D-0607-268CEA1442CB}"/>
                  </a:ext>
                </a:extLst>
              </p:cNvPr>
              <p:cNvSpPr/>
              <p:nvPr/>
            </p:nvSpPr>
            <p:spPr>
              <a:xfrm>
                <a:off x="5132088" y="8041672"/>
                <a:ext cx="2891114" cy="1107978"/>
              </a:xfrm>
              <a:prstGeom prst="roundRect">
                <a:avLst/>
              </a:prstGeom>
              <a:solidFill>
                <a:srgbClr val="F0F8A4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1EB8E759-9375-30A8-EAF3-C8F0F64500D4}"/>
                  </a:ext>
                </a:extLst>
              </p:cNvPr>
              <p:cNvSpPr txBox="1"/>
              <p:nvPr/>
            </p:nvSpPr>
            <p:spPr>
              <a:xfrm rot="10800000" flipV="1">
                <a:off x="5340323" y="8310897"/>
                <a:ext cx="3168471" cy="584775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3200" b="1">
                    <a:ea typeface="Calibri"/>
                    <a:cs typeface="Calibri"/>
                  </a:rPr>
                  <a:t>GROSS CREDIT</a:t>
                </a:r>
                <a:endParaRPr lang="en-US" sz="3200" b="1"/>
              </a:p>
            </p:txBody>
          </p:sp>
        </p:grpSp>
      </p:grpSp>
      <p:sp>
        <p:nvSpPr>
          <p:cNvPr id="50" name="TextBox 49">
            <a:extLst>
              <a:ext uri="{FF2B5EF4-FFF2-40B4-BE49-F238E27FC236}">
                <a16:creationId xmlns:a16="http://schemas.microsoft.com/office/drawing/2014/main" id="{9A1D1603-DB52-9A8C-2F41-A6589A775E00}"/>
              </a:ext>
            </a:extLst>
          </p:cNvPr>
          <p:cNvSpPr txBox="1"/>
          <p:nvPr/>
        </p:nvSpPr>
        <p:spPr>
          <a:xfrm>
            <a:off x="1651000" y="2971799"/>
            <a:ext cx="14604999" cy="17018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49CB4E7A-671C-2983-E0F6-1DD5ED07C38A}"/>
              </a:ext>
            </a:extLst>
          </p:cNvPr>
          <p:cNvSpPr txBox="1"/>
          <p:nvPr/>
        </p:nvSpPr>
        <p:spPr>
          <a:xfrm>
            <a:off x="2921000" y="5206999"/>
            <a:ext cx="11379199" cy="19303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4307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59BEF-3E26-AD8B-F81C-95BB34E34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31A856-AFC0-8853-D59B-DE6106D8B86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EB55494F-FE19-C543-176B-DF1236C5FFA3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8600" y="2235503"/>
            <a:ext cx="17754599" cy="7632397"/>
            <a:chOff x="0" y="0"/>
            <a:chExt cx="2450836" cy="256571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06B4F49-3392-8A08-99C9-3505C4D34CF5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50836" cy="2565716"/>
            </a:xfrm>
            <a:custGeom>
              <a:avLst/>
              <a:gdLst/>
              <a:ahLst/>
              <a:cxnLst/>
              <a:rect l="l" t="t" r="r" b="b"/>
              <a:pathLst>
                <a:path w="2450836" h="2565716">
                  <a:moveTo>
                    <a:pt x="29660" y="0"/>
                  </a:moveTo>
                  <a:lnTo>
                    <a:pt x="2421176" y="0"/>
                  </a:lnTo>
                  <a:cubicBezTo>
                    <a:pt x="2437556" y="0"/>
                    <a:pt x="2450836" y="13279"/>
                    <a:pt x="2450836" y="29660"/>
                  </a:cubicBezTo>
                  <a:lnTo>
                    <a:pt x="2450836" y="2536056"/>
                  </a:lnTo>
                  <a:cubicBezTo>
                    <a:pt x="2450836" y="2552437"/>
                    <a:pt x="2437556" y="2565716"/>
                    <a:pt x="2421176" y="2565716"/>
                  </a:cubicBezTo>
                  <a:lnTo>
                    <a:pt x="29660" y="2565716"/>
                  </a:lnTo>
                  <a:cubicBezTo>
                    <a:pt x="21794" y="2565716"/>
                    <a:pt x="14249" y="2562591"/>
                    <a:pt x="8687" y="2557029"/>
                  </a:cubicBezTo>
                  <a:cubicBezTo>
                    <a:pt x="3125" y="2551467"/>
                    <a:pt x="0" y="2543923"/>
                    <a:pt x="0" y="2536056"/>
                  </a:cubicBezTo>
                  <a:lnTo>
                    <a:pt x="0" y="29660"/>
                  </a:lnTo>
                  <a:cubicBezTo>
                    <a:pt x="0" y="21794"/>
                    <a:pt x="3125" y="14249"/>
                    <a:pt x="8687" y="8687"/>
                  </a:cubicBezTo>
                  <a:cubicBezTo>
                    <a:pt x="14249" y="3125"/>
                    <a:pt x="21794" y="0"/>
                    <a:pt x="29660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FC788E15-8362-5EC0-BE20-D1674AA421D7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5250"/>
              <a:ext cx="2450836" cy="2660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0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D82F384C-0041-D1BD-D365-14295A1DA4E9}"/>
              </a:ext>
            </a:extLst>
          </p:cNvPr>
          <p:cNvSpPr txBox="1"/>
          <p:nvPr/>
        </p:nvSpPr>
        <p:spPr>
          <a:xfrm>
            <a:off x="1028700" y="594028"/>
            <a:ext cx="8299583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836"/>
              </a:lnSpc>
              <a:spcBef>
                <a:spcPct val="0"/>
              </a:spcBef>
            </a:pPr>
            <a:endParaRPr lang="en-US" sz="11461">
              <a:solidFill>
                <a:srgbClr val="36656B"/>
              </a:solidFill>
              <a:latin typeface="League Gothic"/>
              <a:ea typeface="League Gothic"/>
              <a:cs typeface="League Gothic"/>
              <a:sym typeface="League Gothic"/>
            </a:endParaRPr>
          </a:p>
          <a:p>
            <a:pPr marL="0" lvl="0" indent="0" algn="l">
              <a:lnSpc>
                <a:spcPts val="12836"/>
              </a:lnSpc>
              <a:spcBef>
                <a:spcPct val="0"/>
              </a:spcBef>
            </a:pPr>
            <a:endParaRPr lang="en-US" sz="11461" u="none" strike="noStrike">
              <a:solidFill>
                <a:srgbClr val="36656B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43651907-B6C3-DADC-AB5E-20464D243A93}"/>
              </a:ext>
            </a:extLst>
          </p:cNvPr>
          <p:cNvSpPr txBox="1"/>
          <p:nvPr/>
        </p:nvSpPr>
        <p:spPr>
          <a:xfrm>
            <a:off x="12359255" y="6362020"/>
            <a:ext cx="3619901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r>
              <a:rPr lang="en-US" sz="321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F375CD38-92AA-C9B6-D805-EDA2AD5CE24E}"/>
              </a:ext>
            </a:extLst>
          </p:cNvPr>
          <p:cNvSpPr txBox="1"/>
          <p:nvPr/>
        </p:nvSpPr>
        <p:spPr>
          <a:xfrm>
            <a:off x="12359255" y="3987590"/>
            <a:ext cx="3619901" cy="96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CF5C1E2B-6C51-8EB6-1E60-C5DF2941C4A9}"/>
              </a:ext>
            </a:extLst>
          </p:cNvPr>
          <p:cNvSpPr txBox="1"/>
          <p:nvPr/>
        </p:nvSpPr>
        <p:spPr>
          <a:xfrm>
            <a:off x="12359255" y="7791191"/>
            <a:ext cx="36199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3230F32-E147-E033-2363-49C7FAB6A7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103" y="4953703"/>
            <a:ext cx="16861591" cy="4297511"/>
          </a:xfrm>
          <a:prstGeom prst="rect">
            <a:avLst/>
          </a:prstGeom>
        </p:spPr>
      </p:pic>
      <p:grpSp>
        <p:nvGrpSpPr>
          <p:cNvPr id="15" name="Group 10">
            <a:extLst>
              <a:ext uri="{FF2B5EF4-FFF2-40B4-BE49-F238E27FC236}">
                <a16:creationId xmlns:a16="http://schemas.microsoft.com/office/drawing/2014/main" id="{3B8FD61C-EF4F-9963-F97E-DA354601F229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00963" y="418846"/>
            <a:ext cx="13117261" cy="775707"/>
            <a:chOff x="0" y="-38100"/>
            <a:chExt cx="10952656" cy="647700"/>
          </a:xfrm>
        </p:grpSpPr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5E1C867C-FE9E-0800-61F8-10CFD6FD8A0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TextBox 12">
              <a:extLst>
                <a:ext uri="{FF2B5EF4-FFF2-40B4-BE49-F238E27FC236}">
                  <a16:creationId xmlns:a16="http://schemas.microsoft.com/office/drawing/2014/main" id="{C8692978-A9EA-A55D-410A-C401941DF1E9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19">
            <a:extLst>
              <a:ext uri="{FF2B5EF4-FFF2-40B4-BE49-F238E27FC236}">
                <a16:creationId xmlns:a16="http://schemas.microsoft.com/office/drawing/2014/main" id="{7719A799-DA49-9F35-CCB0-E381328BF12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02636" y="197813"/>
            <a:ext cx="718334" cy="1007856"/>
            <a:chOff x="0" y="-57150"/>
            <a:chExt cx="189191" cy="265444"/>
          </a:xfrm>
        </p:grpSpPr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88EBC20A-7FCF-D6A9-25B9-EC77D7D1BDA0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21">
              <a:extLst>
                <a:ext uri="{FF2B5EF4-FFF2-40B4-BE49-F238E27FC236}">
                  <a16:creationId xmlns:a16="http://schemas.microsoft.com/office/drawing/2014/main" id="{EAB70F11-563A-2E9A-5C2F-217541CE5E54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57150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31" name="Group 13">
            <a:extLst>
              <a:ext uri="{FF2B5EF4-FFF2-40B4-BE49-F238E27FC236}">
                <a16:creationId xmlns:a16="http://schemas.microsoft.com/office/drawing/2014/main" id="{1B929790-0E4A-5AEC-742D-DCB4858F5304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17272" y="418845"/>
            <a:ext cx="1041917" cy="775707"/>
            <a:chOff x="0" y="-38100"/>
            <a:chExt cx="869980" cy="647700"/>
          </a:xfrm>
        </p:grpSpPr>
        <p:sp>
          <p:nvSpPr>
            <p:cNvPr id="32" name="Freeform 14">
              <a:extLst>
                <a:ext uri="{FF2B5EF4-FFF2-40B4-BE49-F238E27FC236}">
                  <a16:creationId xmlns:a16="http://schemas.microsoft.com/office/drawing/2014/main" id="{4136CDEC-BAEA-88E3-649D-E625AA3A8CD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TextBox 15">
              <a:extLst>
                <a:ext uri="{FF2B5EF4-FFF2-40B4-BE49-F238E27FC236}">
                  <a16:creationId xmlns:a16="http://schemas.microsoft.com/office/drawing/2014/main" id="{690F4099-639F-5DAB-F5D0-6FEF1769BB6A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1D8B708-C448-785C-FD29-23E92BEA530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96694" y="458756"/>
            <a:ext cx="829958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>
                <a:solidFill>
                  <a:schemeClr val="bg1"/>
                </a:solidFill>
                <a:latin typeface="League Gothic" panose="020B0604020202020204" charset="0"/>
              </a:rPr>
              <a:t>STATIONARITY CHECK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40FE6EE-338B-3D6B-AA03-C6A12FEBEE8E}"/>
              </a:ext>
            </a:extLst>
          </p:cNvPr>
          <p:cNvSpPr txBox="1"/>
          <p:nvPr/>
        </p:nvSpPr>
        <p:spPr>
          <a:xfrm>
            <a:off x="1036981" y="1406505"/>
            <a:ext cx="144872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The ADF test p-value is greater than or </a:t>
            </a:r>
            <a:r>
              <a:rPr lang="en-US" sz="2800" err="1">
                <a:solidFill>
                  <a:srgbClr val="000000"/>
                </a:solidFill>
                <a:ea typeface="+mn-lt"/>
                <a:cs typeface="+mn-lt"/>
              </a:rPr>
              <a:t>aprrox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0.05 indicating the data is Non-stationary.  </a:t>
            </a:r>
          </a:p>
        </p:txBody>
      </p:sp>
      <p:sp>
        <p:nvSpPr>
          <p:cNvPr id="3" name="Freeform 49">
            <a:extLst>
              <a:ext uri="{FF2B5EF4-FFF2-40B4-BE49-F238E27FC236}">
                <a16:creationId xmlns:a16="http://schemas.microsoft.com/office/drawing/2014/main" id="{0B3298DC-5EFE-80A1-2717-7FA08EE460F0}"/>
              </a:ext>
            </a:extLst>
          </p:cNvPr>
          <p:cNvSpPr/>
          <p:nvPr/>
        </p:nvSpPr>
        <p:spPr>
          <a:xfrm>
            <a:off x="15158238" y="458756"/>
            <a:ext cx="1833072" cy="730077"/>
          </a:xfrm>
          <a:custGeom>
            <a:avLst/>
            <a:gdLst/>
            <a:ahLst/>
            <a:cxnLst/>
            <a:rect l="l" t="t" r="r" b="b"/>
            <a:pathLst>
              <a:path w="1530580" h="609600">
                <a:moveTo>
                  <a:pt x="203200" y="0"/>
                </a:moveTo>
                <a:lnTo>
                  <a:pt x="1530580" y="0"/>
                </a:lnTo>
                <a:lnTo>
                  <a:pt x="1327380" y="609600"/>
                </a:lnTo>
                <a:lnTo>
                  <a:pt x="0" y="609600"/>
                </a:lnTo>
                <a:lnTo>
                  <a:pt x="203200" y="0"/>
                </a:lnTo>
                <a:close/>
              </a:path>
            </a:pathLst>
          </a:custGeom>
          <a:solidFill>
            <a:srgbClr val="75B06F"/>
          </a:solidFill>
        </p:spPr>
        <p:txBody>
          <a:bodyPr/>
          <a:lstStyle/>
          <a:p>
            <a:endParaRPr lang="en-I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F892112-8435-B5A9-4CB5-1FE00399BA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011" y="2895838"/>
            <a:ext cx="16549978" cy="1450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169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D3314-D43B-43B9-6BC7-39A0910CA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76F4839-F3B6-AB30-3D37-92B5FE37CAD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13C1F67F-706B-8C17-8806-61E36147B1A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228600" y="2235503"/>
            <a:ext cx="17754599" cy="7632397"/>
            <a:chOff x="0" y="0"/>
            <a:chExt cx="2450836" cy="256571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6FB97A8E-E254-112B-2752-3AFF2B339312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50836" cy="2565716"/>
            </a:xfrm>
            <a:custGeom>
              <a:avLst/>
              <a:gdLst/>
              <a:ahLst/>
              <a:cxnLst/>
              <a:rect l="l" t="t" r="r" b="b"/>
              <a:pathLst>
                <a:path w="2450836" h="2565716">
                  <a:moveTo>
                    <a:pt x="29660" y="0"/>
                  </a:moveTo>
                  <a:lnTo>
                    <a:pt x="2421176" y="0"/>
                  </a:lnTo>
                  <a:cubicBezTo>
                    <a:pt x="2437556" y="0"/>
                    <a:pt x="2450836" y="13279"/>
                    <a:pt x="2450836" y="29660"/>
                  </a:cubicBezTo>
                  <a:lnTo>
                    <a:pt x="2450836" y="2536056"/>
                  </a:lnTo>
                  <a:cubicBezTo>
                    <a:pt x="2450836" y="2552437"/>
                    <a:pt x="2437556" y="2565716"/>
                    <a:pt x="2421176" y="2565716"/>
                  </a:cubicBezTo>
                  <a:lnTo>
                    <a:pt x="29660" y="2565716"/>
                  </a:lnTo>
                  <a:cubicBezTo>
                    <a:pt x="21794" y="2565716"/>
                    <a:pt x="14249" y="2562591"/>
                    <a:pt x="8687" y="2557029"/>
                  </a:cubicBezTo>
                  <a:cubicBezTo>
                    <a:pt x="3125" y="2551467"/>
                    <a:pt x="0" y="2543923"/>
                    <a:pt x="0" y="2536056"/>
                  </a:cubicBezTo>
                  <a:lnTo>
                    <a:pt x="0" y="29660"/>
                  </a:lnTo>
                  <a:cubicBezTo>
                    <a:pt x="0" y="21794"/>
                    <a:pt x="3125" y="14249"/>
                    <a:pt x="8687" y="8687"/>
                  </a:cubicBezTo>
                  <a:cubicBezTo>
                    <a:pt x="14249" y="3125"/>
                    <a:pt x="21794" y="0"/>
                    <a:pt x="29660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814D2AF-DB7A-9494-931E-5B1A1CFB0F4B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95250"/>
              <a:ext cx="2450836" cy="26609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700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E1F73C9E-5C0F-3DBC-467A-31F4F8AA68F6}"/>
              </a:ext>
            </a:extLst>
          </p:cNvPr>
          <p:cNvSpPr txBox="1"/>
          <p:nvPr/>
        </p:nvSpPr>
        <p:spPr>
          <a:xfrm>
            <a:off x="1028700" y="594028"/>
            <a:ext cx="8299583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836"/>
              </a:lnSpc>
              <a:spcBef>
                <a:spcPct val="0"/>
              </a:spcBef>
            </a:pPr>
            <a:endParaRPr lang="en-US" sz="11461">
              <a:solidFill>
                <a:srgbClr val="36656B"/>
              </a:solidFill>
              <a:latin typeface="League Gothic"/>
              <a:ea typeface="League Gothic"/>
              <a:cs typeface="League Gothic"/>
              <a:sym typeface="League Gothic"/>
            </a:endParaRPr>
          </a:p>
          <a:p>
            <a:pPr marL="0" lvl="0" indent="0" algn="l">
              <a:lnSpc>
                <a:spcPts val="12836"/>
              </a:lnSpc>
              <a:spcBef>
                <a:spcPct val="0"/>
              </a:spcBef>
            </a:pPr>
            <a:endParaRPr lang="en-US" sz="11461" u="none" strike="noStrike">
              <a:solidFill>
                <a:srgbClr val="36656B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04C04C79-D888-594A-FB83-9B10C9C6F8B5}"/>
              </a:ext>
            </a:extLst>
          </p:cNvPr>
          <p:cNvSpPr txBox="1"/>
          <p:nvPr/>
        </p:nvSpPr>
        <p:spPr>
          <a:xfrm>
            <a:off x="12359255" y="6362020"/>
            <a:ext cx="3619901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r>
              <a:rPr lang="en-US" sz="321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5FBD9697-3167-9DAB-7976-281CBA187044}"/>
              </a:ext>
            </a:extLst>
          </p:cNvPr>
          <p:cNvSpPr txBox="1"/>
          <p:nvPr/>
        </p:nvSpPr>
        <p:spPr>
          <a:xfrm>
            <a:off x="12359255" y="3987590"/>
            <a:ext cx="3619901" cy="96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1789F241-C503-187C-BB49-80B748F5806C}"/>
              </a:ext>
            </a:extLst>
          </p:cNvPr>
          <p:cNvSpPr txBox="1"/>
          <p:nvPr/>
        </p:nvSpPr>
        <p:spPr>
          <a:xfrm>
            <a:off x="12359255" y="7791191"/>
            <a:ext cx="36199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EB2197-6A5B-E94C-85AE-79F9C8ED0F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059" y="4787900"/>
            <a:ext cx="16595882" cy="4146391"/>
          </a:xfrm>
          <a:prstGeom prst="rect">
            <a:avLst/>
          </a:prstGeom>
        </p:spPr>
      </p:pic>
      <p:grpSp>
        <p:nvGrpSpPr>
          <p:cNvPr id="13" name="Group 10">
            <a:extLst>
              <a:ext uri="{FF2B5EF4-FFF2-40B4-BE49-F238E27FC236}">
                <a16:creationId xmlns:a16="http://schemas.microsoft.com/office/drawing/2014/main" id="{EB890C40-3FB9-3644-FBC6-D6382F259CCB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00963" y="418846"/>
            <a:ext cx="13117261" cy="775707"/>
            <a:chOff x="0" y="-38100"/>
            <a:chExt cx="10952656" cy="647700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2265AFAC-55E9-3C22-C15B-556B230E220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BD28C11A-9ACB-01B1-24B4-A084C518670E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0FFFD13D-1BE4-4393-7897-74A28558615D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02636" y="197813"/>
            <a:ext cx="718334" cy="1007856"/>
            <a:chOff x="0" y="-57150"/>
            <a:chExt cx="189191" cy="265444"/>
          </a:xfrm>
        </p:grpSpPr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E8F7C033-2D61-8C4C-D29B-DEC23F3EF2E3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21">
              <a:extLst>
                <a:ext uri="{FF2B5EF4-FFF2-40B4-BE49-F238E27FC236}">
                  <a16:creationId xmlns:a16="http://schemas.microsoft.com/office/drawing/2014/main" id="{EFFD14B4-82FE-0332-4CB9-946A9E7DFECC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57150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19" name="Group 13">
            <a:extLst>
              <a:ext uri="{FF2B5EF4-FFF2-40B4-BE49-F238E27FC236}">
                <a16:creationId xmlns:a16="http://schemas.microsoft.com/office/drawing/2014/main" id="{79E3F0C2-CD54-398F-AEFF-27C895A8704F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17272" y="418845"/>
            <a:ext cx="1041917" cy="775707"/>
            <a:chOff x="0" y="-38100"/>
            <a:chExt cx="869980" cy="647700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F3A91A8F-5CB2-CC20-06CC-3E21F03DC798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15">
              <a:extLst>
                <a:ext uri="{FF2B5EF4-FFF2-40B4-BE49-F238E27FC236}">
                  <a16:creationId xmlns:a16="http://schemas.microsoft.com/office/drawing/2014/main" id="{F1D4A511-2EF6-AC9B-ED57-999D53430CB5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F2CEA9BF-68D7-91F5-4FC5-1E5A85D54FE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1697" y="492965"/>
            <a:ext cx="9144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>
                <a:solidFill>
                  <a:schemeClr val="bg1"/>
                </a:solidFill>
                <a:latin typeface="League Gothic" panose="020B0604020202020204" charset="0"/>
              </a:rPr>
              <a:t>STATIONARITY CHECK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443A266-CAEA-8B7F-A81E-C0D4C2CB3BC7}"/>
              </a:ext>
            </a:extLst>
          </p:cNvPr>
          <p:cNvSpPr txBox="1"/>
          <p:nvPr/>
        </p:nvSpPr>
        <p:spPr>
          <a:xfrm>
            <a:off x="1126305" y="1379831"/>
            <a:ext cx="14863374" cy="5232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The ADF test after DIFFERENCING p-value are less than indicating the data is now Stationary.</a:t>
            </a:r>
          </a:p>
        </p:txBody>
      </p:sp>
      <p:sp>
        <p:nvSpPr>
          <p:cNvPr id="3" name="Freeform 49">
            <a:extLst>
              <a:ext uri="{FF2B5EF4-FFF2-40B4-BE49-F238E27FC236}">
                <a16:creationId xmlns:a16="http://schemas.microsoft.com/office/drawing/2014/main" id="{CCC04FF3-9DA4-B3E2-72E1-A9B203C779ED}"/>
              </a:ext>
            </a:extLst>
          </p:cNvPr>
          <p:cNvSpPr/>
          <p:nvPr/>
        </p:nvSpPr>
        <p:spPr>
          <a:xfrm>
            <a:off x="15198088" y="453956"/>
            <a:ext cx="1833072" cy="730077"/>
          </a:xfrm>
          <a:custGeom>
            <a:avLst/>
            <a:gdLst/>
            <a:ahLst/>
            <a:cxnLst/>
            <a:rect l="l" t="t" r="r" b="b"/>
            <a:pathLst>
              <a:path w="1530580" h="609600">
                <a:moveTo>
                  <a:pt x="203200" y="0"/>
                </a:moveTo>
                <a:lnTo>
                  <a:pt x="1530580" y="0"/>
                </a:lnTo>
                <a:lnTo>
                  <a:pt x="1327380" y="609600"/>
                </a:lnTo>
                <a:lnTo>
                  <a:pt x="0" y="609600"/>
                </a:lnTo>
                <a:lnTo>
                  <a:pt x="203200" y="0"/>
                </a:lnTo>
                <a:close/>
              </a:path>
            </a:pathLst>
          </a:custGeom>
          <a:solidFill>
            <a:srgbClr val="75B06F"/>
          </a:solidFill>
        </p:spPr>
        <p:txBody>
          <a:bodyPr/>
          <a:lstStyle/>
          <a:p>
            <a:endParaRPr lang="en-IN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1D4B05-43A1-FCCD-71DD-2EABFE5941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2874867"/>
            <a:ext cx="16128524" cy="1456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165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DD6B8-FA22-8DF5-5189-2541A4E82C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8724525-F8CF-CEBF-E152-5A38661E93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B87ED56-6B8B-5E15-B41E-0356FDD8E6C7}"/>
              </a:ext>
            </a:extLst>
          </p:cNvPr>
          <p:cNvSpPr txBox="1"/>
          <p:nvPr/>
        </p:nvSpPr>
        <p:spPr>
          <a:xfrm>
            <a:off x="1028700" y="594028"/>
            <a:ext cx="8299583" cy="3282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2836"/>
              </a:lnSpc>
              <a:spcBef>
                <a:spcPct val="0"/>
              </a:spcBef>
            </a:pPr>
            <a:endParaRPr lang="en-US" sz="11461">
              <a:solidFill>
                <a:srgbClr val="36656B"/>
              </a:solidFill>
              <a:latin typeface="League Gothic"/>
              <a:ea typeface="League Gothic"/>
              <a:cs typeface="League Gothic"/>
              <a:sym typeface="League Gothic"/>
            </a:endParaRPr>
          </a:p>
          <a:p>
            <a:pPr marL="0" lvl="0" indent="0" algn="l">
              <a:lnSpc>
                <a:spcPts val="12836"/>
              </a:lnSpc>
              <a:spcBef>
                <a:spcPct val="0"/>
              </a:spcBef>
            </a:pPr>
            <a:endParaRPr lang="en-US" sz="11461" u="none" strike="noStrike">
              <a:solidFill>
                <a:srgbClr val="36656B"/>
              </a:solidFill>
              <a:latin typeface="League Gothic"/>
              <a:ea typeface="League Gothic"/>
              <a:cs typeface="League Gothic"/>
              <a:sym typeface="League Gothic"/>
            </a:endParaRPr>
          </a:p>
        </p:txBody>
      </p:sp>
      <p:sp>
        <p:nvSpPr>
          <p:cNvPr id="27" name="TextBox 27">
            <a:extLst>
              <a:ext uri="{FF2B5EF4-FFF2-40B4-BE49-F238E27FC236}">
                <a16:creationId xmlns:a16="http://schemas.microsoft.com/office/drawing/2014/main" id="{B613553A-9C5B-C78D-CF2F-158D2B24BC93}"/>
              </a:ext>
            </a:extLst>
          </p:cNvPr>
          <p:cNvSpPr txBox="1"/>
          <p:nvPr/>
        </p:nvSpPr>
        <p:spPr>
          <a:xfrm>
            <a:off x="12359255" y="6362020"/>
            <a:ext cx="3619901" cy="9746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r>
              <a:rPr lang="en-US" sz="3218" b="1" u="none" strike="noStrik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8" name="TextBox 28">
            <a:extLst>
              <a:ext uri="{FF2B5EF4-FFF2-40B4-BE49-F238E27FC236}">
                <a16:creationId xmlns:a16="http://schemas.microsoft.com/office/drawing/2014/main" id="{6C49500E-83A2-8C72-B0A3-7C5203E5D96E}"/>
              </a:ext>
            </a:extLst>
          </p:cNvPr>
          <p:cNvSpPr txBox="1"/>
          <p:nvPr/>
        </p:nvSpPr>
        <p:spPr>
          <a:xfrm>
            <a:off x="12359255" y="3987590"/>
            <a:ext cx="3619901" cy="966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9" name="TextBox 29">
            <a:extLst>
              <a:ext uri="{FF2B5EF4-FFF2-40B4-BE49-F238E27FC236}">
                <a16:creationId xmlns:a16="http://schemas.microsoft.com/office/drawing/2014/main" id="{481AB1AF-93F0-B252-A2FB-30601C35D129}"/>
              </a:ext>
            </a:extLst>
          </p:cNvPr>
          <p:cNvSpPr txBox="1"/>
          <p:nvPr/>
        </p:nvSpPr>
        <p:spPr>
          <a:xfrm>
            <a:off x="12359255" y="7791191"/>
            <a:ext cx="3619901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30"/>
              </a:lnSpc>
              <a:spcBef>
                <a:spcPct val="0"/>
              </a:spcBef>
            </a:pPr>
            <a:endParaRPr lang="en-US" sz="3218" b="1" u="none" strike="noStrike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pSp>
        <p:nvGrpSpPr>
          <p:cNvPr id="13" name="Group 10">
            <a:extLst>
              <a:ext uri="{FF2B5EF4-FFF2-40B4-BE49-F238E27FC236}">
                <a16:creationId xmlns:a16="http://schemas.microsoft.com/office/drawing/2014/main" id="{9C928D5F-93B6-DB21-188F-218305F97571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200963" y="418846"/>
            <a:ext cx="13117261" cy="775707"/>
            <a:chOff x="0" y="-38100"/>
            <a:chExt cx="10952656" cy="647700"/>
          </a:xfrm>
        </p:grpSpPr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54CB276B-6A65-C8C6-4A13-C93B40BD0FB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2">
              <a:extLst>
                <a:ext uri="{FF2B5EF4-FFF2-40B4-BE49-F238E27FC236}">
                  <a16:creationId xmlns:a16="http://schemas.microsoft.com/office/drawing/2014/main" id="{BCBF338E-8CC7-99B8-6C9E-F1106A153892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9">
            <a:extLst>
              <a:ext uri="{FF2B5EF4-FFF2-40B4-BE49-F238E27FC236}">
                <a16:creationId xmlns:a16="http://schemas.microsoft.com/office/drawing/2014/main" id="{240F2C41-7177-D609-ABE3-232BD3823B8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902636" y="197813"/>
            <a:ext cx="718334" cy="1007856"/>
            <a:chOff x="0" y="-57150"/>
            <a:chExt cx="189191" cy="265444"/>
          </a:xfrm>
        </p:grpSpPr>
        <p:sp>
          <p:nvSpPr>
            <p:cNvPr id="17" name="Freeform 20">
              <a:extLst>
                <a:ext uri="{FF2B5EF4-FFF2-40B4-BE49-F238E27FC236}">
                  <a16:creationId xmlns:a16="http://schemas.microsoft.com/office/drawing/2014/main" id="{EB43185A-6C78-98FF-0DCC-F951A0A1E241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TextBox 21">
              <a:extLst>
                <a:ext uri="{FF2B5EF4-FFF2-40B4-BE49-F238E27FC236}">
                  <a16:creationId xmlns:a16="http://schemas.microsoft.com/office/drawing/2014/main" id="{A142959D-BFB3-6E4A-0962-35DF1CC2725F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-57150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grpSp>
        <p:nvGrpSpPr>
          <p:cNvPr id="19" name="Group 13">
            <a:extLst>
              <a:ext uri="{FF2B5EF4-FFF2-40B4-BE49-F238E27FC236}">
                <a16:creationId xmlns:a16="http://schemas.microsoft.com/office/drawing/2014/main" id="{C86AFA4E-5F79-90CB-C290-CA3457420D4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14217272" y="418845"/>
            <a:ext cx="1041917" cy="775707"/>
            <a:chOff x="0" y="-38100"/>
            <a:chExt cx="869980" cy="647700"/>
          </a:xfrm>
        </p:grpSpPr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2462F654-17E6-7505-A812-F6B56865CE5B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TextBox 15">
              <a:extLst>
                <a:ext uri="{FF2B5EF4-FFF2-40B4-BE49-F238E27FC236}">
                  <a16:creationId xmlns:a16="http://schemas.microsoft.com/office/drawing/2014/main" id="{F2EC240E-634F-02C3-7E79-BC7BE1952BD1}"/>
                </a:ext>
              </a:extLst>
            </p:cNvPr>
            <p:cNvSpPr txBox="1"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4B0155D-DE25-B3DF-AFBE-2F619FB58221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641697" y="492965"/>
            <a:ext cx="9144000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IN" sz="4400">
                <a:solidFill>
                  <a:schemeClr val="bg1"/>
                </a:solidFill>
                <a:latin typeface="League Gothic"/>
              </a:rPr>
              <a:t> </a:t>
            </a:r>
            <a:endParaRPr lang="en-US">
              <a:solidFill>
                <a:schemeClr val="bg1"/>
              </a:solidFill>
              <a:latin typeface="League Gothic"/>
            </a:endParaRPr>
          </a:p>
        </p:txBody>
      </p:sp>
      <p:sp>
        <p:nvSpPr>
          <p:cNvPr id="3" name="Freeform 49">
            <a:extLst>
              <a:ext uri="{FF2B5EF4-FFF2-40B4-BE49-F238E27FC236}">
                <a16:creationId xmlns:a16="http://schemas.microsoft.com/office/drawing/2014/main" id="{46F91996-C685-0DFF-0A04-2E33FA281B39}"/>
              </a:ext>
            </a:extLst>
          </p:cNvPr>
          <p:cNvSpPr/>
          <p:nvPr/>
        </p:nvSpPr>
        <p:spPr>
          <a:xfrm>
            <a:off x="15198088" y="453956"/>
            <a:ext cx="1833072" cy="730077"/>
          </a:xfrm>
          <a:custGeom>
            <a:avLst/>
            <a:gdLst/>
            <a:ahLst/>
            <a:cxnLst/>
            <a:rect l="l" t="t" r="r" b="b"/>
            <a:pathLst>
              <a:path w="1530580" h="609600">
                <a:moveTo>
                  <a:pt x="203200" y="0"/>
                </a:moveTo>
                <a:lnTo>
                  <a:pt x="1530580" y="0"/>
                </a:lnTo>
                <a:lnTo>
                  <a:pt x="1327380" y="609600"/>
                </a:lnTo>
                <a:lnTo>
                  <a:pt x="0" y="609600"/>
                </a:lnTo>
                <a:lnTo>
                  <a:pt x="203200" y="0"/>
                </a:lnTo>
                <a:close/>
              </a:path>
            </a:pathLst>
          </a:custGeom>
          <a:solidFill>
            <a:srgbClr val="75B06F"/>
          </a:solidFill>
        </p:spPr>
        <p:txBody>
          <a:bodyPr/>
          <a:lstStyle/>
          <a:p>
            <a:endParaRPr lang="en-IN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5B7EDC5-9255-77F6-FC52-CC955D30DF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9092373"/>
              </p:ext>
            </p:extLst>
          </p:nvPr>
        </p:nvGraphicFramePr>
        <p:xfrm>
          <a:off x="1330890" y="1363510"/>
          <a:ext cx="7307487" cy="86868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1614198817"/>
                    </a:ext>
                  </a:extLst>
                </a:gridCol>
                <a:gridCol w="1755790">
                  <a:extLst>
                    <a:ext uri="{9D8B030D-6E8A-4147-A177-3AD203B41FA5}">
                      <a16:colId xmlns:a16="http://schemas.microsoft.com/office/drawing/2014/main" val="2052347628"/>
                    </a:ext>
                  </a:extLst>
                </a:gridCol>
                <a:gridCol w="1979822">
                  <a:extLst>
                    <a:ext uri="{9D8B030D-6E8A-4147-A177-3AD203B41FA5}">
                      <a16:colId xmlns:a16="http://schemas.microsoft.com/office/drawing/2014/main" val="4147735320"/>
                    </a:ext>
                  </a:extLst>
                </a:gridCol>
              </a:tblGrid>
              <a:tr h="329759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VARIABLE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LEVEL DECISION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DIFF DECISION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774071324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r>
                        <a:rPr lang="en-US"/>
                        <a:t>Food Credit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376629741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r>
                        <a:rPr lang="en-US"/>
                        <a:t>Agriculture &amp; Allied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475738768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r>
                        <a:rPr lang="en-US"/>
                        <a:t>Industry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170206546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r>
                        <a:rPr lang="en-US"/>
                        <a:t>Services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478587748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r>
                        <a:rPr lang="en-US"/>
                        <a:t>Personal Loans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91291879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Index of Industrial Production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742524635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Deposits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684462011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Non-Food Credit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295736031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Investment in Govt. Securities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685030175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Reserve Money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062677731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Broad Money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929186893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Cash Reserve Ratio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184093964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Statutory Liquidity Ratio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732452606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Cash-Deposit Ratio 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458079620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Credit-Deposit Ratio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318658265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Incremental Credit-Deposit Ratio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894025570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Investment Deposit Ratio 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819821223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Incremental Investment- Deposit Ratio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73879282"/>
                  </a:ext>
                </a:extLst>
              </a:tr>
              <a:tr h="32975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Policy Repo Rate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539947365"/>
                  </a:ext>
                </a:extLst>
              </a:tr>
              <a:tr h="3297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Primary Articles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195380862"/>
                  </a:ext>
                </a:extLst>
              </a:tr>
              <a:tr h="3297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Fuel and Power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716143696"/>
                  </a:ext>
                </a:extLst>
              </a:tr>
              <a:tr h="32975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Manufactured Products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452939884"/>
                  </a:ext>
                </a:extLst>
              </a:tr>
            </a:tbl>
          </a:graphicData>
        </a:graphic>
      </p:graphicFrame>
      <p:graphicFrame>
        <p:nvGraphicFramePr>
          <p:cNvPr id="22" name="Table 21">
            <a:extLst>
              <a:ext uri="{FF2B5EF4-FFF2-40B4-BE49-F238E27FC236}">
                <a16:creationId xmlns:a16="http://schemas.microsoft.com/office/drawing/2014/main" id="{31167EAA-1B0C-90EC-922A-35CA64201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6279313"/>
              </p:ext>
            </p:extLst>
          </p:nvPr>
        </p:nvGraphicFramePr>
        <p:xfrm>
          <a:off x="9144000" y="1363509"/>
          <a:ext cx="7587851" cy="822960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3529901">
                  <a:extLst>
                    <a:ext uri="{9D8B030D-6E8A-4147-A177-3AD203B41FA5}">
                      <a16:colId xmlns:a16="http://schemas.microsoft.com/office/drawing/2014/main" val="1614198817"/>
                    </a:ext>
                  </a:extLst>
                </a:gridCol>
                <a:gridCol w="2028975">
                  <a:extLst>
                    <a:ext uri="{9D8B030D-6E8A-4147-A177-3AD203B41FA5}">
                      <a16:colId xmlns:a16="http://schemas.microsoft.com/office/drawing/2014/main" val="2052347628"/>
                    </a:ext>
                  </a:extLst>
                </a:gridCol>
                <a:gridCol w="2028975">
                  <a:extLst>
                    <a:ext uri="{9D8B030D-6E8A-4147-A177-3AD203B41FA5}">
                      <a16:colId xmlns:a16="http://schemas.microsoft.com/office/drawing/2014/main" val="951497061"/>
                    </a:ext>
                  </a:extLst>
                </a:gridCol>
              </a:tblGrid>
              <a:tr h="305886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VARIABLE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LEVEL DECISION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/>
                        <a:t>DIFF DECISION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774071324"/>
                  </a:ext>
                </a:extLst>
              </a:tr>
              <a:tr h="30588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Reserve Repo Rate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376629741"/>
                  </a:ext>
                </a:extLst>
              </a:tr>
              <a:tr h="3058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Marginal Standing Facility (MSF) Rate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710843346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Bank Rate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121817903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Savings Deposit Rate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278504857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Call Money Rate(Weighted Average)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169500105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91- Day Treasury Bill (Primary) </a:t>
                      </a:r>
                      <a:r>
                        <a:rPr lang="en-US" sz="18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Yeild</a:t>
                      </a:r>
                      <a:endParaRPr lang="en-US" err="1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891385223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182- Day Treasury Bill (Primary) </a:t>
                      </a:r>
                      <a:r>
                        <a:rPr lang="en-US" sz="18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Yeild</a:t>
                      </a:r>
                      <a:endParaRPr lang="en-US" err="1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091383214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364- Day Treasury Bill (Primary) </a:t>
                      </a:r>
                      <a:r>
                        <a:rPr lang="en-US" sz="18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Yeild</a:t>
                      </a:r>
                      <a:endParaRPr lang="en-US" err="1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892648483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10-Year G-Sec Par </a:t>
                      </a:r>
                      <a:r>
                        <a:rPr lang="en-US" sz="1800" b="0" i="0" u="none" strike="noStrike" noProof="0" err="1">
                          <a:latin typeface="Calibri"/>
                          <a:ea typeface="Calibri"/>
                          <a:cs typeface="Calibri"/>
                        </a:rPr>
                        <a:t>Yeild</a:t>
                      </a: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 (FBIL)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478021979"/>
                  </a:ext>
                </a:extLst>
              </a:tr>
              <a:tr h="30588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Forward Premia of US 1-month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170206546"/>
                  </a:ext>
                </a:extLst>
              </a:tr>
              <a:tr h="30588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Forward Premia of US 3-month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478587748"/>
                  </a:ext>
                </a:extLst>
              </a:tr>
              <a:tr h="30588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Forward Premia of US 6-month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91291879"/>
                  </a:ext>
                </a:extLst>
              </a:tr>
              <a:tr h="30588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All India Consumer Price Index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73879282"/>
                  </a:ext>
                </a:extLst>
              </a:tr>
              <a:tr h="30588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Consumer Price Index for Industrial Work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539947365"/>
                  </a:ext>
                </a:extLst>
              </a:tr>
              <a:tr h="3058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Wholesale Price Index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341898618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Imports 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466470556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/>
                        <a:t>Exports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 sz="1800" b="0" i="0" u="none" strike="noStrike" noProof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3806611250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/>
                        <a:t>Log_Gross_Bank_Credit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626041143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/>
                        <a:t>Log_INR_USD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2948718212"/>
                  </a:ext>
                </a:extLst>
              </a:tr>
              <a:tr h="305884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0" i="0" u="none" strike="noStrike" noProof="0" err="1"/>
                        <a:t>Log_INR_EUR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8B0000"/>
                          </a:solidFill>
                          <a:latin typeface="Calibri"/>
                          <a:ea typeface="Calibri"/>
                          <a:cs typeface="Calibri"/>
                        </a:rPr>
                        <a:t>Non-Stationary</a:t>
                      </a:r>
                      <a:endParaRPr lang="en-US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1B5E20"/>
                          </a:solidFill>
                          <a:latin typeface="Calibri"/>
                          <a:ea typeface="Calibri"/>
                          <a:cs typeface="Calibri"/>
                        </a:rPr>
                        <a:t>Stationary</a:t>
                      </a:r>
                      <a:endParaRPr lang="en-US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841692333"/>
                  </a:ext>
                </a:extLst>
              </a:tr>
            </a:tbl>
          </a:graphicData>
        </a:graphic>
      </p:graphicFrame>
      <p:sp>
        <p:nvSpPr>
          <p:cNvPr id="36" name="TextBox 35">
            <a:extLst>
              <a:ext uri="{FF2B5EF4-FFF2-40B4-BE49-F238E27FC236}">
                <a16:creationId xmlns:a16="http://schemas.microsoft.com/office/drawing/2014/main" id="{09F950B8-922B-E83D-1F42-DB76803E1984}"/>
              </a:ext>
            </a:extLst>
          </p:cNvPr>
          <p:cNvSpPr txBox="1"/>
          <p:nvPr/>
        </p:nvSpPr>
        <p:spPr>
          <a:xfrm>
            <a:off x="1644041" y="477555"/>
            <a:ext cx="9144000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sz="4400" b="0" i="0" u="none" strike="noStrike" baseline="0">
                <a:solidFill>
                  <a:srgbClr val="FFFFFF"/>
                </a:solidFill>
                <a:latin typeface="League Gothic"/>
              </a:rPr>
              <a:t>STATIONARITY CHECK </a:t>
            </a:r>
            <a:r>
              <a:rPr sz="4400" b="0" i="0">
                <a:solidFill>
                  <a:srgbClr val="000000"/>
                </a:solidFill>
                <a:latin typeface="League Gothic"/>
                <a:ea typeface="League Gothic"/>
                <a:cs typeface="League Gothic"/>
              </a:rPr>
              <a:t>​</a:t>
            </a:r>
            <a:endParaRPr lang="en-US"/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924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638607C1-42AC-75DF-7FE8-60F523BF5255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 sz="1300" i="1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D0221B4-F750-EE2E-0F82-8B175FA505C6}"/>
              </a:ext>
            </a:extLst>
          </p:cNvPr>
          <p:cNvSpPr txBox="1"/>
          <p:nvPr/>
        </p:nvSpPr>
        <p:spPr>
          <a:xfrm>
            <a:off x="9555529" y="3752606"/>
            <a:ext cx="614045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latin typeface="Quattrocento"/>
                <a:ea typeface="Calibri"/>
                <a:cs typeface="Calibri"/>
              </a:rPr>
              <a:t>Parameters</a:t>
            </a:r>
            <a:endParaRPr lang="en-US" sz="3200" b="1">
              <a:latin typeface="Quattrocento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EAF632F-340F-7E1E-1FBC-2CC731BC8939}"/>
              </a:ext>
            </a:extLst>
          </p:cNvPr>
          <p:cNvSpPr txBox="1"/>
          <p:nvPr/>
        </p:nvSpPr>
        <p:spPr>
          <a:xfrm>
            <a:off x="-714375" y="3857625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1C40E228-5E8F-3592-64F3-DC6760E2901F}"/>
              </a:ext>
            </a:extLst>
          </p:cNvPr>
          <p:cNvGrpSpPr/>
          <p:nvPr/>
        </p:nvGrpSpPr>
        <p:grpSpPr>
          <a:xfrm>
            <a:off x="658630" y="287829"/>
            <a:ext cx="16566608" cy="1309485"/>
            <a:chOff x="166505" y="383079"/>
            <a:chExt cx="16566608" cy="1309485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9516ADD-C1A3-54FB-5805-805BB47AABEB}"/>
                </a:ext>
              </a:extLst>
            </p:cNvPr>
            <p:cNvGrpSpPr/>
            <p:nvPr/>
          </p:nvGrpSpPr>
          <p:grpSpPr>
            <a:xfrm>
              <a:off x="166505" y="383079"/>
              <a:ext cx="15507011" cy="1309485"/>
              <a:chOff x="166505" y="383079"/>
              <a:chExt cx="15507011" cy="1309485"/>
            </a:xfrm>
          </p:grpSpPr>
          <p:grpSp>
            <p:nvGrpSpPr>
              <p:cNvPr id="6" name="Group 42">
                <a:extLst>
                  <a:ext uri="{FF2B5EF4-FFF2-40B4-BE49-F238E27FC236}">
                    <a16:creationId xmlns:a16="http://schemas.microsoft.com/office/drawing/2014/main" id="{43F04E4C-47F9-BF26-A0DC-54E2425BE6E0}"/>
                  </a:ext>
                </a:extLst>
              </p:cNvPr>
              <p:cNvGrpSpPr/>
              <p:nvPr/>
            </p:nvGrpSpPr>
            <p:grpSpPr>
              <a:xfrm>
                <a:off x="774925" y="648339"/>
                <a:ext cx="12021886" cy="775707"/>
                <a:chOff x="0" y="-38100"/>
                <a:chExt cx="10952656" cy="647700"/>
              </a:xfrm>
            </p:grpSpPr>
            <p:sp>
              <p:nvSpPr>
                <p:cNvPr id="4" name="Freeform 43">
                  <a:extLst>
                    <a:ext uri="{FF2B5EF4-FFF2-40B4-BE49-F238E27FC236}">
                      <a16:creationId xmlns:a16="http://schemas.microsoft.com/office/drawing/2014/main" id="{613977A2-F99B-A102-7849-8FAC29AA391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52656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2656" h="609600">
                      <a:moveTo>
                        <a:pt x="203200" y="0"/>
                      </a:moveTo>
                      <a:lnTo>
                        <a:pt x="10952656" y="0"/>
                      </a:lnTo>
                      <a:lnTo>
                        <a:pt x="10749456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36656B"/>
                </a:solidFill>
              </p:spPr>
              <p:txBody>
                <a:bodyPr lIns="91440" tIns="45720" rIns="91440" bIns="45720" anchor="t"/>
                <a:lstStyle/>
                <a:p>
                  <a:endParaRPr lang="en-IN"/>
                </a:p>
              </p:txBody>
            </p:sp>
            <p:sp>
              <p:nvSpPr>
                <p:cNvPr id="5" name="TextBox 44">
                  <a:extLst>
                    <a:ext uri="{FF2B5EF4-FFF2-40B4-BE49-F238E27FC236}">
                      <a16:creationId xmlns:a16="http://schemas.microsoft.com/office/drawing/2014/main" id="{54278DC0-B864-AE9D-4026-40F4A524E092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0749456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11" name="Group 51">
                <a:extLst>
                  <a:ext uri="{FF2B5EF4-FFF2-40B4-BE49-F238E27FC236}">
                    <a16:creationId xmlns:a16="http://schemas.microsoft.com/office/drawing/2014/main" id="{708E1F94-7145-A715-2617-03DD80714ABF}"/>
                  </a:ext>
                </a:extLst>
              </p:cNvPr>
              <p:cNvGrpSpPr/>
              <p:nvPr/>
            </p:nvGrpSpPr>
            <p:grpSpPr>
              <a:xfrm>
                <a:off x="166505" y="383079"/>
                <a:ext cx="1199530" cy="1309485"/>
                <a:chOff x="-45132" y="-65513"/>
                <a:chExt cx="276994" cy="344885"/>
              </a:xfrm>
            </p:grpSpPr>
            <p:sp>
              <p:nvSpPr>
                <p:cNvPr id="9" name="Freeform 52">
                  <a:extLst>
                    <a:ext uri="{FF2B5EF4-FFF2-40B4-BE49-F238E27FC236}">
                      <a16:creationId xmlns:a16="http://schemas.microsoft.com/office/drawing/2014/main" id="{25BC85AA-7180-67D2-8873-CDB4297D9217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9191" cy="208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91" h="208294">
                      <a:moveTo>
                        <a:pt x="94595" y="0"/>
                      </a:moveTo>
                      <a:lnTo>
                        <a:pt x="94595" y="0"/>
                      </a:lnTo>
                      <a:cubicBezTo>
                        <a:pt x="146839" y="0"/>
                        <a:pt x="189191" y="42352"/>
                        <a:pt x="189191" y="94595"/>
                      </a:cubicBezTo>
                      <a:lnTo>
                        <a:pt x="189191" y="113698"/>
                      </a:lnTo>
                      <a:cubicBezTo>
                        <a:pt x="189191" y="138787"/>
                        <a:pt x="179225" y="162847"/>
                        <a:pt x="161484" y="180587"/>
                      </a:cubicBezTo>
                      <a:cubicBezTo>
                        <a:pt x="143744" y="198327"/>
                        <a:pt x="119684" y="208294"/>
                        <a:pt x="94595" y="208294"/>
                      </a:cubicBezTo>
                      <a:lnTo>
                        <a:pt x="94595" y="208294"/>
                      </a:lnTo>
                      <a:cubicBezTo>
                        <a:pt x="69507" y="208294"/>
                        <a:pt x="45446" y="198327"/>
                        <a:pt x="27706" y="180587"/>
                      </a:cubicBezTo>
                      <a:cubicBezTo>
                        <a:pt x="9966" y="162847"/>
                        <a:pt x="0" y="138787"/>
                        <a:pt x="0" y="113698"/>
                      </a:cubicBezTo>
                      <a:lnTo>
                        <a:pt x="0" y="94595"/>
                      </a:lnTo>
                      <a:cubicBezTo>
                        <a:pt x="0" y="69507"/>
                        <a:pt x="9966" y="45446"/>
                        <a:pt x="27706" y="27706"/>
                      </a:cubicBezTo>
                      <a:cubicBezTo>
                        <a:pt x="45446" y="9966"/>
                        <a:pt x="69507" y="0"/>
                        <a:pt x="94595" y="0"/>
                      </a:cubicBezTo>
                      <a:close/>
                    </a:path>
                  </a:pathLst>
                </a:custGeom>
                <a:solidFill>
                  <a:srgbClr val="75B06F"/>
                </a:solidFill>
                <a:ln cap="rnd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0" name="TextBox 53">
                  <a:extLst>
                    <a:ext uri="{FF2B5EF4-FFF2-40B4-BE49-F238E27FC236}">
                      <a16:creationId xmlns:a16="http://schemas.microsoft.com/office/drawing/2014/main" id="{245C43BE-7069-4DAC-4B2B-AD7B8C52EE1C}"/>
                    </a:ext>
                  </a:extLst>
                </p:cNvPr>
                <p:cNvSpPr txBox="1"/>
                <p:nvPr/>
              </p:nvSpPr>
              <p:spPr>
                <a:xfrm>
                  <a:off x="-45132" y="-65513"/>
                  <a:ext cx="276994" cy="34488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4200"/>
                    </a:lnSpc>
                    <a:spcBef>
                      <a:spcPct val="0"/>
                    </a:spcBef>
                  </a:pPr>
                  <a:r>
                    <a:rPr lang="en-US" sz="3000" b="1">
                      <a:solidFill>
                        <a:srgbClr val="F0F8A4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01</a:t>
                  </a:r>
                  <a:endParaRPr lang="en-US" sz="3000" b="1" u="none" strike="noStrike">
                    <a:solidFill>
                      <a:srgbClr val="F0F8A4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endParaRPr>
                </a:p>
              </p:txBody>
            </p:sp>
          </p:grpSp>
          <p:grpSp>
            <p:nvGrpSpPr>
              <p:cNvPr id="37" name="Group 48">
                <a:extLst>
                  <a:ext uri="{FF2B5EF4-FFF2-40B4-BE49-F238E27FC236}">
                    <a16:creationId xmlns:a16="http://schemas.microsoft.com/office/drawing/2014/main" id="{E00518E4-9BE3-719C-DFFA-9363C894C9F8}"/>
                  </a:ext>
                </a:extLst>
              </p:cNvPr>
              <p:cNvGrpSpPr/>
              <p:nvPr/>
            </p:nvGrpSpPr>
            <p:grpSpPr>
              <a:xfrm>
                <a:off x="13840444" y="645336"/>
                <a:ext cx="1833072" cy="775707"/>
                <a:chOff x="0" y="-38100"/>
                <a:chExt cx="1530580" cy="647700"/>
              </a:xfrm>
            </p:grpSpPr>
            <p:sp>
              <p:nvSpPr>
                <p:cNvPr id="35" name="Freeform 49">
                  <a:extLst>
                    <a:ext uri="{FF2B5EF4-FFF2-40B4-BE49-F238E27FC236}">
                      <a16:creationId xmlns:a16="http://schemas.microsoft.com/office/drawing/2014/main" id="{BA74918E-A1B6-EBBB-ED2C-3D787D6C4E0C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5305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580" h="609600">
                      <a:moveTo>
                        <a:pt x="203200" y="0"/>
                      </a:moveTo>
                      <a:lnTo>
                        <a:pt x="1530580" y="0"/>
                      </a:lnTo>
                      <a:lnTo>
                        <a:pt x="13273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75B06F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6" name="TextBox 50">
                  <a:extLst>
                    <a:ext uri="{FF2B5EF4-FFF2-40B4-BE49-F238E27FC236}">
                      <a16:creationId xmlns:a16="http://schemas.microsoft.com/office/drawing/2014/main" id="{12CD002F-35C8-5B63-3DFE-2D284E46D017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3273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41" name="Group 45">
                <a:extLst>
                  <a:ext uri="{FF2B5EF4-FFF2-40B4-BE49-F238E27FC236}">
                    <a16:creationId xmlns:a16="http://schemas.microsoft.com/office/drawing/2014/main" id="{28067476-12AE-3F10-F3D4-464C5AF7D2DE}"/>
                  </a:ext>
                </a:extLst>
              </p:cNvPr>
              <p:cNvGrpSpPr/>
              <p:nvPr/>
            </p:nvGrpSpPr>
            <p:grpSpPr>
              <a:xfrm>
                <a:off x="12798527" y="645336"/>
                <a:ext cx="1041917" cy="775707"/>
                <a:chOff x="0" y="-38100"/>
                <a:chExt cx="869980" cy="647700"/>
              </a:xfrm>
            </p:grpSpPr>
            <p:sp>
              <p:nvSpPr>
                <p:cNvPr id="39" name="Freeform 46">
                  <a:extLst>
                    <a:ext uri="{FF2B5EF4-FFF2-40B4-BE49-F238E27FC236}">
                      <a16:creationId xmlns:a16="http://schemas.microsoft.com/office/drawing/2014/main" id="{13289D34-82B7-5985-4C89-81AA745C88F0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699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80" h="609600">
                      <a:moveTo>
                        <a:pt x="203200" y="0"/>
                      </a:moveTo>
                      <a:lnTo>
                        <a:pt x="869980" y="0"/>
                      </a:lnTo>
                      <a:lnTo>
                        <a:pt x="6667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DAD887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0" name="TextBox 47">
                  <a:extLst>
                    <a:ext uri="{FF2B5EF4-FFF2-40B4-BE49-F238E27FC236}">
                      <a16:creationId xmlns:a16="http://schemas.microsoft.com/office/drawing/2014/main" id="{D733D2EA-A1EE-80C5-B7D8-FE13B7FF2653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6667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238F77EB-2C82-F059-2B31-31767DB89960}"/>
                  </a:ext>
                </a:extLst>
              </p:cNvPr>
              <p:cNvSpPr txBox="1"/>
              <p:nvPr/>
            </p:nvSpPr>
            <p:spPr>
              <a:xfrm>
                <a:off x="1238250" y="698499"/>
                <a:ext cx="11080750" cy="76944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400">
                    <a:solidFill>
                      <a:schemeClr val="bg1"/>
                    </a:solidFill>
                    <a:latin typeface="League Gothic"/>
                    <a:ea typeface="+mn-lt"/>
                    <a:cs typeface="+mn-lt"/>
                  </a:rPr>
                  <a:t>HOLT’S METHOD</a:t>
                </a:r>
                <a:endParaRPr lang="en-US" sz="4400">
                  <a:solidFill>
                    <a:schemeClr val="bg1"/>
                  </a:solidFill>
                  <a:latin typeface="League Gothic"/>
                </a:endParaRPr>
              </a:p>
            </p:txBody>
          </p:sp>
        </p:grpSp>
        <p:sp>
          <p:nvSpPr>
            <p:cNvPr id="3" name="Freeform 46">
              <a:extLst>
                <a:ext uri="{FF2B5EF4-FFF2-40B4-BE49-F238E27FC236}">
                  <a16:creationId xmlns:a16="http://schemas.microsoft.com/office/drawing/2014/main" id="{971D231B-B777-3202-551E-045A8767F4AA}"/>
                </a:ext>
              </a:extLst>
            </p:cNvPr>
            <p:cNvSpPr/>
            <p:nvPr/>
          </p:nvSpPr>
          <p:spPr>
            <a:xfrm>
              <a:off x="15691196" y="682174"/>
              <a:ext cx="1041917" cy="730077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033F64E6-10CB-B027-4669-75D677762A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28" t="5208" r="3038" b="5208"/>
          <a:stretch>
            <a:fillRect/>
          </a:stretch>
        </p:blipFill>
        <p:spPr>
          <a:xfrm>
            <a:off x="9134964" y="4498041"/>
            <a:ext cx="9122834" cy="400117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CEDC495-E9EF-8B21-A03B-85987D565F39}"/>
              </a:ext>
            </a:extLst>
          </p:cNvPr>
          <p:cNvSpPr txBox="1"/>
          <p:nvPr/>
        </p:nvSpPr>
        <p:spPr>
          <a:xfrm>
            <a:off x="1476375" y="1603375"/>
            <a:ext cx="15335250" cy="184665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3200">
                <a:latin typeface="Calibri"/>
                <a:ea typeface="Calibri"/>
                <a:cs typeface="Calibri"/>
              </a:rPr>
              <a:t>A time series forecasting technique used to model data with trend but no seasonality. It assigns more weight to recent observations and captures both level and trend via two smoothing equations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45869A-CE47-FB76-0E88-CE3A00776FC5}"/>
              </a:ext>
            </a:extLst>
          </p:cNvPr>
          <p:cNvSpPr txBox="1"/>
          <p:nvPr/>
        </p:nvSpPr>
        <p:spPr>
          <a:xfrm>
            <a:off x="2032000" y="3752606"/>
            <a:ext cx="598487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3200" b="1" kern="1200">
                <a:solidFill>
                  <a:srgbClr val="1F1E1E"/>
                </a:solidFill>
                <a:latin typeface="Quattrocento"/>
                <a:ea typeface="Sora Semi Bold"/>
                <a:cs typeface="Sora Semi Bold"/>
              </a:rPr>
              <a:t>Core Equations</a:t>
            </a:r>
          </a:p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9592E86-AFB2-8915-38DE-28CFEC33CB5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73" r="2500" b="5778"/>
          <a:stretch>
            <a:fillRect/>
          </a:stretch>
        </p:blipFill>
        <p:spPr>
          <a:xfrm>
            <a:off x="1925759" y="4491404"/>
            <a:ext cx="6183440" cy="4206328"/>
          </a:xfrm>
          <a:prstGeom prst="rect">
            <a:avLst/>
          </a:prstGeom>
        </p:spPr>
      </p:pic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430EFE7C-69B8-1D18-8F7C-F2BE57E24BA5}"/>
              </a:ext>
            </a:extLst>
          </p:cNvPr>
          <p:cNvSpPr/>
          <p:nvPr/>
        </p:nvSpPr>
        <p:spPr>
          <a:xfrm>
            <a:off x="1365250" y="3444875"/>
            <a:ext cx="15557500" cy="56515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336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913F69C0-F7ED-A06A-DBC9-7DAD2F0DD032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 sz="1300" i="1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BA1EB9-8DE2-5A50-8C39-B96FEF7E73B0}"/>
              </a:ext>
            </a:extLst>
          </p:cNvPr>
          <p:cNvSpPr txBox="1"/>
          <p:nvPr/>
        </p:nvSpPr>
        <p:spPr>
          <a:xfrm>
            <a:off x="1238250" y="698499"/>
            <a:ext cx="11080750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800" b="1">
                <a:solidFill>
                  <a:schemeClr val="bg1"/>
                </a:solidFill>
                <a:latin typeface="Quattrocento"/>
              </a:rPr>
              <a:t>Exponential Smoothing Method</a:t>
            </a:r>
            <a:endParaRPr lang="en-US">
              <a:solidFill>
                <a:schemeClr val="bg1"/>
              </a:solidFill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BA6FA6C-33B4-A822-EDEF-A93C7A82AE53}"/>
              </a:ext>
            </a:extLst>
          </p:cNvPr>
          <p:cNvGrpSpPr/>
          <p:nvPr/>
        </p:nvGrpSpPr>
        <p:grpSpPr>
          <a:xfrm>
            <a:off x="166505" y="383079"/>
            <a:ext cx="16566608" cy="1309485"/>
            <a:chOff x="166505" y="383079"/>
            <a:chExt cx="16566608" cy="1309485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2A370FF-D1EF-D6CC-0ABA-CDC12D7C8DB9}"/>
                </a:ext>
              </a:extLst>
            </p:cNvPr>
            <p:cNvGrpSpPr/>
            <p:nvPr/>
          </p:nvGrpSpPr>
          <p:grpSpPr>
            <a:xfrm>
              <a:off x="166505" y="383079"/>
              <a:ext cx="15507011" cy="1309485"/>
              <a:chOff x="166505" y="383079"/>
              <a:chExt cx="15507011" cy="1309485"/>
            </a:xfrm>
          </p:grpSpPr>
          <p:grpSp>
            <p:nvGrpSpPr>
              <p:cNvPr id="6" name="Group 42">
                <a:extLst>
                  <a:ext uri="{FF2B5EF4-FFF2-40B4-BE49-F238E27FC236}">
                    <a16:creationId xmlns:a16="http://schemas.microsoft.com/office/drawing/2014/main" id="{465D8B2A-DE22-6FEF-6B8D-C9E444EA705A}"/>
                  </a:ext>
                </a:extLst>
              </p:cNvPr>
              <p:cNvGrpSpPr/>
              <p:nvPr/>
            </p:nvGrpSpPr>
            <p:grpSpPr>
              <a:xfrm>
                <a:off x="774925" y="648339"/>
                <a:ext cx="12021886" cy="775707"/>
                <a:chOff x="0" y="-38100"/>
                <a:chExt cx="10952656" cy="647700"/>
              </a:xfrm>
            </p:grpSpPr>
            <p:sp>
              <p:nvSpPr>
                <p:cNvPr id="17" name="Freeform 43">
                  <a:extLst>
                    <a:ext uri="{FF2B5EF4-FFF2-40B4-BE49-F238E27FC236}">
                      <a16:creationId xmlns:a16="http://schemas.microsoft.com/office/drawing/2014/main" id="{116E69C5-2CF1-C6C0-DB28-6E1C7F0EAA14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52656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2656" h="609600">
                      <a:moveTo>
                        <a:pt x="203200" y="0"/>
                      </a:moveTo>
                      <a:lnTo>
                        <a:pt x="10952656" y="0"/>
                      </a:lnTo>
                      <a:lnTo>
                        <a:pt x="10749456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36656B"/>
                </a:solidFill>
              </p:spPr>
              <p:txBody>
                <a:bodyPr lIns="91440" tIns="45720" rIns="91440" bIns="45720" anchor="t"/>
                <a:lstStyle/>
                <a:p>
                  <a:endParaRPr lang="en-IN"/>
                </a:p>
              </p:txBody>
            </p:sp>
            <p:sp>
              <p:nvSpPr>
                <p:cNvPr id="18" name="TextBox 44">
                  <a:extLst>
                    <a:ext uri="{FF2B5EF4-FFF2-40B4-BE49-F238E27FC236}">
                      <a16:creationId xmlns:a16="http://schemas.microsoft.com/office/drawing/2014/main" id="{F82D895F-7822-7D28-D9A1-D2D90CDABD9D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0749456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7" name="Group 51">
                <a:extLst>
                  <a:ext uri="{FF2B5EF4-FFF2-40B4-BE49-F238E27FC236}">
                    <a16:creationId xmlns:a16="http://schemas.microsoft.com/office/drawing/2014/main" id="{0962E633-5CAB-D637-C879-9116C8F18A34}"/>
                  </a:ext>
                </a:extLst>
              </p:cNvPr>
              <p:cNvGrpSpPr/>
              <p:nvPr/>
            </p:nvGrpSpPr>
            <p:grpSpPr>
              <a:xfrm>
                <a:off x="166505" y="383079"/>
                <a:ext cx="1199530" cy="1309485"/>
                <a:chOff x="-45132" y="-65513"/>
                <a:chExt cx="276994" cy="344885"/>
              </a:xfrm>
            </p:grpSpPr>
            <p:sp>
              <p:nvSpPr>
                <p:cNvPr id="15" name="Freeform 52">
                  <a:extLst>
                    <a:ext uri="{FF2B5EF4-FFF2-40B4-BE49-F238E27FC236}">
                      <a16:creationId xmlns:a16="http://schemas.microsoft.com/office/drawing/2014/main" id="{A0E91474-3528-89BD-2CDB-BC97ED7D4582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89191" cy="208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9191" h="208294">
                      <a:moveTo>
                        <a:pt x="94595" y="0"/>
                      </a:moveTo>
                      <a:lnTo>
                        <a:pt x="94595" y="0"/>
                      </a:lnTo>
                      <a:cubicBezTo>
                        <a:pt x="146839" y="0"/>
                        <a:pt x="189191" y="42352"/>
                        <a:pt x="189191" y="94595"/>
                      </a:cubicBezTo>
                      <a:lnTo>
                        <a:pt x="189191" y="113698"/>
                      </a:lnTo>
                      <a:cubicBezTo>
                        <a:pt x="189191" y="138787"/>
                        <a:pt x="179225" y="162847"/>
                        <a:pt x="161484" y="180587"/>
                      </a:cubicBezTo>
                      <a:cubicBezTo>
                        <a:pt x="143744" y="198327"/>
                        <a:pt x="119684" y="208294"/>
                        <a:pt x="94595" y="208294"/>
                      </a:cubicBezTo>
                      <a:lnTo>
                        <a:pt x="94595" y="208294"/>
                      </a:lnTo>
                      <a:cubicBezTo>
                        <a:pt x="69507" y="208294"/>
                        <a:pt x="45446" y="198327"/>
                        <a:pt x="27706" y="180587"/>
                      </a:cubicBezTo>
                      <a:cubicBezTo>
                        <a:pt x="9966" y="162847"/>
                        <a:pt x="0" y="138787"/>
                        <a:pt x="0" y="113698"/>
                      </a:cubicBezTo>
                      <a:lnTo>
                        <a:pt x="0" y="94595"/>
                      </a:lnTo>
                      <a:cubicBezTo>
                        <a:pt x="0" y="69507"/>
                        <a:pt x="9966" y="45446"/>
                        <a:pt x="27706" y="27706"/>
                      </a:cubicBezTo>
                      <a:cubicBezTo>
                        <a:pt x="45446" y="9966"/>
                        <a:pt x="69507" y="0"/>
                        <a:pt x="94595" y="0"/>
                      </a:cubicBezTo>
                      <a:close/>
                    </a:path>
                  </a:pathLst>
                </a:custGeom>
                <a:solidFill>
                  <a:srgbClr val="75B06F"/>
                </a:solidFill>
                <a:ln cap="rnd">
                  <a:noFill/>
                  <a:prstDash val="solid"/>
                  <a:round/>
                </a:ln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6" name="TextBox 53">
                  <a:extLst>
                    <a:ext uri="{FF2B5EF4-FFF2-40B4-BE49-F238E27FC236}">
                      <a16:creationId xmlns:a16="http://schemas.microsoft.com/office/drawing/2014/main" id="{C97A6A71-9DC5-3070-E004-C151F02DB203}"/>
                    </a:ext>
                  </a:extLst>
                </p:cNvPr>
                <p:cNvSpPr txBox="1"/>
                <p:nvPr/>
              </p:nvSpPr>
              <p:spPr>
                <a:xfrm>
                  <a:off x="-45132" y="-65513"/>
                  <a:ext cx="276994" cy="344885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marL="0" lvl="0" indent="0" algn="ctr">
                    <a:lnSpc>
                      <a:spcPts val="4200"/>
                    </a:lnSpc>
                    <a:spcBef>
                      <a:spcPct val="0"/>
                    </a:spcBef>
                  </a:pPr>
                  <a:r>
                    <a:rPr lang="en-US" sz="3000" b="1">
                      <a:solidFill>
                        <a:srgbClr val="F0F8A4"/>
                      </a:solidFill>
                      <a:latin typeface="Montserrat Bold"/>
                      <a:ea typeface="Montserrat Bold"/>
                      <a:cs typeface="Montserrat Bold"/>
                      <a:sym typeface="Montserrat Bold"/>
                    </a:rPr>
                    <a:t>01</a:t>
                  </a:r>
                  <a:endParaRPr lang="en-US" sz="3000" b="1" u="none" strike="noStrike">
                    <a:solidFill>
                      <a:srgbClr val="F0F8A4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endParaRPr>
                </a:p>
              </p:txBody>
            </p:sp>
          </p:grpSp>
          <p:grpSp>
            <p:nvGrpSpPr>
              <p:cNvPr id="8" name="Group 48">
                <a:extLst>
                  <a:ext uri="{FF2B5EF4-FFF2-40B4-BE49-F238E27FC236}">
                    <a16:creationId xmlns:a16="http://schemas.microsoft.com/office/drawing/2014/main" id="{56412C61-3D6E-C147-8C0A-041F68B19C59}"/>
                  </a:ext>
                </a:extLst>
              </p:cNvPr>
              <p:cNvGrpSpPr/>
              <p:nvPr/>
            </p:nvGrpSpPr>
            <p:grpSpPr>
              <a:xfrm>
                <a:off x="13840444" y="645336"/>
                <a:ext cx="1833072" cy="775707"/>
                <a:chOff x="0" y="-38100"/>
                <a:chExt cx="1530580" cy="647700"/>
              </a:xfrm>
            </p:grpSpPr>
            <p:sp>
              <p:nvSpPr>
                <p:cNvPr id="13" name="Freeform 49">
                  <a:extLst>
                    <a:ext uri="{FF2B5EF4-FFF2-40B4-BE49-F238E27FC236}">
                      <a16:creationId xmlns:a16="http://schemas.microsoft.com/office/drawing/2014/main" id="{0597CBC5-3332-0B04-E9F1-3400153633D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5305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580" h="609600">
                      <a:moveTo>
                        <a:pt x="203200" y="0"/>
                      </a:moveTo>
                      <a:lnTo>
                        <a:pt x="1530580" y="0"/>
                      </a:lnTo>
                      <a:lnTo>
                        <a:pt x="13273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75B06F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4" name="TextBox 50">
                  <a:extLst>
                    <a:ext uri="{FF2B5EF4-FFF2-40B4-BE49-F238E27FC236}">
                      <a16:creationId xmlns:a16="http://schemas.microsoft.com/office/drawing/2014/main" id="{62DE49BF-6390-9256-5B01-1D27EB32613A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3273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9" name="Group 45">
                <a:extLst>
                  <a:ext uri="{FF2B5EF4-FFF2-40B4-BE49-F238E27FC236}">
                    <a16:creationId xmlns:a16="http://schemas.microsoft.com/office/drawing/2014/main" id="{7BA658E2-2D47-D103-19E8-4E4D2C162E93}"/>
                  </a:ext>
                </a:extLst>
              </p:cNvPr>
              <p:cNvGrpSpPr/>
              <p:nvPr/>
            </p:nvGrpSpPr>
            <p:grpSpPr>
              <a:xfrm>
                <a:off x="12798527" y="645336"/>
                <a:ext cx="1041917" cy="775707"/>
                <a:chOff x="0" y="-38100"/>
                <a:chExt cx="869980" cy="647700"/>
              </a:xfrm>
            </p:grpSpPr>
            <p:sp>
              <p:nvSpPr>
                <p:cNvPr id="11" name="Freeform 46">
                  <a:extLst>
                    <a:ext uri="{FF2B5EF4-FFF2-40B4-BE49-F238E27FC236}">
                      <a16:creationId xmlns:a16="http://schemas.microsoft.com/office/drawing/2014/main" id="{0F4CF9F8-708C-E019-5CB3-14F2241FE5C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699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80" h="609600">
                      <a:moveTo>
                        <a:pt x="203200" y="0"/>
                      </a:moveTo>
                      <a:lnTo>
                        <a:pt x="869980" y="0"/>
                      </a:lnTo>
                      <a:lnTo>
                        <a:pt x="6667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DAD887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12" name="TextBox 47">
                  <a:extLst>
                    <a:ext uri="{FF2B5EF4-FFF2-40B4-BE49-F238E27FC236}">
                      <a16:creationId xmlns:a16="http://schemas.microsoft.com/office/drawing/2014/main" id="{D12C560F-9825-66FB-FB4F-677742EE9273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6667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7FC497F-C19B-C89D-EE92-F43BC57CFE13}"/>
                  </a:ext>
                </a:extLst>
              </p:cNvPr>
              <p:cNvSpPr txBox="1"/>
              <p:nvPr/>
            </p:nvSpPr>
            <p:spPr>
              <a:xfrm>
                <a:off x="1238250" y="698499"/>
                <a:ext cx="11080750" cy="769441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4400">
                    <a:solidFill>
                      <a:schemeClr val="bg1"/>
                    </a:solidFill>
                    <a:latin typeface="League Gothic"/>
                    <a:ea typeface="Calibri"/>
                    <a:cs typeface="Calibri"/>
                  </a:rPr>
                  <a:t>FORECAST ACCURACY</a:t>
                </a:r>
              </a:p>
            </p:txBody>
          </p:sp>
        </p:grpSp>
        <p:sp>
          <p:nvSpPr>
            <p:cNvPr id="5" name="Freeform 46">
              <a:extLst>
                <a:ext uri="{FF2B5EF4-FFF2-40B4-BE49-F238E27FC236}">
                  <a16:creationId xmlns:a16="http://schemas.microsoft.com/office/drawing/2014/main" id="{5A00D021-9DD1-D60C-59BC-EA30C63743FB}"/>
                </a:ext>
              </a:extLst>
            </p:cNvPr>
            <p:cNvSpPr/>
            <p:nvPr/>
          </p:nvSpPr>
          <p:spPr>
            <a:xfrm>
              <a:off x="15691196" y="682174"/>
              <a:ext cx="1041917" cy="730077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189B1440-4ED1-A1E2-266D-3B63F8FFAB5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40" t="4494" r="-51"/>
          <a:stretch>
            <a:fillRect/>
          </a:stretch>
        </p:blipFill>
        <p:spPr>
          <a:xfrm>
            <a:off x="1597269" y="2254860"/>
            <a:ext cx="15148858" cy="5399839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93473BA0-1F81-D687-45D7-64856BFA3E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0245161"/>
              </p:ext>
            </p:extLst>
          </p:nvPr>
        </p:nvGraphicFramePr>
        <p:xfrm>
          <a:off x="1597269" y="7839807"/>
          <a:ext cx="15425575" cy="17427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93870">
                  <a:extLst>
                    <a:ext uri="{9D8B030D-6E8A-4147-A177-3AD203B41FA5}">
                      <a16:colId xmlns:a16="http://schemas.microsoft.com/office/drawing/2014/main" val="274183652"/>
                    </a:ext>
                  </a:extLst>
                </a:gridCol>
                <a:gridCol w="5545986">
                  <a:extLst>
                    <a:ext uri="{9D8B030D-6E8A-4147-A177-3AD203B41FA5}">
                      <a16:colId xmlns:a16="http://schemas.microsoft.com/office/drawing/2014/main" val="1023332666"/>
                    </a:ext>
                  </a:extLst>
                </a:gridCol>
                <a:gridCol w="3885719">
                  <a:extLst>
                    <a:ext uri="{9D8B030D-6E8A-4147-A177-3AD203B41FA5}">
                      <a16:colId xmlns:a16="http://schemas.microsoft.com/office/drawing/2014/main" val="3444491366"/>
                    </a:ext>
                  </a:extLst>
                </a:gridCol>
              </a:tblGrid>
              <a:tr h="93662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RMSE (Rs. Cr)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MAPE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71692"/>
                  </a:ext>
                </a:extLst>
              </a:tr>
              <a:tr h="8061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GROSS BANK CREDIT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1408776.5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14.66%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109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37C6B93-59C8-9953-A578-2227A15E7C64}"/>
              </a:ext>
            </a:extLst>
          </p:cNvPr>
          <p:cNvSpPr txBox="1"/>
          <p:nvPr/>
        </p:nvSpPr>
        <p:spPr>
          <a:xfrm>
            <a:off x="1597866" y="1667846"/>
            <a:ext cx="1543049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Quattrocento"/>
                <a:ea typeface="Calibri"/>
                <a:cs typeface="Calibri"/>
              </a:rPr>
              <a:t>Holt's Method V/S Actual</a:t>
            </a:r>
            <a:endParaRPr lang="en-US" sz="3200" b="1">
              <a:latin typeface="Quattrocento"/>
            </a:endParaRPr>
          </a:p>
        </p:txBody>
      </p:sp>
    </p:spTree>
    <p:extLst>
      <p:ext uri="{BB962C8B-B14F-4D97-AF65-F5344CB8AC3E}">
        <p14:creationId xmlns:p14="http://schemas.microsoft.com/office/powerpoint/2010/main" val="4145666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AA38A960-3117-3B7F-80AD-19C709972B0F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 sz="1300" i="1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B2BA70-8BA3-926D-E1E2-132BCB5F9DD2}"/>
              </a:ext>
            </a:extLst>
          </p:cNvPr>
          <p:cNvSpPr txBox="1"/>
          <p:nvPr/>
        </p:nvSpPr>
        <p:spPr>
          <a:xfrm>
            <a:off x="1716152" y="1335655"/>
            <a:ext cx="14563552" cy="123110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2800" kern="1200">
                <a:solidFill>
                  <a:srgbClr val="3C3C3C"/>
                </a:solidFill>
                <a:latin typeface="Quattrocento"/>
                <a:ea typeface="Inter"/>
                <a:cs typeface="Inter"/>
              </a:rPr>
              <a:t>The ARIMA model is expressed as a combination of autoregressive terms, differencing, and moving average terms to capture all temporal dependencies.</a:t>
            </a:r>
          </a:p>
          <a:p>
            <a:pPr algn="ctr"/>
            <a:endParaRPr lang="en-US"/>
          </a:p>
        </p:txBody>
      </p:sp>
      <p:pic>
        <p:nvPicPr>
          <p:cNvPr id="4" name="Picture 3" descr="A black background with white letters&#10;&#10;AI-generated content may be incorrect.">
            <a:extLst>
              <a:ext uri="{FF2B5EF4-FFF2-40B4-BE49-F238E27FC236}">
                <a16:creationId xmlns:a16="http://schemas.microsoft.com/office/drawing/2014/main" id="{AD6596F1-DD0D-1BE2-9228-DF70AC706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9615" y="2355784"/>
            <a:ext cx="14557375" cy="645563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D5A0A0AD-F9EB-C14E-D098-EB813A9126F1}"/>
              </a:ext>
            </a:extLst>
          </p:cNvPr>
          <p:cNvGrpSpPr/>
          <p:nvPr/>
        </p:nvGrpSpPr>
        <p:grpSpPr>
          <a:xfrm>
            <a:off x="1719263" y="3227388"/>
            <a:ext cx="6911975" cy="2947630"/>
            <a:chOff x="782638" y="3862388"/>
            <a:chExt cx="6451600" cy="285238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F9D5258-5600-5420-0A9F-3A01D9C35D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638" y="3862388"/>
              <a:ext cx="6451600" cy="2847975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C94AECA-8CDC-17E9-41B5-737F39B0EC04}"/>
                </a:ext>
              </a:extLst>
            </p:cNvPr>
            <p:cNvSpPr txBox="1"/>
            <p:nvPr/>
          </p:nvSpPr>
          <p:spPr>
            <a:xfrm>
              <a:off x="1539875" y="4191000"/>
              <a:ext cx="4953000" cy="252376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b="1" err="1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Yt</a:t>
              </a:r>
              <a:r>
                <a:rPr lang="en-US" sz="2800" b="1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 — Current Value</a:t>
              </a:r>
              <a:endParaRPr lang="en-US" sz="2800" b="1">
                <a:solidFill>
                  <a:schemeClr val="bg1"/>
                </a:solidFill>
                <a:latin typeface="Quattrocento"/>
              </a:endParaRPr>
            </a:p>
            <a:p>
              <a:r>
                <a:rPr lang="en-US" sz="2800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The value of the time series at time t, which the model aims to predict based on past observations and error terms.</a:t>
              </a:r>
              <a:endParaRPr lang="en-US" sz="2800">
                <a:solidFill>
                  <a:schemeClr val="bg1"/>
                </a:solidFill>
                <a:latin typeface="Quattrocento"/>
              </a:endParaRPr>
            </a:p>
            <a:p>
              <a:pPr algn="l"/>
              <a:endParaRPr lang="en-US">
                <a:ea typeface="Calibri"/>
                <a:cs typeface="Calibri"/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42FB28A6-2500-9FD3-460B-2AC5F170C005}"/>
              </a:ext>
            </a:extLst>
          </p:cNvPr>
          <p:cNvGrpSpPr/>
          <p:nvPr/>
        </p:nvGrpSpPr>
        <p:grpSpPr>
          <a:xfrm>
            <a:off x="9355137" y="3227387"/>
            <a:ext cx="6911975" cy="2943225"/>
            <a:chOff x="7243762" y="3719512"/>
            <a:chExt cx="6911975" cy="2847975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9DD1E55-A7DC-E56E-7636-F269968BE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3762" y="3719512"/>
              <a:ext cx="6911975" cy="2847975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AA4371C-BF2B-1391-B992-7F8BFC833482}"/>
                </a:ext>
              </a:extLst>
            </p:cNvPr>
            <p:cNvSpPr txBox="1"/>
            <p:nvPr/>
          </p:nvSpPr>
          <p:spPr>
            <a:xfrm>
              <a:off x="7874000" y="3889375"/>
              <a:ext cx="5349875" cy="2523768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b="1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ϕ — AR Coefficients</a:t>
              </a:r>
              <a:endParaRPr lang="en-US" sz="2800" b="1">
                <a:solidFill>
                  <a:schemeClr val="bg1"/>
                </a:solidFill>
                <a:latin typeface="Quattrocento"/>
              </a:endParaRPr>
            </a:p>
            <a:p>
              <a:r>
                <a:rPr lang="en-US" sz="2800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The autoregressive parameters ϕ₁ … </a:t>
              </a:r>
              <a:r>
                <a:rPr lang="en-US" sz="2800" err="1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ϕ_p</a:t>
              </a:r>
              <a:r>
                <a:rPr lang="en-US" sz="2800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 weight the influence of past values Y_{t-1} through Y_{t-p} on the current value.</a:t>
              </a:r>
              <a:endParaRPr lang="en-US" sz="2800">
                <a:solidFill>
                  <a:schemeClr val="bg1"/>
                </a:solidFill>
                <a:latin typeface="Quattrocento"/>
              </a:endParaRPr>
            </a:p>
            <a:p>
              <a:pPr algn="l"/>
              <a:endParaRPr lang="en-US">
                <a:ea typeface="Calibri"/>
                <a:cs typeface="Calibri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D328CF5C-7158-0661-1547-A3801C886EE5}"/>
              </a:ext>
            </a:extLst>
          </p:cNvPr>
          <p:cNvGrpSpPr/>
          <p:nvPr/>
        </p:nvGrpSpPr>
        <p:grpSpPr>
          <a:xfrm>
            <a:off x="1719262" y="6508749"/>
            <a:ext cx="6911975" cy="2954655"/>
            <a:chOff x="782637" y="7048499"/>
            <a:chExt cx="6451600" cy="295465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B5636214-18C0-07C7-DE11-9A00F0E0BC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2637" y="7053262"/>
              <a:ext cx="6451600" cy="2736850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C6115C84-D07D-BD6E-2977-73126523E803}"/>
                </a:ext>
              </a:extLst>
            </p:cNvPr>
            <p:cNvSpPr txBox="1"/>
            <p:nvPr/>
          </p:nvSpPr>
          <p:spPr>
            <a:xfrm>
              <a:off x="1365249" y="7048499"/>
              <a:ext cx="5302250" cy="295465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b="1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θ — MA Coefficients</a:t>
              </a:r>
              <a:endParaRPr lang="en-US" sz="2800" b="1">
                <a:solidFill>
                  <a:schemeClr val="bg1"/>
                </a:solidFill>
                <a:latin typeface="Quattrocento"/>
              </a:endParaRPr>
            </a:p>
            <a:p>
              <a:r>
                <a:rPr lang="en-US" sz="2800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The moving average parameters θ₁ … </a:t>
              </a:r>
              <a:r>
                <a:rPr lang="en-US" sz="2800" err="1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θ_q</a:t>
              </a:r>
              <a:r>
                <a:rPr lang="en-US" sz="2800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 weight the influence of past forecast errors e_{t-1} through e_{t-q} to correct predictions.</a:t>
              </a:r>
              <a:endParaRPr lang="en-US" sz="2800">
                <a:solidFill>
                  <a:schemeClr val="bg1"/>
                </a:solidFill>
                <a:latin typeface="Quattrocento"/>
              </a:endParaRPr>
            </a:p>
            <a:p>
              <a:pPr algn="l"/>
              <a:endParaRPr lang="en-US">
                <a:ea typeface="Calibri"/>
                <a:cs typeface="Calibri"/>
              </a:endParaRP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344C3180-49A4-51E3-294A-8CEF535E58F9}"/>
              </a:ext>
            </a:extLst>
          </p:cNvPr>
          <p:cNvGrpSpPr/>
          <p:nvPr/>
        </p:nvGrpSpPr>
        <p:grpSpPr>
          <a:xfrm>
            <a:off x="9357579" y="6502521"/>
            <a:ext cx="6911975" cy="2775580"/>
            <a:chOff x="7243762" y="7005637"/>
            <a:chExt cx="6911975" cy="2922178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FC73112A-8CAA-D5F3-3429-E800DCF142C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243762" y="7005637"/>
              <a:ext cx="6911975" cy="2847975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51BD504-6684-3509-9402-B5809584F1D5}"/>
                </a:ext>
              </a:extLst>
            </p:cNvPr>
            <p:cNvSpPr txBox="1"/>
            <p:nvPr/>
          </p:nvSpPr>
          <p:spPr>
            <a:xfrm>
              <a:off x="7651750" y="7270749"/>
              <a:ext cx="6111875" cy="265706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 b="1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c — Constant Term</a:t>
              </a:r>
              <a:endParaRPr lang="en-US" sz="2800" b="1">
                <a:solidFill>
                  <a:schemeClr val="bg1"/>
                </a:solidFill>
                <a:latin typeface="Quattrocento"/>
              </a:endParaRPr>
            </a:p>
            <a:p>
              <a:r>
                <a:rPr lang="en-US" sz="2800">
                  <a:solidFill>
                    <a:schemeClr val="bg1"/>
                  </a:solidFill>
                  <a:latin typeface="Quattrocento"/>
                  <a:ea typeface="+mn-lt"/>
                  <a:cs typeface="+mn-lt"/>
                </a:rPr>
                <a:t>Represents the intercept or drift in the model, capturing any consistent upward or downward trend in the series.</a:t>
              </a:r>
              <a:endParaRPr lang="en-US" sz="2800">
                <a:solidFill>
                  <a:schemeClr val="bg1"/>
                </a:solidFill>
                <a:latin typeface="Quattrocento"/>
              </a:endParaRPr>
            </a:p>
            <a:p>
              <a:pPr algn="l"/>
              <a:endParaRPr lang="en-US">
                <a:ea typeface="Calibri"/>
                <a:cs typeface="Calibri"/>
              </a:endParaRPr>
            </a:p>
          </p:txBody>
        </p:sp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7A07FE91-6247-ADE9-A4A3-AC609B617493}"/>
              </a:ext>
            </a:extLst>
          </p:cNvPr>
          <p:cNvGrpSpPr/>
          <p:nvPr/>
        </p:nvGrpSpPr>
        <p:grpSpPr>
          <a:xfrm>
            <a:off x="1246005" y="224329"/>
            <a:ext cx="15507011" cy="1640197"/>
            <a:chOff x="166505" y="383079"/>
            <a:chExt cx="15507011" cy="1640197"/>
          </a:xfrm>
        </p:grpSpPr>
        <p:grpSp>
          <p:nvGrpSpPr>
            <p:cNvPr id="7" name="Group 42">
              <a:extLst>
                <a:ext uri="{FF2B5EF4-FFF2-40B4-BE49-F238E27FC236}">
                  <a16:creationId xmlns:a16="http://schemas.microsoft.com/office/drawing/2014/main" id="{470AC6FA-61B6-CB29-7E8D-1792B60D9408}"/>
                </a:ext>
              </a:extLst>
            </p:cNvPr>
            <p:cNvGrpSpPr/>
            <p:nvPr/>
          </p:nvGrpSpPr>
          <p:grpSpPr>
            <a:xfrm>
              <a:off x="774925" y="648339"/>
              <a:ext cx="12021886" cy="775707"/>
              <a:chOff x="0" y="-38100"/>
              <a:chExt cx="10952656" cy="647700"/>
            </a:xfrm>
          </p:grpSpPr>
          <p:sp>
            <p:nvSpPr>
              <p:cNvPr id="30" name="Freeform 43">
                <a:extLst>
                  <a:ext uri="{FF2B5EF4-FFF2-40B4-BE49-F238E27FC236}">
                    <a16:creationId xmlns:a16="http://schemas.microsoft.com/office/drawing/2014/main" id="{2DB2A87C-5DD9-112D-EB8B-F13CC0BBDD3D}"/>
                  </a:ext>
                </a:extLst>
              </p:cNvPr>
              <p:cNvSpPr/>
              <p:nvPr/>
            </p:nvSpPr>
            <p:spPr>
              <a:xfrm>
                <a:off x="0" y="0"/>
                <a:ext cx="1095265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0952656" h="609600">
                    <a:moveTo>
                      <a:pt x="203200" y="0"/>
                    </a:moveTo>
                    <a:lnTo>
                      <a:pt x="10952656" y="0"/>
                    </a:lnTo>
                    <a:lnTo>
                      <a:pt x="1074945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6656B"/>
              </a:solidFill>
            </p:spPr>
            <p:txBody>
              <a:bodyPr lIns="91440" tIns="45720" rIns="91440" bIns="45720" anchor="t"/>
              <a:lstStyle/>
              <a:p>
                <a:endParaRPr lang="en-IN"/>
              </a:p>
            </p:txBody>
          </p:sp>
          <p:sp>
            <p:nvSpPr>
              <p:cNvPr id="31" name="TextBox 44">
                <a:extLst>
                  <a:ext uri="{FF2B5EF4-FFF2-40B4-BE49-F238E27FC236}">
                    <a16:creationId xmlns:a16="http://schemas.microsoft.com/office/drawing/2014/main" id="{D3BD8132-35E7-65A1-7DF1-D5F40C4C72DA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0749456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51">
              <a:extLst>
                <a:ext uri="{FF2B5EF4-FFF2-40B4-BE49-F238E27FC236}">
                  <a16:creationId xmlns:a16="http://schemas.microsoft.com/office/drawing/2014/main" id="{63974BE0-AAF7-8D31-37A7-7FA347412185}"/>
                </a:ext>
              </a:extLst>
            </p:cNvPr>
            <p:cNvGrpSpPr/>
            <p:nvPr/>
          </p:nvGrpSpPr>
          <p:grpSpPr>
            <a:xfrm>
              <a:off x="166505" y="383079"/>
              <a:ext cx="1199530" cy="1309485"/>
              <a:chOff x="-45132" y="-65513"/>
              <a:chExt cx="276994" cy="344885"/>
            </a:xfrm>
          </p:grpSpPr>
          <p:sp>
            <p:nvSpPr>
              <p:cNvPr id="28" name="Freeform 52">
                <a:extLst>
                  <a:ext uri="{FF2B5EF4-FFF2-40B4-BE49-F238E27FC236}">
                    <a16:creationId xmlns:a16="http://schemas.microsoft.com/office/drawing/2014/main" id="{12CA775B-1511-8705-E109-880B9462EA58}"/>
                  </a:ext>
                </a:extLst>
              </p:cNvPr>
              <p:cNvSpPr/>
              <p:nvPr/>
            </p:nvSpPr>
            <p:spPr>
              <a:xfrm>
                <a:off x="0" y="0"/>
                <a:ext cx="189191" cy="208294"/>
              </a:xfrm>
              <a:custGeom>
                <a:avLst/>
                <a:gdLst/>
                <a:ahLst/>
                <a:cxnLst/>
                <a:rect l="l" t="t" r="r" b="b"/>
                <a:pathLst>
                  <a:path w="189191" h="208294">
                    <a:moveTo>
                      <a:pt x="94595" y="0"/>
                    </a:moveTo>
                    <a:lnTo>
                      <a:pt x="94595" y="0"/>
                    </a:lnTo>
                    <a:cubicBezTo>
                      <a:pt x="146839" y="0"/>
                      <a:pt x="189191" y="42352"/>
                      <a:pt x="189191" y="94595"/>
                    </a:cubicBezTo>
                    <a:lnTo>
                      <a:pt x="189191" y="113698"/>
                    </a:lnTo>
                    <a:cubicBezTo>
                      <a:pt x="189191" y="138787"/>
                      <a:pt x="179225" y="162847"/>
                      <a:pt x="161484" y="180587"/>
                    </a:cubicBezTo>
                    <a:cubicBezTo>
                      <a:pt x="143744" y="198327"/>
                      <a:pt x="119684" y="208294"/>
                      <a:pt x="94595" y="208294"/>
                    </a:cubicBezTo>
                    <a:lnTo>
                      <a:pt x="94595" y="208294"/>
                    </a:lnTo>
                    <a:cubicBezTo>
                      <a:pt x="69507" y="208294"/>
                      <a:pt x="45446" y="198327"/>
                      <a:pt x="27706" y="180587"/>
                    </a:cubicBezTo>
                    <a:cubicBezTo>
                      <a:pt x="9966" y="162847"/>
                      <a:pt x="0" y="138787"/>
                      <a:pt x="0" y="113698"/>
                    </a:cubicBezTo>
                    <a:lnTo>
                      <a:pt x="0" y="94595"/>
                    </a:lnTo>
                    <a:cubicBezTo>
                      <a:pt x="0" y="69507"/>
                      <a:pt x="9966" y="45446"/>
                      <a:pt x="27706" y="27706"/>
                    </a:cubicBezTo>
                    <a:cubicBezTo>
                      <a:pt x="45446" y="9966"/>
                      <a:pt x="69507" y="0"/>
                      <a:pt x="94595" y="0"/>
                    </a:cubicBezTo>
                    <a:close/>
                  </a:path>
                </a:pathLst>
              </a:custGeom>
              <a:solidFill>
                <a:srgbClr val="75B06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9" name="TextBox 53">
                <a:extLst>
                  <a:ext uri="{FF2B5EF4-FFF2-40B4-BE49-F238E27FC236}">
                    <a16:creationId xmlns:a16="http://schemas.microsoft.com/office/drawing/2014/main" id="{A1FEBFDF-3261-7472-F62E-C62FB74460F1}"/>
                  </a:ext>
                </a:extLst>
              </p:cNvPr>
              <p:cNvSpPr txBox="1"/>
              <p:nvPr/>
            </p:nvSpPr>
            <p:spPr>
              <a:xfrm>
                <a:off x="-45132" y="-65513"/>
                <a:ext cx="276994" cy="3448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000" b="1">
                    <a:solidFill>
                      <a:srgbClr val="F0F8A4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02</a:t>
                </a:r>
                <a:endParaRPr lang="en-US" sz="3000" b="1" u="none" strike="noStrike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endParaRPr>
              </a:p>
            </p:txBody>
          </p:sp>
        </p:grpSp>
        <p:grpSp>
          <p:nvGrpSpPr>
            <p:cNvPr id="9" name="Group 48">
              <a:extLst>
                <a:ext uri="{FF2B5EF4-FFF2-40B4-BE49-F238E27FC236}">
                  <a16:creationId xmlns:a16="http://schemas.microsoft.com/office/drawing/2014/main" id="{513B454F-A32C-5841-E6FE-4DFCEEA067D0}"/>
                </a:ext>
              </a:extLst>
            </p:cNvPr>
            <p:cNvGrpSpPr/>
            <p:nvPr/>
          </p:nvGrpSpPr>
          <p:grpSpPr>
            <a:xfrm>
              <a:off x="13840444" y="645336"/>
              <a:ext cx="1833072" cy="775707"/>
              <a:chOff x="0" y="-38100"/>
              <a:chExt cx="1530580" cy="647700"/>
            </a:xfrm>
          </p:grpSpPr>
          <p:sp>
            <p:nvSpPr>
              <p:cNvPr id="26" name="Freeform 49">
                <a:extLst>
                  <a:ext uri="{FF2B5EF4-FFF2-40B4-BE49-F238E27FC236}">
                    <a16:creationId xmlns:a16="http://schemas.microsoft.com/office/drawing/2014/main" id="{B201A2F4-D718-9552-2F69-E938B969160B}"/>
                  </a:ext>
                </a:extLst>
              </p:cNvPr>
              <p:cNvSpPr/>
              <p:nvPr/>
            </p:nvSpPr>
            <p:spPr>
              <a:xfrm>
                <a:off x="0" y="0"/>
                <a:ext cx="15305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530580" h="609600">
                    <a:moveTo>
                      <a:pt x="203200" y="0"/>
                    </a:moveTo>
                    <a:lnTo>
                      <a:pt x="1530580" y="0"/>
                    </a:lnTo>
                    <a:lnTo>
                      <a:pt x="13273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75B06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7" name="TextBox 50">
                <a:extLst>
                  <a:ext uri="{FF2B5EF4-FFF2-40B4-BE49-F238E27FC236}">
                    <a16:creationId xmlns:a16="http://schemas.microsoft.com/office/drawing/2014/main" id="{D8124867-3617-01C9-638E-4B774BCCD6D2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3273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0" name="Group 45">
              <a:extLst>
                <a:ext uri="{FF2B5EF4-FFF2-40B4-BE49-F238E27FC236}">
                  <a16:creationId xmlns:a16="http://schemas.microsoft.com/office/drawing/2014/main" id="{8BAFFFA1-09DA-2D17-435E-26BD52742144}"/>
                </a:ext>
              </a:extLst>
            </p:cNvPr>
            <p:cNvGrpSpPr/>
            <p:nvPr/>
          </p:nvGrpSpPr>
          <p:grpSpPr>
            <a:xfrm>
              <a:off x="12798527" y="645336"/>
              <a:ext cx="1041917" cy="775707"/>
              <a:chOff x="0" y="-38100"/>
              <a:chExt cx="869980" cy="647700"/>
            </a:xfrm>
          </p:grpSpPr>
          <p:sp>
            <p:nvSpPr>
              <p:cNvPr id="16" name="Freeform 46">
                <a:extLst>
                  <a:ext uri="{FF2B5EF4-FFF2-40B4-BE49-F238E27FC236}">
                    <a16:creationId xmlns:a16="http://schemas.microsoft.com/office/drawing/2014/main" id="{33F123C7-F975-E6C2-6C05-B0BD2C24E6A6}"/>
                  </a:ext>
                </a:extLst>
              </p:cNvPr>
              <p:cNvSpPr/>
              <p:nvPr/>
            </p:nvSpPr>
            <p:spPr>
              <a:xfrm>
                <a:off x="0" y="0"/>
                <a:ext cx="8699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869980" h="609600">
                    <a:moveTo>
                      <a:pt x="203200" y="0"/>
                    </a:moveTo>
                    <a:lnTo>
                      <a:pt x="869980" y="0"/>
                    </a:lnTo>
                    <a:lnTo>
                      <a:pt x="6667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DAD88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5" name="TextBox 47">
                <a:extLst>
                  <a:ext uri="{FF2B5EF4-FFF2-40B4-BE49-F238E27FC236}">
                    <a16:creationId xmlns:a16="http://schemas.microsoft.com/office/drawing/2014/main" id="{3E5D775F-F198-129F-0576-85A1D658CEAB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667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B6090D2-6F1E-49DA-77F5-43A8D1874E79}"/>
                </a:ext>
              </a:extLst>
            </p:cNvPr>
            <p:cNvSpPr txBox="1"/>
            <p:nvPr/>
          </p:nvSpPr>
          <p:spPr>
            <a:xfrm>
              <a:off x="1305503" y="669059"/>
              <a:ext cx="11080750" cy="135421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4400">
                  <a:solidFill>
                    <a:schemeClr val="bg1"/>
                  </a:solidFill>
                  <a:latin typeface="League Gothic"/>
                </a:rPr>
                <a:t>ARIMA MODEL</a:t>
              </a:r>
              <a:r>
                <a:rPr lang="en-US" sz="4000">
                  <a:solidFill>
                    <a:schemeClr val="bg1"/>
                  </a:solidFill>
                  <a:latin typeface="League Gothic"/>
                </a:rPr>
                <a:t> </a:t>
              </a:r>
            </a:p>
            <a:p>
              <a:endParaRPr lang="en-US" sz="3800" b="1">
                <a:solidFill>
                  <a:schemeClr val="bg1"/>
                </a:solidFill>
                <a:latin typeface="Quattrocen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0173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BD623F-A59E-1865-1482-76797459D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FD8C8FA0-D307-F765-4DA8-2743A90AF1F9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 sz="1300" i="1">
              <a:solidFill>
                <a:srgbClr val="22D3EE"/>
              </a:solidFill>
              <a:ea typeface="Calibri"/>
              <a:cs typeface="Calibri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E313395-1A63-A921-3B9F-D3054E17CB41}"/>
              </a:ext>
            </a:extLst>
          </p:cNvPr>
          <p:cNvGrpSpPr/>
          <p:nvPr/>
        </p:nvGrpSpPr>
        <p:grpSpPr>
          <a:xfrm>
            <a:off x="1246005" y="107098"/>
            <a:ext cx="15507011" cy="1309485"/>
            <a:chOff x="166505" y="383079"/>
            <a:chExt cx="15507011" cy="1309485"/>
          </a:xfrm>
        </p:grpSpPr>
        <p:grpSp>
          <p:nvGrpSpPr>
            <p:cNvPr id="3" name="Group 42">
              <a:extLst>
                <a:ext uri="{FF2B5EF4-FFF2-40B4-BE49-F238E27FC236}">
                  <a16:creationId xmlns:a16="http://schemas.microsoft.com/office/drawing/2014/main" id="{3F45D507-81B9-4D58-016F-B3A1E507CFD5}"/>
                </a:ext>
              </a:extLst>
            </p:cNvPr>
            <p:cNvGrpSpPr/>
            <p:nvPr/>
          </p:nvGrpSpPr>
          <p:grpSpPr>
            <a:xfrm>
              <a:off x="774925" y="648339"/>
              <a:ext cx="12021886" cy="775707"/>
              <a:chOff x="0" y="-38100"/>
              <a:chExt cx="10952656" cy="647700"/>
            </a:xfrm>
          </p:grpSpPr>
          <p:sp>
            <p:nvSpPr>
              <p:cNvPr id="14" name="Freeform 43">
                <a:extLst>
                  <a:ext uri="{FF2B5EF4-FFF2-40B4-BE49-F238E27FC236}">
                    <a16:creationId xmlns:a16="http://schemas.microsoft.com/office/drawing/2014/main" id="{8386E4A4-B4AB-BA5A-5EAA-3E2806A3B0F1}"/>
                  </a:ext>
                </a:extLst>
              </p:cNvPr>
              <p:cNvSpPr/>
              <p:nvPr/>
            </p:nvSpPr>
            <p:spPr>
              <a:xfrm>
                <a:off x="0" y="0"/>
                <a:ext cx="1095265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0952656" h="609600">
                    <a:moveTo>
                      <a:pt x="203200" y="0"/>
                    </a:moveTo>
                    <a:lnTo>
                      <a:pt x="10952656" y="0"/>
                    </a:lnTo>
                    <a:lnTo>
                      <a:pt x="1074945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6656B"/>
              </a:solidFill>
            </p:spPr>
            <p:txBody>
              <a:bodyPr lIns="91440" tIns="45720" rIns="91440" bIns="45720" anchor="t"/>
              <a:lstStyle/>
              <a:p>
                <a:endParaRPr lang="en-IN"/>
              </a:p>
            </p:txBody>
          </p:sp>
          <p:sp>
            <p:nvSpPr>
              <p:cNvPr id="15" name="TextBox 44">
                <a:extLst>
                  <a:ext uri="{FF2B5EF4-FFF2-40B4-BE49-F238E27FC236}">
                    <a16:creationId xmlns:a16="http://schemas.microsoft.com/office/drawing/2014/main" id="{EA967CA0-5A75-EE6E-FE0B-4E5006D00173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0749456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" name="Group 51">
              <a:extLst>
                <a:ext uri="{FF2B5EF4-FFF2-40B4-BE49-F238E27FC236}">
                  <a16:creationId xmlns:a16="http://schemas.microsoft.com/office/drawing/2014/main" id="{E3E59EA7-1C26-6D30-9C49-14E0247249CD}"/>
                </a:ext>
              </a:extLst>
            </p:cNvPr>
            <p:cNvGrpSpPr/>
            <p:nvPr/>
          </p:nvGrpSpPr>
          <p:grpSpPr>
            <a:xfrm>
              <a:off x="166505" y="383079"/>
              <a:ext cx="1199530" cy="1309485"/>
              <a:chOff x="-45132" y="-65513"/>
              <a:chExt cx="276994" cy="344885"/>
            </a:xfrm>
          </p:grpSpPr>
          <p:sp>
            <p:nvSpPr>
              <p:cNvPr id="12" name="Freeform 52">
                <a:extLst>
                  <a:ext uri="{FF2B5EF4-FFF2-40B4-BE49-F238E27FC236}">
                    <a16:creationId xmlns:a16="http://schemas.microsoft.com/office/drawing/2014/main" id="{90945EE9-E3F3-ADBE-2A4A-834349B4C1AF}"/>
                  </a:ext>
                </a:extLst>
              </p:cNvPr>
              <p:cNvSpPr/>
              <p:nvPr/>
            </p:nvSpPr>
            <p:spPr>
              <a:xfrm>
                <a:off x="0" y="0"/>
                <a:ext cx="189191" cy="208294"/>
              </a:xfrm>
              <a:custGeom>
                <a:avLst/>
                <a:gdLst/>
                <a:ahLst/>
                <a:cxnLst/>
                <a:rect l="l" t="t" r="r" b="b"/>
                <a:pathLst>
                  <a:path w="189191" h="208294">
                    <a:moveTo>
                      <a:pt x="94595" y="0"/>
                    </a:moveTo>
                    <a:lnTo>
                      <a:pt x="94595" y="0"/>
                    </a:lnTo>
                    <a:cubicBezTo>
                      <a:pt x="146839" y="0"/>
                      <a:pt x="189191" y="42352"/>
                      <a:pt x="189191" y="94595"/>
                    </a:cubicBezTo>
                    <a:lnTo>
                      <a:pt x="189191" y="113698"/>
                    </a:lnTo>
                    <a:cubicBezTo>
                      <a:pt x="189191" y="138787"/>
                      <a:pt x="179225" y="162847"/>
                      <a:pt x="161484" y="180587"/>
                    </a:cubicBezTo>
                    <a:cubicBezTo>
                      <a:pt x="143744" y="198327"/>
                      <a:pt x="119684" y="208294"/>
                      <a:pt x="94595" y="208294"/>
                    </a:cubicBezTo>
                    <a:lnTo>
                      <a:pt x="94595" y="208294"/>
                    </a:lnTo>
                    <a:cubicBezTo>
                      <a:pt x="69507" y="208294"/>
                      <a:pt x="45446" y="198327"/>
                      <a:pt x="27706" y="180587"/>
                    </a:cubicBezTo>
                    <a:cubicBezTo>
                      <a:pt x="9966" y="162847"/>
                      <a:pt x="0" y="138787"/>
                      <a:pt x="0" y="113698"/>
                    </a:cubicBezTo>
                    <a:lnTo>
                      <a:pt x="0" y="94595"/>
                    </a:lnTo>
                    <a:cubicBezTo>
                      <a:pt x="0" y="69507"/>
                      <a:pt x="9966" y="45446"/>
                      <a:pt x="27706" y="27706"/>
                    </a:cubicBezTo>
                    <a:cubicBezTo>
                      <a:pt x="45446" y="9966"/>
                      <a:pt x="69507" y="0"/>
                      <a:pt x="94595" y="0"/>
                    </a:cubicBezTo>
                    <a:close/>
                  </a:path>
                </a:pathLst>
              </a:custGeom>
              <a:solidFill>
                <a:srgbClr val="75B06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3" name="TextBox 53">
                <a:extLst>
                  <a:ext uri="{FF2B5EF4-FFF2-40B4-BE49-F238E27FC236}">
                    <a16:creationId xmlns:a16="http://schemas.microsoft.com/office/drawing/2014/main" id="{F7181D30-4C49-C2E0-A024-BD5F01C187D0}"/>
                  </a:ext>
                </a:extLst>
              </p:cNvPr>
              <p:cNvSpPr txBox="1"/>
              <p:nvPr/>
            </p:nvSpPr>
            <p:spPr>
              <a:xfrm>
                <a:off x="-45132" y="-65513"/>
                <a:ext cx="276994" cy="3448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000" b="1">
                    <a:solidFill>
                      <a:srgbClr val="F0F8A4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02</a:t>
                </a:r>
                <a:endParaRPr lang="en-US" sz="3000" b="1" u="none" strike="noStrike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endParaRPr>
              </a:p>
            </p:txBody>
          </p:sp>
        </p:grpSp>
        <p:grpSp>
          <p:nvGrpSpPr>
            <p:cNvPr id="5" name="Group 48">
              <a:extLst>
                <a:ext uri="{FF2B5EF4-FFF2-40B4-BE49-F238E27FC236}">
                  <a16:creationId xmlns:a16="http://schemas.microsoft.com/office/drawing/2014/main" id="{250BA1FD-9CCB-18F5-357C-54D4C2758EDC}"/>
                </a:ext>
              </a:extLst>
            </p:cNvPr>
            <p:cNvGrpSpPr/>
            <p:nvPr/>
          </p:nvGrpSpPr>
          <p:grpSpPr>
            <a:xfrm>
              <a:off x="13840444" y="645336"/>
              <a:ext cx="1833072" cy="775707"/>
              <a:chOff x="0" y="-38100"/>
              <a:chExt cx="1530580" cy="647700"/>
            </a:xfrm>
          </p:grpSpPr>
          <p:sp>
            <p:nvSpPr>
              <p:cNvPr id="10" name="Freeform 49">
                <a:extLst>
                  <a:ext uri="{FF2B5EF4-FFF2-40B4-BE49-F238E27FC236}">
                    <a16:creationId xmlns:a16="http://schemas.microsoft.com/office/drawing/2014/main" id="{0546416E-562B-AA6B-5D46-55DD5AA5361C}"/>
                  </a:ext>
                </a:extLst>
              </p:cNvPr>
              <p:cNvSpPr/>
              <p:nvPr/>
            </p:nvSpPr>
            <p:spPr>
              <a:xfrm>
                <a:off x="0" y="0"/>
                <a:ext cx="15305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530580" h="609600">
                    <a:moveTo>
                      <a:pt x="203200" y="0"/>
                    </a:moveTo>
                    <a:lnTo>
                      <a:pt x="1530580" y="0"/>
                    </a:lnTo>
                    <a:lnTo>
                      <a:pt x="13273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75B06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1" name="TextBox 50">
                <a:extLst>
                  <a:ext uri="{FF2B5EF4-FFF2-40B4-BE49-F238E27FC236}">
                    <a16:creationId xmlns:a16="http://schemas.microsoft.com/office/drawing/2014/main" id="{2E58FF30-30FB-C05B-3475-D9769DBA46E3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3273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6" name="Group 45">
              <a:extLst>
                <a:ext uri="{FF2B5EF4-FFF2-40B4-BE49-F238E27FC236}">
                  <a16:creationId xmlns:a16="http://schemas.microsoft.com/office/drawing/2014/main" id="{E95BE228-6112-E650-304E-C28CD0AEA00A}"/>
                </a:ext>
              </a:extLst>
            </p:cNvPr>
            <p:cNvGrpSpPr/>
            <p:nvPr/>
          </p:nvGrpSpPr>
          <p:grpSpPr>
            <a:xfrm>
              <a:off x="12798527" y="645336"/>
              <a:ext cx="1041917" cy="775707"/>
              <a:chOff x="0" y="-38100"/>
              <a:chExt cx="869980" cy="647700"/>
            </a:xfrm>
          </p:grpSpPr>
          <p:sp>
            <p:nvSpPr>
              <p:cNvPr id="8" name="Freeform 46">
                <a:extLst>
                  <a:ext uri="{FF2B5EF4-FFF2-40B4-BE49-F238E27FC236}">
                    <a16:creationId xmlns:a16="http://schemas.microsoft.com/office/drawing/2014/main" id="{8F60A175-993E-E2E8-D041-1AE88247C761}"/>
                  </a:ext>
                </a:extLst>
              </p:cNvPr>
              <p:cNvSpPr/>
              <p:nvPr/>
            </p:nvSpPr>
            <p:spPr>
              <a:xfrm>
                <a:off x="0" y="0"/>
                <a:ext cx="8699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869980" h="609600">
                    <a:moveTo>
                      <a:pt x="203200" y="0"/>
                    </a:moveTo>
                    <a:lnTo>
                      <a:pt x="869980" y="0"/>
                    </a:lnTo>
                    <a:lnTo>
                      <a:pt x="6667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DAD88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9" name="TextBox 47">
                <a:extLst>
                  <a:ext uri="{FF2B5EF4-FFF2-40B4-BE49-F238E27FC236}">
                    <a16:creationId xmlns:a16="http://schemas.microsoft.com/office/drawing/2014/main" id="{5CB4671D-CE39-6DFA-1CE6-3ABF93C95491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667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BC53F9C-8EF6-57EE-0A93-068F5826D1A3}"/>
                </a:ext>
              </a:extLst>
            </p:cNvPr>
            <p:cNvSpPr txBox="1"/>
            <p:nvPr/>
          </p:nvSpPr>
          <p:spPr>
            <a:xfrm>
              <a:off x="1340037" y="659279"/>
              <a:ext cx="11080750" cy="769441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4400">
                  <a:solidFill>
                    <a:schemeClr val="bg1"/>
                  </a:solidFill>
                  <a:latin typeface="League Gothic"/>
                </a:rPr>
                <a:t>MODEL IDENTIFICATION</a:t>
              </a:r>
              <a:endParaRPr lang="en-US" sz="3600" b="1">
                <a:solidFill>
                  <a:schemeClr val="bg1"/>
                </a:solidFill>
                <a:latin typeface="League Gothic"/>
              </a:endParaRPr>
            </a:p>
          </p:txBody>
        </p:sp>
      </p:grpSp>
      <p:pic>
        <p:nvPicPr>
          <p:cNvPr id="21" name="Picture 20" descr="A close-up of a graph&#10;&#10;AI-generated content may be incorrect.">
            <a:extLst>
              <a:ext uri="{FF2B5EF4-FFF2-40B4-BE49-F238E27FC236}">
                <a16:creationId xmlns:a16="http://schemas.microsoft.com/office/drawing/2014/main" id="{F579ABA3-65BC-D9CB-CB00-E3510FCD99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968" r="91"/>
          <a:stretch>
            <a:fillRect/>
          </a:stretch>
        </p:blipFill>
        <p:spPr>
          <a:xfrm>
            <a:off x="1525770" y="2211524"/>
            <a:ext cx="15606512" cy="5401000"/>
          </a:xfrm>
          <a:prstGeom prst="rect">
            <a:avLst/>
          </a:prstGeom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DF154690-D245-4190-D27A-92DF592ECF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7586120"/>
              </p:ext>
            </p:extLst>
          </p:nvPr>
        </p:nvGraphicFramePr>
        <p:xfrm>
          <a:off x="1523999" y="8030307"/>
          <a:ext cx="15613522" cy="198287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816641">
                  <a:extLst>
                    <a:ext uri="{9D8B030D-6E8A-4147-A177-3AD203B41FA5}">
                      <a16:colId xmlns:a16="http://schemas.microsoft.com/office/drawing/2014/main" val="1236504907"/>
                    </a:ext>
                  </a:extLst>
                </a:gridCol>
                <a:gridCol w="3122704">
                  <a:extLst>
                    <a:ext uri="{9D8B030D-6E8A-4147-A177-3AD203B41FA5}">
                      <a16:colId xmlns:a16="http://schemas.microsoft.com/office/drawing/2014/main" val="133126128"/>
                    </a:ext>
                  </a:extLst>
                </a:gridCol>
                <a:gridCol w="3122704">
                  <a:extLst>
                    <a:ext uri="{9D8B030D-6E8A-4147-A177-3AD203B41FA5}">
                      <a16:colId xmlns:a16="http://schemas.microsoft.com/office/drawing/2014/main" val="1240789050"/>
                    </a:ext>
                  </a:extLst>
                </a:gridCol>
                <a:gridCol w="2949221">
                  <a:extLst>
                    <a:ext uri="{9D8B030D-6E8A-4147-A177-3AD203B41FA5}">
                      <a16:colId xmlns:a16="http://schemas.microsoft.com/office/drawing/2014/main" val="69297372"/>
                    </a:ext>
                  </a:extLst>
                </a:gridCol>
                <a:gridCol w="2602252">
                  <a:extLst>
                    <a:ext uri="{9D8B030D-6E8A-4147-A177-3AD203B41FA5}">
                      <a16:colId xmlns:a16="http://schemas.microsoft.com/office/drawing/2014/main" val="1051555622"/>
                    </a:ext>
                  </a:extLst>
                </a:gridCol>
              </a:tblGrid>
              <a:tr h="9525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Model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AIC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BIC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Log-Likelihood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Rank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510535"/>
                  </a:ext>
                </a:extLst>
              </a:tr>
              <a:tr h="103037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ARIMA(0,1,1)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2160.49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2167.78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−1077.24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1st (BEST)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79789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4582C40-4841-080D-70E3-E97A2583A5C4}"/>
              </a:ext>
            </a:extLst>
          </p:cNvPr>
          <p:cNvSpPr txBox="1"/>
          <p:nvPr/>
        </p:nvSpPr>
        <p:spPr>
          <a:xfrm>
            <a:off x="1243136" y="1269999"/>
            <a:ext cx="1518016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Quattrocento"/>
                <a:ea typeface="Calibri"/>
                <a:cs typeface="Calibri"/>
              </a:rPr>
              <a:t>ACF and PACF after 1st differencing (d=1) - Model Order Identification</a:t>
            </a:r>
            <a:endParaRPr lang="en-US" sz="3200" b="1">
              <a:latin typeface="Quattrocento"/>
            </a:endParaRPr>
          </a:p>
        </p:txBody>
      </p:sp>
    </p:spTree>
    <p:extLst>
      <p:ext uri="{BB962C8B-B14F-4D97-AF65-F5344CB8AC3E}">
        <p14:creationId xmlns:p14="http://schemas.microsoft.com/office/powerpoint/2010/main" val="2113664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A4F1-8323-0A50-DE24-CFDBDE66A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ED93ED64-D51E-2598-36E7-C240AC7445CA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 sz="1300" i="1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4E0391D7-1FAA-F49C-8ED5-361ECD4BAA74}"/>
              </a:ext>
            </a:extLst>
          </p:cNvPr>
          <p:cNvSpPr txBox="1"/>
          <p:nvPr/>
        </p:nvSpPr>
        <p:spPr>
          <a:xfrm>
            <a:off x="1597285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314BADEE-3607-117A-0F11-BCFBE66E0ECA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5D3DE5F7-3491-3CEA-A9DD-8E89ACA5F375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E3C3FE42-3E2E-1F89-E4C9-4FBC9A90CA4A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09D3A1B1-4351-57B9-7A32-16F2ACAE500B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DA543F17-8FAF-111D-13AB-109156497713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AD727FAB-3C31-644F-54CA-2DAFDFDC85E8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48573B46-43AF-065F-92DD-4A3D65E58AE2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55089B7E-8ABF-CE72-F7B0-A5A2FEE3FC3D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71CB7FF1-8816-675D-C1D5-5478C66C32C6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2B5D4EC5-5BD9-500C-884B-3827FCBCF8CE}"/>
              </a:ext>
            </a:extLst>
          </p:cNvPr>
          <p:cNvGrpSpPr/>
          <p:nvPr/>
        </p:nvGrpSpPr>
        <p:grpSpPr>
          <a:xfrm>
            <a:off x="1044146" y="412687"/>
            <a:ext cx="718334" cy="1007856"/>
            <a:chOff x="0" y="-32064"/>
            <a:chExt cx="189191" cy="265444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FADE78D0-6419-99CD-F9E3-394BDA1EEB24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986587B4-65C1-E1F5-4529-68B18CFE2FC5}"/>
                </a:ext>
              </a:extLst>
            </p:cNvPr>
            <p:cNvSpPr txBox="1"/>
            <p:nvPr/>
          </p:nvSpPr>
          <p:spPr>
            <a:xfrm>
              <a:off x="0" y="-32064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02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E4A97AD0-E2D7-B6CD-E2E0-E0D70EA5046C}"/>
              </a:ext>
            </a:extLst>
          </p:cNvPr>
          <p:cNvSpPr txBox="1"/>
          <p:nvPr/>
        </p:nvSpPr>
        <p:spPr>
          <a:xfrm>
            <a:off x="2101996" y="546968"/>
            <a:ext cx="11764361" cy="7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+mn-lt"/>
              </a:rPr>
              <a:t>MODEL ESTIMATION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65A8A51-5070-66FD-F7E7-3BBEB2784B6F}"/>
              </a:ext>
            </a:extLst>
          </p:cNvPr>
          <p:cNvSpPr txBox="1"/>
          <p:nvPr/>
        </p:nvSpPr>
        <p:spPr>
          <a:xfrm>
            <a:off x="1056657" y="1746856"/>
            <a:ext cx="1664428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The 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ARIMA(0,1,1)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model, also known as an 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Integrated Moving Average or IMA(1,1)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is identified as optimal. The 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model equation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 in terms of the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 differenced series  </a:t>
            </a:r>
            <a:r>
              <a:rPr lang="en-US" sz="2800" b="1" err="1">
                <a:solidFill>
                  <a:srgbClr val="000000"/>
                </a:solidFill>
                <a:ea typeface="+mn-lt"/>
                <a:cs typeface="+mn-lt"/>
              </a:rPr>
              <a:t>Δy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ₜ:</a:t>
            </a:r>
            <a:endParaRPr lang="en-US" sz="2800" b="1">
              <a:ea typeface="+mn-lt"/>
              <a:cs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204E2B-0178-F4EA-534E-32A04E65D6B6}"/>
              </a:ext>
            </a:extLst>
          </p:cNvPr>
          <p:cNvSpPr txBox="1"/>
          <p:nvPr/>
        </p:nvSpPr>
        <p:spPr>
          <a:xfrm>
            <a:off x="1602757" y="3935874"/>
            <a:ext cx="155012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 </a:t>
            </a:r>
            <a:r>
              <a:rPr lang="en-US" sz="2800" b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μ</a:t>
            </a:r>
            <a:r>
              <a:rPr lang="en-US" sz="280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is the drift term,  </a:t>
            </a:r>
            <a:r>
              <a:rPr lang="en-US" sz="2800" b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θ₁</a:t>
            </a:r>
            <a:r>
              <a:rPr lang="en-US" sz="280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is the MA(1) coefficient,  </a:t>
            </a:r>
            <a:r>
              <a:rPr lang="en-US" sz="2800" b="1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εₜ</a:t>
            </a:r>
            <a:r>
              <a:rPr lang="en-US" sz="280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 ~ N(0, σ²) is white noise</a:t>
            </a:r>
            <a:endParaRPr lang="en-US" sz="2400">
              <a:latin typeface="Calibri"/>
              <a:ea typeface="+mn-lt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030FD54-4C62-6830-DEDF-EF45297B5D52}"/>
              </a:ext>
            </a:extLst>
          </p:cNvPr>
          <p:cNvSpPr txBox="1"/>
          <p:nvPr/>
        </p:nvSpPr>
        <p:spPr>
          <a:xfrm>
            <a:off x="1039848" y="4883062"/>
            <a:ext cx="166442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All parameters are estimated using 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Maximum Likelihood Estimation (MLE)</a:t>
            </a:r>
            <a:r>
              <a:rPr lang="en-US" sz="2800">
                <a:solidFill>
                  <a:srgbClr val="000000"/>
                </a:solidFill>
                <a:ea typeface="+mn-lt"/>
                <a:cs typeface="+mn-lt"/>
              </a:rPr>
              <a:t>. 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FCE70D3-3507-5941-E176-6389E1A60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9613250"/>
              </p:ext>
            </p:extLst>
          </p:nvPr>
        </p:nvGraphicFramePr>
        <p:xfrm>
          <a:off x="1603375" y="5556250"/>
          <a:ext cx="15039906" cy="409577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540349">
                  <a:extLst>
                    <a:ext uri="{9D8B030D-6E8A-4147-A177-3AD203B41FA5}">
                      <a16:colId xmlns:a16="http://schemas.microsoft.com/office/drawing/2014/main" val="1245618723"/>
                    </a:ext>
                  </a:extLst>
                </a:gridCol>
                <a:gridCol w="4256578">
                  <a:extLst>
                    <a:ext uri="{9D8B030D-6E8A-4147-A177-3AD203B41FA5}">
                      <a16:colId xmlns:a16="http://schemas.microsoft.com/office/drawing/2014/main" val="723137131"/>
                    </a:ext>
                  </a:extLst>
                </a:gridCol>
                <a:gridCol w="3689033">
                  <a:extLst>
                    <a:ext uri="{9D8B030D-6E8A-4147-A177-3AD203B41FA5}">
                      <a16:colId xmlns:a16="http://schemas.microsoft.com/office/drawing/2014/main" val="2749090692"/>
                    </a:ext>
                  </a:extLst>
                </a:gridCol>
                <a:gridCol w="2553946">
                  <a:extLst>
                    <a:ext uri="{9D8B030D-6E8A-4147-A177-3AD203B41FA5}">
                      <a16:colId xmlns:a16="http://schemas.microsoft.com/office/drawing/2014/main" val="3679207441"/>
                    </a:ext>
                  </a:extLst>
                </a:gridCol>
              </a:tblGrid>
              <a:tr h="11530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Parameter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Coefficient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p-Value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Sig.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0531218"/>
                  </a:ext>
                </a:extLst>
              </a:tr>
              <a:tr h="9465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μ (drift / x1)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46,540.40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&lt;0.001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***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0697042"/>
                  </a:ext>
                </a:extLst>
              </a:tr>
              <a:tr h="91208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θ₁ (ma.L1)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−0.0223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0.549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 err="1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n.s</a:t>
                      </a: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.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9278850"/>
                  </a:ext>
                </a:extLst>
              </a:tr>
              <a:tr h="10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σ² (variance)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7.734 × 10⁹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&lt;0.001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***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8386055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343A4152-9D3C-0808-D64F-88FB8BB6AD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9980" y="2846388"/>
            <a:ext cx="3835687" cy="85638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4816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D6EEE1-25CB-F3B0-4383-7E6CD7C34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C6929EE6-11E7-7580-89BB-81DAD156D166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 sz="1300" i="1">
              <a:solidFill>
                <a:srgbClr val="22D3EE"/>
              </a:solidFill>
              <a:ea typeface="Calibri"/>
              <a:cs typeface="Calibri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24F3585F-53C6-E858-E62C-A2D48B5E6916}"/>
              </a:ext>
            </a:extLst>
          </p:cNvPr>
          <p:cNvSpPr txBox="1"/>
          <p:nvPr/>
        </p:nvSpPr>
        <p:spPr>
          <a:xfrm>
            <a:off x="1597285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A652501-DC47-F933-6612-633431919342}"/>
              </a:ext>
            </a:extLst>
          </p:cNvPr>
          <p:cNvGrpSpPr/>
          <p:nvPr/>
        </p:nvGrpSpPr>
        <p:grpSpPr>
          <a:xfrm>
            <a:off x="1028271" y="196435"/>
            <a:ext cx="16230600" cy="806101"/>
            <a:chOff x="1044146" y="519194"/>
            <a:chExt cx="16230600" cy="806101"/>
          </a:xfrm>
        </p:grpSpPr>
        <p:grpSp>
          <p:nvGrpSpPr>
            <p:cNvPr id="42" name="Group 42">
              <a:extLst>
                <a:ext uri="{FF2B5EF4-FFF2-40B4-BE49-F238E27FC236}">
                  <a16:creationId xmlns:a16="http://schemas.microsoft.com/office/drawing/2014/main" id="{2903D8A2-61EE-C937-3362-C1320539E05A}"/>
                </a:ext>
              </a:extLst>
            </p:cNvPr>
            <p:cNvGrpSpPr/>
            <p:nvPr/>
          </p:nvGrpSpPr>
          <p:grpSpPr>
            <a:xfrm>
              <a:off x="1282496" y="519194"/>
              <a:ext cx="13117261" cy="775707"/>
              <a:chOff x="0" y="-38100"/>
              <a:chExt cx="10952656" cy="647700"/>
            </a:xfrm>
          </p:grpSpPr>
          <p:sp>
            <p:nvSpPr>
              <p:cNvPr id="43" name="Freeform 43">
                <a:extLst>
                  <a:ext uri="{FF2B5EF4-FFF2-40B4-BE49-F238E27FC236}">
                    <a16:creationId xmlns:a16="http://schemas.microsoft.com/office/drawing/2014/main" id="{5E985A24-3A2D-1B65-6F79-2C6684C37DCE}"/>
                  </a:ext>
                </a:extLst>
              </p:cNvPr>
              <p:cNvSpPr/>
              <p:nvPr/>
            </p:nvSpPr>
            <p:spPr>
              <a:xfrm>
                <a:off x="0" y="0"/>
                <a:ext cx="1095265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0952656" h="609600">
                    <a:moveTo>
                      <a:pt x="203200" y="0"/>
                    </a:moveTo>
                    <a:lnTo>
                      <a:pt x="10952656" y="0"/>
                    </a:lnTo>
                    <a:lnTo>
                      <a:pt x="1074945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6656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4" name="TextBox 44">
                <a:extLst>
                  <a:ext uri="{FF2B5EF4-FFF2-40B4-BE49-F238E27FC236}">
                    <a16:creationId xmlns:a16="http://schemas.microsoft.com/office/drawing/2014/main" id="{CF206FC1-9446-8ACC-47FC-24E2635EBF11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0749456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5" name="Group 45">
              <a:extLst>
                <a:ext uri="{FF2B5EF4-FFF2-40B4-BE49-F238E27FC236}">
                  <a16:creationId xmlns:a16="http://schemas.microsoft.com/office/drawing/2014/main" id="{67831519-C407-1725-26DA-2F1785F5BFAC}"/>
                </a:ext>
              </a:extLst>
            </p:cNvPr>
            <p:cNvGrpSpPr/>
            <p:nvPr/>
          </p:nvGrpSpPr>
          <p:grpSpPr>
            <a:xfrm>
              <a:off x="14399757" y="519194"/>
              <a:ext cx="1041917" cy="775707"/>
              <a:chOff x="0" y="-38100"/>
              <a:chExt cx="869980" cy="647700"/>
            </a:xfrm>
          </p:grpSpPr>
          <p:sp>
            <p:nvSpPr>
              <p:cNvPr id="46" name="Freeform 46">
                <a:extLst>
                  <a:ext uri="{FF2B5EF4-FFF2-40B4-BE49-F238E27FC236}">
                    <a16:creationId xmlns:a16="http://schemas.microsoft.com/office/drawing/2014/main" id="{7C65C501-ABF8-064A-D36F-DB7EC7E5F28C}"/>
                  </a:ext>
                </a:extLst>
              </p:cNvPr>
              <p:cNvSpPr/>
              <p:nvPr/>
            </p:nvSpPr>
            <p:spPr>
              <a:xfrm>
                <a:off x="0" y="0"/>
                <a:ext cx="8699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869980" h="609600">
                    <a:moveTo>
                      <a:pt x="203200" y="0"/>
                    </a:moveTo>
                    <a:lnTo>
                      <a:pt x="869980" y="0"/>
                    </a:lnTo>
                    <a:lnTo>
                      <a:pt x="6667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DAD88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47" name="TextBox 47">
                <a:extLst>
                  <a:ext uri="{FF2B5EF4-FFF2-40B4-BE49-F238E27FC236}">
                    <a16:creationId xmlns:a16="http://schemas.microsoft.com/office/drawing/2014/main" id="{722B36D9-0270-311C-1E6E-0AEEF0DA4608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667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48" name="Group 48">
              <a:extLst>
                <a:ext uri="{FF2B5EF4-FFF2-40B4-BE49-F238E27FC236}">
                  <a16:creationId xmlns:a16="http://schemas.microsoft.com/office/drawing/2014/main" id="{A5A78924-CF79-A178-F881-5C28540E6749}"/>
                </a:ext>
              </a:extLst>
            </p:cNvPr>
            <p:cNvGrpSpPr/>
            <p:nvPr/>
          </p:nvGrpSpPr>
          <p:grpSpPr>
            <a:xfrm>
              <a:off x="15441674" y="519194"/>
              <a:ext cx="1833072" cy="775707"/>
              <a:chOff x="0" y="-38100"/>
              <a:chExt cx="1530580" cy="647700"/>
            </a:xfrm>
          </p:grpSpPr>
          <p:sp>
            <p:nvSpPr>
              <p:cNvPr id="49" name="Freeform 49">
                <a:extLst>
                  <a:ext uri="{FF2B5EF4-FFF2-40B4-BE49-F238E27FC236}">
                    <a16:creationId xmlns:a16="http://schemas.microsoft.com/office/drawing/2014/main" id="{86451BB2-47E1-1DFC-EBCB-5989D220F30A}"/>
                  </a:ext>
                </a:extLst>
              </p:cNvPr>
              <p:cNvSpPr/>
              <p:nvPr/>
            </p:nvSpPr>
            <p:spPr>
              <a:xfrm>
                <a:off x="0" y="0"/>
                <a:ext cx="15305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530580" h="609600">
                    <a:moveTo>
                      <a:pt x="203200" y="0"/>
                    </a:moveTo>
                    <a:lnTo>
                      <a:pt x="1530580" y="0"/>
                    </a:lnTo>
                    <a:lnTo>
                      <a:pt x="13273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75B06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0" name="TextBox 50">
                <a:extLst>
                  <a:ext uri="{FF2B5EF4-FFF2-40B4-BE49-F238E27FC236}">
                    <a16:creationId xmlns:a16="http://schemas.microsoft.com/office/drawing/2014/main" id="{E78D9D48-CD07-D252-68B4-A66B698723F2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3273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51" name="Group 51">
              <a:extLst>
                <a:ext uri="{FF2B5EF4-FFF2-40B4-BE49-F238E27FC236}">
                  <a16:creationId xmlns:a16="http://schemas.microsoft.com/office/drawing/2014/main" id="{19DEA5A6-D88B-06EF-5A65-6171BB1CFD8F}"/>
                </a:ext>
              </a:extLst>
            </p:cNvPr>
            <p:cNvGrpSpPr/>
            <p:nvPr/>
          </p:nvGrpSpPr>
          <p:grpSpPr>
            <a:xfrm>
              <a:off x="1044146" y="534430"/>
              <a:ext cx="718334" cy="790865"/>
              <a:chOff x="0" y="0"/>
              <a:chExt cx="189191" cy="208294"/>
            </a:xfrm>
          </p:grpSpPr>
          <p:sp>
            <p:nvSpPr>
              <p:cNvPr id="52" name="Freeform 52">
                <a:extLst>
                  <a:ext uri="{FF2B5EF4-FFF2-40B4-BE49-F238E27FC236}">
                    <a16:creationId xmlns:a16="http://schemas.microsoft.com/office/drawing/2014/main" id="{BC0337CD-F548-5F36-3E0F-41BBC41261F6}"/>
                  </a:ext>
                </a:extLst>
              </p:cNvPr>
              <p:cNvSpPr/>
              <p:nvPr/>
            </p:nvSpPr>
            <p:spPr>
              <a:xfrm>
                <a:off x="0" y="0"/>
                <a:ext cx="189191" cy="208294"/>
              </a:xfrm>
              <a:custGeom>
                <a:avLst/>
                <a:gdLst/>
                <a:ahLst/>
                <a:cxnLst/>
                <a:rect l="l" t="t" r="r" b="b"/>
                <a:pathLst>
                  <a:path w="189191" h="208294">
                    <a:moveTo>
                      <a:pt x="94595" y="0"/>
                    </a:moveTo>
                    <a:lnTo>
                      <a:pt x="94595" y="0"/>
                    </a:lnTo>
                    <a:cubicBezTo>
                      <a:pt x="146839" y="0"/>
                      <a:pt x="189191" y="42352"/>
                      <a:pt x="189191" y="94595"/>
                    </a:cubicBezTo>
                    <a:lnTo>
                      <a:pt x="189191" y="113698"/>
                    </a:lnTo>
                    <a:cubicBezTo>
                      <a:pt x="189191" y="138787"/>
                      <a:pt x="179225" y="162847"/>
                      <a:pt x="161484" y="180587"/>
                    </a:cubicBezTo>
                    <a:cubicBezTo>
                      <a:pt x="143744" y="198327"/>
                      <a:pt x="119684" y="208294"/>
                      <a:pt x="94595" y="208294"/>
                    </a:cubicBezTo>
                    <a:lnTo>
                      <a:pt x="94595" y="208294"/>
                    </a:lnTo>
                    <a:cubicBezTo>
                      <a:pt x="69507" y="208294"/>
                      <a:pt x="45446" y="198327"/>
                      <a:pt x="27706" y="180587"/>
                    </a:cubicBezTo>
                    <a:cubicBezTo>
                      <a:pt x="9966" y="162847"/>
                      <a:pt x="0" y="138787"/>
                      <a:pt x="0" y="113698"/>
                    </a:cubicBezTo>
                    <a:lnTo>
                      <a:pt x="0" y="94595"/>
                    </a:lnTo>
                    <a:cubicBezTo>
                      <a:pt x="0" y="69507"/>
                      <a:pt x="9966" y="45446"/>
                      <a:pt x="27706" y="27706"/>
                    </a:cubicBezTo>
                    <a:cubicBezTo>
                      <a:pt x="45446" y="9966"/>
                      <a:pt x="69507" y="0"/>
                      <a:pt x="94595" y="0"/>
                    </a:cubicBezTo>
                    <a:close/>
                  </a:path>
                </a:pathLst>
              </a:custGeom>
              <a:solidFill>
                <a:srgbClr val="75B06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53" name="TextBox 53">
                <a:extLst>
                  <a:ext uri="{FF2B5EF4-FFF2-40B4-BE49-F238E27FC236}">
                    <a16:creationId xmlns:a16="http://schemas.microsoft.com/office/drawing/2014/main" id="{2A2B7E38-5E6B-D352-6265-9FF43FD9CDE5}"/>
                  </a:ext>
                </a:extLst>
              </p:cNvPr>
              <p:cNvSpPr txBox="1"/>
              <p:nvPr/>
            </p:nvSpPr>
            <p:spPr>
              <a:xfrm>
                <a:off x="20070" y="23126"/>
                <a:ext cx="159087" cy="165098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000" b="1">
                    <a:solidFill>
                      <a:srgbClr val="F0F8A4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02</a:t>
                </a:r>
                <a:endParaRPr lang="en-US" sz="3000" b="1" u="none" strike="noStrike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endParaRPr>
              </a:p>
            </p:txBody>
          </p:sp>
        </p:grpSp>
        <p:sp>
          <p:nvSpPr>
            <p:cNvPr id="54" name="TextBox 54">
              <a:extLst>
                <a:ext uri="{FF2B5EF4-FFF2-40B4-BE49-F238E27FC236}">
                  <a16:creationId xmlns:a16="http://schemas.microsoft.com/office/drawing/2014/main" id="{F8E9E468-EAC5-73EC-5F20-855408BD6B01}"/>
                </a:ext>
              </a:extLst>
            </p:cNvPr>
            <p:cNvSpPr txBox="1"/>
            <p:nvPr/>
          </p:nvSpPr>
          <p:spPr>
            <a:xfrm>
              <a:off x="2101996" y="546968"/>
              <a:ext cx="11764361" cy="7458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6160"/>
                </a:lnSpc>
                <a:spcBef>
                  <a:spcPct val="0"/>
                </a:spcBef>
              </a:pPr>
              <a:r>
                <a:rPr lang="en-US" sz="4400">
                  <a:solidFill>
                    <a:srgbClr val="FFFFFF"/>
                  </a:solidFill>
                  <a:latin typeface="League Gothic"/>
                  <a:ea typeface="+mn-lt"/>
                  <a:cs typeface="+mn-lt"/>
                </a:rPr>
                <a:t>FORECAST ACCURACY</a:t>
              </a:r>
            </a:p>
          </p:txBody>
        </p:sp>
      </p:grpSp>
      <p:pic>
        <p:nvPicPr>
          <p:cNvPr id="7" name="Picture 6" descr="A graph showing a line&#10;&#10;AI-generated content may be incorrect.">
            <a:extLst>
              <a:ext uri="{FF2B5EF4-FFF2-40B4-BE49-F238E27FC236}">
                <a16:creationId xmlns:a16="http://schemas.microsoft.com/office/drawing/2014/main" id="{532F9C0A-4E09-AD70-8C5D-94F5E67CBF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14" t="4116" r="1850" b="242"/>
          <a:stretch>
            <a:fillRect/>
          </a:stretch>
        </p:blipFill>
        <p:spPr>
          <a:xfrm>
            <a:off x="1596719" y="1760034"/>
            <a:ext cx="15415248" cy="6277722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0718D0C-5482-B9E5-1B7D-96B37A9DDF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458111"/>
              </p:ext>
            </p:extLst>
          </p:nvPr>
        </p:nvGraphicFramePr>
        <p:xfrm>
          <a:off x="1603375" y="8175625"/>
          <a:ext cx="15425575" cy="169862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993870">
                  <a:extLst>
                    <a:ext uri="{9D8B030D-6E8A-4147-A177-3AD203B41FA5}">
                      <a16:colId xmlns:a16="http://schemas.microsoft.com/office/drawing/2014/main" val="274183652"/>
                    </a:ext>
                  </a:extLst>
                </a:gridCol>
                <a:gridCol w="5545986">
                  <a:extLst>
                    <a:ext uri="{9D8B030D-6E8A-4147-A177-3AD203B41FA5}">
                      <a16:colId xmlns:a16="http://schemas.microsoft.com/office/drawing/2014/main" val="1023332666"/>
                    </a:ext>
                  </a:extLst>
                </a:gridCol>
                <a:gridCol w="3885719">
                  <a:extLst>
                    <a:ext uri="{9D8B030D-6E8A-4147-A177-3AD203B41FA5}">
                      <a16:colId xmlns:a16="http://schemas.microsoft.com/office/drawing/2014/main" val="3444491366"/>
                    </a:ext>
                  </a:extLst>
                </a:gridCol>
              </a:tblGrid>
              <a:tr h="8924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RMSE (Rs. Cr)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MAPE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71692"/>
                  </a:ext>
                </a:extLst>
              </a:tr>
              <a:tr h="8061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GROSS BANK CREDIT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309,724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3.289%</a:t>
                      </a:r>
                      <a:endParaRPr lang="en-US" sz="2400" b="1" i="0">
                        <a:solidFill>
                          <a:srgbClr val="1B5E2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109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2DC97EC-16FF-6123-2636-23992901DB49}"/>
              </a:ext>
            </a:extLst>
          </p:cNvPr>
          <p:cNvSpPr txBox="1"/>
          <p:nvPr/>
        </p:nvSpPr>
        <p:spPr>
          <a:xfrm>
            <a:off x="1607039" y="1174750"/>
            <a:ext cx="157480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Quattrocento"/>
                <a:ea typeface="Calibri"/>
                <a:cs typeface="Calibri"/>
              </a:rPr>
              <a:t>Gross Credit Demand – Actual V/S ARIMA(0,1,1)</a:t>
            </a:r>
            <a:endParaRPr lang="en-US" sz="3200" b="1">
              <a:latin typeface="Quattrocento"/>
            </a:endParaRPr>
          </a:p>
        </p:txBody>
      </p:sp>
    </p:spTree>
    <p:extLst>
      <p:ext uri="{BB962C8B-B14F-4D97-AF65-F5344CB8AC3E}">
        <p14:creationId xmlns:p14="http://schemas.microsoft.com/office/powerpoint/2010/main" val="2907173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851E1-BDAB-BAC0-B001-94519761B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CD9DFD15-C7A7-9596-1E7C-DFC7CA5E772A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 sz="1300" i="1">
              <a:solidFill>
                <a:srgbClr val="22D3EE"/>
              </a:solidFill>
              <a:ea typeface="Calibri"/>
              <a:cs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EE0A596-BD19-1B03-8A1D-B71397B95416}"/>
              </a:ext>
            </a:extLst>
          </p:cNvPr>
          <p:cNvGrpSpPr/>
          <p:nvPr/>
        </p:nvGrpSpPr>
        <p:grpSpPr>
          <a:xfrm>
            <a:off x="1187123" y="550086"/>
            <a:ext cx="16010393" cy="775707"/>
            <a:chOff x="1187123" y="550086"/>
            <a:chExt cx="16010393" cy="775707"/>
          </a:xfrm>
        </p:grpSpPr>
        <p:grpSp>
          <p:nvGrpSpPr>
            <p:cNvPr id="9" name="Group 42">
              <a:extLst>
                <a:ext uri="{FF2B5EF4-FFF2-40B4-BE49-F238E27FC236}">
                  <a16:creationId xmlns:a16="http://schemas.microsoft.com/office/drawing/2014/main" id="{7BC03CCE-0653-41A1-8C3B-16D52BE30565}"/>
                </a:ext>
              </a:extLst>
            </p:cNvPr>
            <p:cNvGrpSpPr/>
            <p:nvPr/>
          </p:nvGrpSpPr>
          <p:grpSpPr>
            <a:xfrm>
              <a:off x="1187123" y="550086"/>
              <a:ext cx="13117261" cy="775707"/>
              <a:chOff x="0" y="-38100"/>
              <a:chExt cx="10952656" cy="647700"/>
            </a:xfrm>
          </p:grpSpPr>
          <p:sp>
            <p:nvSpPr>
              <p:cNvPr id="7" name="Freeform 43">
                <a:extLst>
                  <a:ext uri="{FF2B5EF4-FFF2-40B4-BE49-F238E27FC236}">
                    <a16:creationId xmlns:a16="http://schemas.microsoft.com/office/drawing/2014/main" id="{0A564ECD-0585-A44A-015B-07D3C26D98D5}"/>
                  </a:ext>
                </a:extLst>
              </p:cNvPr>
              <p:cNvSpPr/>
              <p:nvPr/>
            </p:nvSpPr>
            <p:spPr>
              <a:xfrm>
                <a:off x="0" y="0"/>
                <a:ext cx="1095265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0952656" h="609600">
                    <a:moveTo>
                      <a:pt x="203200" y="0"/>
                    </a:moveTo>
                    <a:lnTo>
                      <a:pt x="10952656" y="0"/>
                    </a:lnTo>
                    <a:lnTo>
                      <a:pt x="1074945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6656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Box 44">
                <a:extLst>
                  <a:ext uri="{FF2B5EF4-FFF2-40B4-BE49-F238E27FC236}">
                    <a16:creationId xmlns:a16="http://schemas.microsoft.com/office/drawing/2014/main" id="{BF3CA046-CECA-27A4-4FAB-70F79F5563D4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0749456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3" name="Group 45">
              <a:extLst>
                <a:ext uri="{FF2B5EF4-FFF2-40B4-BE49-F238E27FC236}">
                  <a16:creationId xmlns:a16="http://schemas.microsoft.com/office/drawing/2014/main" id="{6BBC19DF-BFF2-F666-890B-90E0974E5098}"/>
                </a:ext>
              </a:extLst>
            </p:cNvPr>
            <p:cNvGrpSpPr/>
            <p:nvPr/>
          </p:nvGrpSpPr>
          <p:grpSpPr>
            <a:xfrm>
              <a:off x="14322527" y="550086"/>
              <a:ext cx="1041917" cy="775707"/>
              <a:chOff x="0" y="-38100"/>
              <a:chExt cx="869980" cy="647700"/>
            </a:xfrm>
          </p:grpSpPr>
          <p:sp>
            <p:nvSpPr>
              <p:cNvPr id="11" name="Freeform 46">
                <a:extLst>
                  <a:ext uri="{FF2B5EF4-FFF2-40B4-BE49-F238E27FC236}">
                    <a16:creationId xmlns:a16="http://schemas.microsoft.com/office/drawing/2014/main" id="{9DA70F7E-C423-5A82-4C88-6947EFEA995F}"/>
                  </a:ext>
                </a:extLst>
              </p:cNvPr>
              <p:cNvSpPr/>
              <p:nvPr/>
            </p:nvSpPr>
            <p:spPr>
              <a:xfrm>
                <a:off x="0" y="0"/>
                <a:ext cx="8699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869980" h="609600">
                    <a:moveTo>
                      <a:pt x="203200" y="0"/>
                    </a:moveTo>
                    <a:lnTo>
                      <a:pt x="869980" y="0"/>
                    </a:lnTo>
                    <a:lnTo>
                      <a:pt x="6667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DAD88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2" name="TextBox 47">
                <a:extLst>
                  <a:ext uri="{FF2B5EF4-FFF2-40B4-BE49-F238E27FC236}">
                    <a16:creationId xmlns:a16="http://schemas.microsoft.com/office/drawing/2014/main" id="{82F30BF0-FA2F-946C-080E-2C1CDB67C8ED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667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7" name="Group 48">
              <a:extLst>
                <a:ext uri="{FF2B5EF4-FFF2-40B4-BE49-F238E27FC236}">
                  <a16:creationId xmlns:a16="http://schemas.microsoft.com/office/drawing/2014/main" id="{F2A4C181-86C6-06CF-E66A-9D4D9F1EB468}"/>
                </a:ext>
              </a:extLst>
            </p:cNvPr>
            <p:cNvGrpSpPr/>
            <p:nvPr/>
          </p:nvGrpSpPr>
          <p:grpSpPr>
            <a:xfrm>
              <a:off x="15364444" y="550086"/>
              <a:ext cx="1833072" cy="775707"/>
              <a:chOff x="0" y="-38100"/>
              <a:chExt cx="1530580" cy="647700"/>
            </a:xfrm>
          </p:grpSpPr>
          <p:sp>
            <p:nvSpPr>
              <p:cNvPr id="15" name="Freeform 49">
                <a:extLst>
                  <a:ext uri="{FF2B5EF4-FFF2-40B4-BE49-F238E27FC236}">
                    <a16:creationId xmlns:a16="http://schemas.microsoft.com/office/drawing/2014/main" id="{A8ADEF30-5982-1CB2-6740-3F04A0D61E68}"/>
                  </a:ext>
                </a:extLst>
              </p:cNvPr>
              <p:cNvSpPr/>
              <p:nvPr/>
            </p:nvSpPr>
            <p:spPr>
              <a:xfrm>
                <a:off x="0" y="0"/>
                <a:ext cx="15305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530580" h="609600">
                    <a:moveTo>
                      <a:pt x="203200" y="0"/>
                    </a:moveTo>
                    <a:lnTo>
                      <a:pt x="1530580" y="0"/>
                    </a:lnTo>
                    <a:lnTo>
                      <a:pt x="13273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75B06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6" name="TextBox 50">
                <a:extLst>
                  <a:ext uri="{FF2B5EF4-FFF2-40B4-BE49-F238E27FC236}">
                    <a16:creationId xmlns:a16="http://schemas.microsoft.com/office/drawing/2014/main" id="{394A3FF9-0F23-0E35-D56A-65D3D5CCFC77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3273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19" name="Freeform 52">
            <a:extLst>
              <a:ext uri="{FF2B5EF4-FFF2-40B4-BE49-F238E27FC236}">
                <a16:creationId xmlns:a16="http://schemas.microsoft.com/office/drawing/2014/main" id="{7F582DDF-ED65-304D-968F-0A3967AB30E3}"/>
              </a:ext>
            </a:extLst>
          </p:cNvPr>
          <p:cNvSpPr/>
          <p:nvPr/>
        </p:nvSpPr>
        <p:spPr>
          <a:xfrm>
            <a:off x="966916" y="565322"/>
            <a:ext cx="718334" cy="790865"/>
          </a:xfrm>
          <a:custGeom>
            <a:avLst/>
            <a:gdLst/>
            <a:ahLst/>
            <a:cxnLst/>
            <a:rect l="l" t="t" r="r" b="b"/>
            <a:pathLst>
              <a:path w="189191" h="208294">
                <a:moveTo>
                  <a:pt x="94595" y="0"/>
                </a:moveTo>
                <a:lnTo>
                  <a:pt x="94595" y="0"/>
                </a:lnTo>
                <a:cubicBezTo>
                  <a:pt x="146839" y="0"/>
                  <a:pt x="189191" y="42352"/>
                  <a:pt x="189191" y="94595"/>
                </a:cubicBezTo>
                <a:lnTo>
                  <a:pt x="189191" y="113698"/>
                </a:lnTo>
                <a:cubicBezTo>
                  <a:pt x="189191" y="138787"/>
                  <a:pt x="179225" y="162847"/>
                  <a:pt x="161484" y="180587"/>
                </a:cubicBezTo>
                <a:cubicBezTo>
                  <a:pt x="143744" y="198327"/>
                  <a:pt x="119684" y="208294"/>
                  <a:pt x="94595" y="208294"/>
                </a:cubicBezTo>
                <a:lnTo>
                  <a:pt x="94595" y="208294"/>
                </a:lnTo>
                <a:cubicBezTo>
                  <a:pt x="69507" y="208294"/>
                  <a:pt x="45446" y="198327"/>
                  <a:pt x="27706" y="180587"/>
                </a:cubicBezTo>
                <a:cubicBezTo>
                  <a:pt x="9966" y="162847"/>
                  <a:pt x="0" y="138787"/>
                  <a:pt x="0" y="113698"/>
                </a:cubicBezTo>
                <a:lnTo>
                  <a:pt x="0" y="94595"/>
                </a:lnTo>
                <a:cubicBezTo>
                  <a:pt x="0" y="69507"/>
                  <a:pt x="9966" y="45446"/>
                  <a:pt x="27706" y="27706"/>
                </a:cubicBezTo>
                <a:cubicBezTo>
                  <a:pt x="45446" y="9966"/>
                  <a:pt x="69507" y="0"/>
                  <a:pt x="94595" y="0"/>
                </a:cubicBezTo>
                <a:close/>
              </a:path>
            </a:pathLst>
          </a:custGeom>
          <a:solidFill>
            <a:srgbClr val="75B06F"/>
          </a:solidFill>
          <a:ln cap="rnd">
            <a:noFill/>
            <a:prstDash val="solid"/>
            <a:round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Box 54">
            <a:extLst>
              <a:ext uri="{FF2B5EF4-FFF2-40B4-BE49-F238E27FC236}">
                <a16:creationId xmlns:a16="http://schemas.microsoft.com/office/drawing/2014/main" id="{EA8257AA-D5E6-AEBC-1C94-6AA6DED10BB5}"/>
              </a:ext>
            </a:extLst>
          </p:cNvPr>
          <p:cNvSpPr txBox="1"/>
          <p:nvPr/>
        </p:nvSpPr>
        <p:spPr>
          <a:xfrm>
            <a:off x="1991148" y="574003"/>
            <a:ext cx="12327068" cy="7458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sym typeface="League Gothic"/>
              </a:rPr>
              <a:t>VECM: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9C75280-C751-D0C2-0684-9AFD9D8A5CF0}"/>
              </a:ext>
            </a:extLst>
          </p:cNvPr>
          <p:cNvSpPr txBox="1"/>
          <p:nvPr/>
        </p:nvSpPr>
        <p:spPr>
          <a:xfrm>
            <a:off x="969604" y="1732540"/>
            <a:ext cx="16736649" cy="40934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800" b="1">
                <a:ea typeface="+mn-lt"/>
                <a:cs typeface="+mn-lt"/>
              </a:rPr>
              <a:t>Vector Error Correction Model</a:t>
            </a:r>
            <a:r>
              <a:rPr lang="en-US" sz="2800">
                <a:ea typeface="+mn-lt"/>
                <a:cs typeface="+mn-lt"/>
              </a:rPr>
              <a:t> is a multivariate time series model used when variables are </a:t>
            </a:r>
            <a:r>
              <a:rPr lang="en-US" sz="2800" b="1">
                <a:ea typeface="+mn-lt"/>
                <a:cs typeface="+mn-lt"/>
              </a:rPr>
              <a:t>non-stationary I</a:t>
            </a:r>
            <a:r>
              <a:rPr lang="en-US" sz="2800" b="1">
                <a:solidFill>
                  <a:srgbClr val="000000"/>
                </a:solidFill>
                <a:ea typeface="+mn-lt"/>
                <a:cs typeface="+mn-lt"/>
              </a:rPr>
              <a:t>(1) </a:t>
            </a:r>
            <a:r>
              <a:rPr lang="en-US" sz="2800" b="1">
                <a:ea typeface="+mn-lt"/>
                <a:cs typeface="+mn-lt"/>
              </a:rPr>
              <a:t>but cointegrated</a:t>
            </a:r>
            <a:r>
              <a:rPr lang="en-US" sz="2800">
                <a:ea typeface="+mn-lt"/>
                <a:cs typeface="+mn-lt"/>
              </a:rPr>
              <a:t>.</a:t>
            </a:r>
            <a:endParaRPr lang="en-US">
              <a:ea typeface="+mn-lt"/>
              <a:cs typeface="+mn-lt"/>
            </a:endParaRPr>
          </a:p>
          <a:p>
            <a:pPr marL="342900" indent="-342900">
              <a:buFont typeface="Wingdings"/>
              <a:buChar char="v"/>
            </a:pPr>
            <a:r>
              <a:rPr lang="en-US" sz="2800">
                <a:ea typeface="+mn-lt"/>
                <a:cs typeface="+mn-lt"/>
              </a:rPr>
              <a:t>It captures both; </a:t>
            </a:r>
            <a:r>
              <a:rPr lang="en-US" sz="2800" b="1">
                <a:ea typeface="+mn-lt"/>
                <a:cs typeface="+mn-lt"/>
              </a:rPr>
              <a:t>short-run dynamics</a:t>
            </a:r>
            <a:r>
              <a:rPr lang="en-US" sz="2800">
                <a:ea typeface="+mn-lt"/>
                <a:cs typeface="+mn-lt"/>
              </a:rPr>
              <a:t> between variables &amp; </a:t>
            </a:r>
            <a:r>
              <a:rPr lang="en-US" sz="2800" b="1">
                <a:ea typeface="+mn-lt"/>
                <a:cs typeface="+mn-lt"/>
              </a:rPr>
              <a:t>long-run equilibrium relationship</a:t>
            </a:r>
            <a:r>
              <a:rPr lang="en-US" sz="2800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r>
              <a:rPr lang="en-US" sz="2800">
                <a:ea typeface="+mn-lt"/>
                <a:cs typeface="+mn-lt"/>
              </a:rPr>
              <a:t>If a set of variables are </a:t>
            </a:r>
            <a:r>
              <a:rPr lang="en-US" sz="2800" b="1">
                <a:ea typeface="+mn-lt"/>
                <a:cs typeface="+mn-lt"/>
              </a:rPr>
              <a:t>Cointegrated</a:t>
            </a:r>
            <a:r>
              <a:rPr lang="en-US" sz="2800">
                <a:ea typeface="+mn-lt"/>
                <a:cs typeface="+mn-lt"/>
              </a:rPr>
              <a:t>, deviations from the long-run equilibrium are corrected over time through an </a:t>
            </a:r>
            <a:r>
              <a:rPr lang="en-US" sz="2800" b="1">
                <a:ea typeface="+mn-lt"/>
                <a:cs typeface="+mn-lt"/>
              </a:rPr>
              <a:t>error correction mechanism</a:t>
            </a:r>
            <a:r>
              <a:rPr lang="en-US" sz="2800">
                <a:ea typeface="+mn-lt"/>
                <a:cs typeface="+mn-lt"/>
              </a:rPr>
              <a:t>.</a:t>
            </a:r>
            <a:endParaRPr lang="en-US" sz="2800">
              <a:ea typeface="Calibri"/>
              <a:cs typeface="Calibri"/>
            </a:endParaRPr>
          </a:p>
          <a:p>
            <a:pPr marL="342900" indent="-342900">
              <a:buFont typeface="Wingdings"/>
              <a:buChar char="v"/>
            </a:pPr>
            <a:endParaRPr lang="en-US" sz="2800">
              <a:latin typeface="Calibri"/>
              <a:ea typeface="+mn-lt"/>
              <a:cs typeface="Calibri"/>
            </a:endParaRPr>
          </a:p>
          <a:p>
            <a:pPr algn="ctr"/>
            <a:r>
              <a:rPr lang="en-US" sz="4800" b="1" err="1">
                <a:highlight>
                  <a:srgbClr val="C9C9C9"/>
                </a:highlight>
                <a:latin typeface="Quattrocento"/>
                <a:ea typeface="+mn-lt"/>
                <a:cs typeface="Courier New"/>
              </a:rPr>
              <a:t>ΔXt</a:t>
            </a:r>
            <a:r>
              <a:rPr lang="en-US" sz="4800" b="1">
                <a:highlight>
                  <a:srgbClr val="C9C9C9"/>
                </a:highlight>
                <a:latin typeface="Quattrocento"/>
                <a:ea typeface="+mn-lt"/>
                <a:cs typeface="Courier New"/>
              </a:rPr>
              <a:t>  =  αβ'Xt-1  +  Σ Γᵢ </a:t>
            </a:r>
            <a:r>
              <a:rPr lang="en-US" sz="4800" b="1" err="1">
                <a:highlight>
                  <a:srgbClr val="C9C9C9"/>
                </a:highlight>
                <a:latin typeface="Quattrocento"/>
                <a:ea typeface="+mn-lt"/>
                <a:cs typeface="Courier New"/>
              </a:rPr>
              <a:t>ΔXt-i</a:t>
            </a:r>
            <a:r>
              <a:rPr lang="en-US" sz="4800" b="1">
                <a:highlight>
                  <a:srgbClr val="C9C9C9"/>
                </a:highlight>
                <a:latin typeface="Quattrocento"/>
                <a:ea typeface="+mn-lt"/>
                <a:cs typeface="Courier New"/>
              </a:rPr>
              <a:t>  +  μ  +  </a:t>
            </a:r>
            <a:r>
              <a:rPr lang="en-US" sz="4800" b="1" err="1">
                <a:highlight>
                  <a:srgbClr val="C9C9C9"/>
                </a:highlight>
                <a:latin typeface="Quattrocento"/>
                <a:ea typeface="+mn-lt"/>
                <a:cs typeface="Courier New"/>
              </a:rPr>
              <a:t>εt</a:t>
            </a:r>
            <a:endParaRPr lang="en-US" sz="4800">
              <a:latin typeface="Quattrocento"/>
              <a:ea typeface="Calibri"/>
              <a:cs typeface="Calibri"/>
            </a:endParaRPr>
          </a:p>
          <a:p>
            <a:endParaRPr lang="en-US" sz="4400" b="1">
              <a:highlight>
                <a:srgbClr val="C9C9C9"/>
              </a:highlight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1FBC42-5B76-07C7-0439-D65F5C04B947}"/>
              </a:ext>
            </a:extLst>
          </p:cNvPr>
          <p:cNvSpPr txBox="1"/>
          <p:nvPr/>
        </p:nvSpPr>
        <p:spPr>
          <a:xfrm>
            <a:off x="2894821" y="592877"/>
            <a:ext cx="1052878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 i="1">
                <a:solidFill>
                  <a:schemeClr val="bg1"/>
                </a:solidFill>
                <a:ea typeface="Calibri"/>
                <a:cs typeface="Calibri"/>
              </a:rPr>
              <a:t>Vector Error Correction Model </a:t>
            </a:r>
            <a:endParaRPr lang="en-US" sz="40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049A6E1-1624-D1BA-306C-3FC132D105F7}"/>
              </a:ext>
            </a:extLst>
          </p:cNvPr>
          <p:cNvSpPr txBox="1"/>
          <p:nvPr/>
        </p:nvSpPr>
        <p:spPr>
          <a:xfrm>
            <a:off x="1807970" y="5648530"/>
            <a:ext cx="13715879" cy="37283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b="1">
                <a:solidFill>
                  <a:srgbClr val="060D1F"/>
                </a:solidFill>
                <a:latin typeface="Calibri"/>
                <a:ea typeface="+mn-lt"/>
                <a:cs typeface="Calibri"/>
              </a:rPr>
              <a:t>αβ'Xt-1    </a:t>
            </a:r>
            <a:r>
              <a:rPr lang="en-US" sz="2800">
                <a:solidFill>
                  <a:srgbClr val="000000"/>
                </a:solidFill>
                <a:latin typeface="Calibri"/>
                <a:ea typeface="+mn-lt"/>
                <a:cs typeface="Calibri"/>
              </a:rPr>
              <a:t>Error Correction Term – Long Run adjustment</a:t>
            </a: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b="1">
                <a:solidFill>
                  <a:srgbClr val="060D1F"/>
                </a:solidFill>
                <a:latin typeface="Calibri"/>
                <a:ea typeface="+mn-lt"/>
                <a:cs typeface="Calibri"/>
              </a:rPr>
              <a:t>Γᵢ </a:t>
            </a:r>
            <a:r>
              <a:rPr lang="en-US" sz="2800" b="1" err="1">
                <a:solidFill>
                  <a:srgbClr val="060D1F"/>
                </a:solidFill>
                <a:latin typeface="Calibri"/>
                <a:ea typeface="+mn-lt"/>
                <a:cs typeface="Calibri"/>
              </a:rPr>
              <a:t>ΔXt-i</a:t>
            </a:r>
            <a:r>
              <a:rPr lang="en-US" sz="2800" b="1">
                <a:solidFill>
                  <a:srgbClr val="060D1F"/>
                </a:solidFill>
                <a:latin typeface="Calibri"/>
                <a:ea typeface="+mn-lt"/>
                <a:cs typeface="Calibri"/>
              </a:rPr>
              <a:t>     </a:t>
            </a:r>
            <a:r>
              <a:rPr lang="en-US" sz="2800">
                <a:solidFill>
                  <a:srgbClr val="060D1F"/>
                </a:solidFill>
                <a:latin typeface="Calibri"/>
                <a:ea typeface="+mn-lt"/>
                <a:cs typeface="Calibri"/>
              </a:rPr>
              <a:t>Lagged Differences – Short Run Dynamics</a:t>
            </a:r>
            <a:endParaRPr lang="en-US" sz="2800">
              <a:solidFill>
                <a:srgbClr val="060D1F"/>
              </a:solidFill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Font typeface="Arial"/>
              <a:buChar char="•"/>
            </a:pPr>
            <a:r>
              <a:rPr lang="en-US" sz="2800" b="1">
                <a:solidFill>
                  <a:srgbClr val="060D1F"/>
                </a:solidFill>
                <a:latin typeface="Calibri"/>
                <a:ea typeface="+mn-lt"/>
                <a:cs typeface="Calibri"/>
              </a:rPr>
              <a:t>α  </a:t>
            </a:r>
            <a:r>
              <a:rPr lang="en-US" sz="2800" b="1">
                <a:solidFill>
                  <a:srgbClr val="060D1F"/>
                </a:solidFill>
                <a:ea typeface="+mn-lt"/>
                <a:cs typeface="+mn-lt"/>
              </a:rPr>
              <a:t>             </a:t>
            </a:r>
            <a:r>
              <a:rPr lang="en-US" sz="2800">
                <a:ea typeface="+mn-lt"/>
                <a:cs typeface="+mn-lt"/>
              </a:rPr>
              <a:t>Adjustment Matrix - speed of adjustment toward equilibrium</a:t>
            </a:r>
            <a:endParaRPr lang="en-US">
              <a:ea typeface="Calibri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800" b="1">
                <a:ea typeface="+mn-lt"/>
                <a:cs typeface="+mn-lt"/>
              </a:rPr>
              <a:t> </a:t>
            </a:r>
            <a:r>
              <a:rPr lang="en-US" sz="2800" b="1">
                <a:solidFill>
                  <a:srgbClr val="060D1F"/>
                </a:solidFill>
                <a:ea typeface="+mn-lt"/>
                <a:cs typeface="+mn-lt"/>
              </a:rPr>
              <a:t>β</a:t>
            </a:r>
            <a:r>
              <a:rPr lang="en-US" sz="2800">
                <a:ea typeface="+mn-lt"/>
                <a:cs typeface="+mn-lt"/>
              </a:rPr>
              <a:t>                Cointegrating Vector - long-run equilibrium relationship</a:t>
            </a: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endParaRPr lang="en-US" sz="24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400">
              <a:ea typeface="Calibri"/>
              <a:cs typeface="Calibri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A22D30A-3C3C-984E-8403-9B886055BB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334" y="8638894"/>
            <a:ext cx="16539595" cy="106250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4AFC669-19F5-3958-FFDE-6933C86AA24D}"/>
              </a:ext>
            </a:extLst>
          </p:cNvPr>
          <p:cNvSpPr txBox="1"/>
          <p:nvPr/>
        </p:nvSpPr>
        <p:spPr>
          <a:xfrm>
            <a:off x="711680" y="8871415"/>
            <a:ext cx="1676366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Key Decomposition: </a:t>
            </a:r>
            <a:r>
              <a:rPr lang="en-US" sz="32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Π = αβ'  </a:t>
            </a:r>
            <a:r>
              <a:rPr lang="en-US" sz="3200">
                <a:solidFill>
                  <a:schemeClr val="bg1"/>
                </a:solidFill>
                <a:ea typeface="Calibri"/>
                <a:cs typeface="Calibri"/>
              </a:rPr>
              <a:t>where rank(Π) = r  (0 &lt; r &lt; k) ➜ </a:t>
            </a:r>
            <a:r>
              <a:rPr lang="en-US" sz="3200" b="1">
                <a:solidFill>
                  <a:schemeClr val="bg1"/>
                </a:solidFill>
                <a:ea typeface="Calibri"/>
                <a:cs typeface="Calibri"/>
              </a:rPr>
              <a:t>r = number of cointegrating vectors</a:t>
            </a:r>
            <a:endParaRPr lang="en-US" sz="32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78F82-ADEA-4036-3982-4326D53A4EEC}"/>
              </a:ext>
            </a:extLst>
          </p:cNvPr>
          <p:cNvSpPr txBox="1"/>
          <p:nvPr/>
        </p:nvSpPr>
        <p:spPr>
          <a:xfrm>
            <a:off x="1618825" y="5161227"/>
            <a:ext cx="1504509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 b="1" err="1">
                <a:ea typeface="+mn-lt"/>
                <a:cs typeface="+mn-lt"/>
              </a:rPr>
              <a:t>Xt</a:t>
            </a:r>
            <a:r>
              <a:rPr lang="en-US" sz="2800" b="1">
                <a:ea typeface="+mn-lt"/>
                <a:cs typeface="+mn-lt"/>
              </a:rPr>
              <a:t>  = vector of endogenous variables , </a:t>
            </a:r>
            <a:r>
              <a:rPr lang="en-US" sz="2800" b="1" err="1">
                <a:ea typeface="+mn-lt"/>
                <a:cs typeface="+mn-lt"/>
              </a:rPr>
              <a:t>ΔXt</a:t>
            </a:r>
            <a:r>
              <a:rPr lang="en-US" sz="2800" b="1">
                <a:ea typeface="+mn-lt"/>
                <a:cs typeface="+mn-lt"/>
              </a:rPr>
              <a:t>  = first differences (short-run changes)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8DD6450-B475-7C29-2EC2-DCE2D8EBF097}"/>
              </a:ext>
            </a:extLst>
          </p:cNvPr>
          <p:cNvSpPr txBox="1"/>
          <p:nvPr/>
        </p:nvSpPr>
        <p:spPr>
          <a:xfrm>
            <a:off x="1028699" y="695325"/>
            <a:ext cx="102393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000">
                <a:solidFill>
                  <a:srgbClr val="F0F8A4"/>
                </a:solidFill>
                <a:latin typeface="Montserrat Bold"/>
                <a:ea typeface="Calibri"/>
                <a:cs typeface="Calibri"/>
              </a:rPr>
              <a:t>03</a:t>
            </a:r>
            <a:endParaRPr lang="en-US" sz="3000">
              <a:solidFill>
                <a:srgbClr val="F0F8A4"/>
              </a:solidFill>
              <a:latin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546756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87B1E-E8D2-CAA0-4DAA-5412FC340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9B29371-11BA-2592-C282-86428B532964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0398E47-ADE1-97F1-B886-DDFDFE1C3F72}"/>
              </a:ext>
            </a:extLst>
          </p:cNvPr>
          <p:cNvSpPr txBox="1"/>
          <p:nvPr/>
        </p:nvSpPr>
        <p:spPr>
          <a:xfrm>
            <a:off x="1597285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245C954-2327-4E7A-5B64-51A8C7480290}"/>
              </a:ext>
            </a:extLst>
          </p:cNvPr>
          <p:cNvSpPr txBox="1"/>
          <p:nvPr/>
        </p:nvSpPr>
        <p:spPr>
          <a:xfrm>
            <a:off x="5565414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628382AE-4392-56B7-1D78-0AB4BC68BD26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D66AC5A6-F5DF-FA35-237E-725E77749E26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792E313D-4BDB-0051-7258-774F4C37216C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3A84D48F-85E8-45EE-06FD-6A42081B97C7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83F75D5F-9B0C-0647-19B2-11E75478DEB5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70083A94-372B-BF07-B949-4DC219010C2C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A94CE1E2-BD36-C7FF-60CA-67EF9129C64D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C53CB9D7-3DFC-7106-F2AA-7CDC4CCA863D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C3A11CA7-C000-10E2-904E-8D0C1572DB99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8E2485FC-45E6-847A-4E22-9C8C1F3F372B}"/>
              </a:ext>
            </a:extLst>
          </p:cNvPr>
          <p:cNvGrpSpPr/>
          <p:nvPr/>
        </p:nvGrpSpPr>
        <p:grpSpPr>
          <a:xfrm>
            <a:off x="1044146" y="412687"/>
            <a:ext cx="718334" cy="1007856"/>
            <a:chOff x="0" y="-32064"/>
            <a:chExt cx="189191" cy="265444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CFF4BC60-1FFA-6E01-856F-FBDB489DEBBE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5FC149E0-D25B-C553-5FB7-F076A9A0E82C}"/>
                </a:ext>
              </a:extLst>
            </p:cNvPr>
            <p:cNvSpPr txBox="1"/>
            <p:nvPr/>
          </p:nvSpPr>
          <p:spPr>
            <a:xfrm>
              <a:off x="0" y="-32064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F21FD896-96BC-D9F9-9D8F-6CB3ED7CF561}"/>
              </a:ext>
            </a:extLst>
          </p:cNvPr>
          <p:cNvSpPr txBox="1"/>
          <p:nvPr/>
        </p:nvSpPr>
        <p:spPr>
          <a:xfrm>
            <a:off x="2101996" y="546968"/>
            <a:ext cx="11764361" cy="7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+mn-lt"/>
                <a:sym typeface="League Gothic"/>
              </a:rPr>
              <a:t>DATASET OVERVIEW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BED3C23-0B1B-7679-F824-7D4646BB2381}"/>
              </a:ext>
            </a:extLst>
          </p:cNvPr>
          <p:cNvGraphicFramePr>
            <a:graphicFrameLocks noGrp="1"/>
          </p:cNvGraphicFramePr>
          <p:nvPr/>
        </p:nvGraphicFramePr>
        <p:xfrm>
          <a:off x="1594643" y="1620043"/>
          <a:ext cx="4732307" cy="330192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7023">
                  <a:extLst>
                    <a:ext uri="{9D8B030D-6E8A-4147-A177-3AD203B41FA5}">
                      <a16:colId xmlns:a16="http://schemas.microsoft.com/office/drawing/2014/main" val="1188013531"/>
                    </a:ext>
                  </a:extLst>
                </a:gridCol>
                <a:gridCol w="3115284">
                  <a:extLst>
                    <a:ext uri="{9D8B030D-6E8A-4147-A177-3AD203B41FA5}">
                      <a16:colId xmlns:a16="http://schemas.microsoft.com/office/drawing/2014/main" val="1970118433"/>
                    </a:ext>
                  </a:extLst>
                </a:gridCol>
              </a:tblGrid>
              <a:tr h="44127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Code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Series</a:t>
                      </a:r>
                      <a:endParaRPr lang="en-US" sz="20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5874368"/>
                  </a:ext>
                </a:extLst>
              </a:tr>
              <a:tr h="42605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y1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effectLst/>
                        </a:rPr>
                        <a:t>Food Credit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7834263"/>
                  </a:ext>
                </a:extLst>
              </a:tr>
              <a:tr h="60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y2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effectLst/>
                        </a:rPr>
                        <a:t>Agriculture &amp; Allied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759616"/>
                  </a:ext>
                </a:extLst>
              </a:tr>
              <a:tr h="60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y3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effectLst/>
                        </a:rPr>
                        <a:t>Industry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00643"/>
                  </a:ext>
                </a:extLst>
              </a:tr>
              <a:tr h="60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y4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effectLst/>
                        </a:rPr>
                        <a:t>Services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5649106"/>
                  </a:ext>
                </a:extLst>
              </a:tr>
              <a:tr h="60865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</a:rPr>
                        <a:t>y5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800" b="1">
                          <a:effectLst/>
                        </a:rPr>
                        <a:t>Personal Loans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1486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25F8689F-E03B-A07D-66DA-3BAF7CDA4385}"/>
              </a:ext>
            </a:extLst>
          </p:cNvPr>
          <p:cNvSpPr txBox="1"/>
          <p:nvPr/>
        </p:nvSpPr>
        <p:spPr>
          <a:xfrm>
            <a:off x="7981156" y="3136899"/>
            <a:ext cx="8159750" cy="5847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solidFill>
                  <a:srgbClr val="000000"/>
                </a:solidFill>
                <a:ea typeface="+mn-lt"/>
                <a:cs typeface="+mn-lt"/>
              </a:rPr>
              <a:t>Gross Bank Credit </a:t>
            </a:r>
            <a:r>
              <a:rPr lang="en-US" sz="3200" b="1" baseline="-25000">
                <a:solidFill>
                  <a:srgbClr val="000000"/>
                </a:solidFill>
                <a:ea typeface="+mn-lt"/>
                <a:cs typeface="+mn-lt"/>
              </a:rPr>
              <a:t>t</a:t>
            </a:r>
            <a:r>
              <a:rPr lang="en-US" sz="3200" b="1">
                <a:solidFill>
                  <a:srgbClr val="000000"/>
                </a:solidFill>
                <a:ea typeface="+mn-lt"/>
                <a:cs typeface="+mn-lt"/>
              </a:rPr>
              <a:t> = y</a:t>
            </a:r>
            <a:r>
              <a:rPr lang="en-US" sz="3200" b="1" baseline="-25000">
                <a:solidFill>
                  <a:srgbClr val="000000"/>
                </a:solidFill>
                <a:ea typeface="+mn-lt"/>
                <a:cs typeface="+mn-lt"/>
              </a:rPr>
              <a:t>1t</a:t>
            </a:r>
            <a:r>
              <a:rPr lang="en-US" sz="3200" b="1">
                <a:solidFill>
                  <a:srgbClr val="000000"/>
                </a:solidFill>
                <a:ea typeface="+mn-lt"/>
                <a:cs typeface="+mn-lt"/>
              </a:rPr>
              <a:t> + y</a:t>
            </a:r>
            <a:r>
              <a:rPr lang="en-US" sz="3200" b="1" baseline="-25000">
                <a:solidFill>
                  <a:srgbClr val="000000"/>
                </a:solidFill>
                <a:ea typeface="+mn-lt"/>
                <a:cs typeface="+mn-lt"/>
              </a:rPr>
              <a:t>2t</a:t>
            </a:r>
            <a:r>
              <a:rPr lang="en-US" sz="3200" b="1">
                <a:solidFill>
                  <a:srgbClr val="000000"/>
                </a:solidFill>
                <a:ea typeface="+mn-lt"/>
                <a:cs typeface="+mn-lt"/>
              </a:rPr>
              <a:t> + y</a:t>
            </a:r>
            <a:r>
              <a:rPr lang="en-US" sz="3200" b="1" baseline="-25000">
                <a:solidFill>
                  <a:srgbClr val="000000"/>
                </a:solidFill>
                <a:ea typeface="+mn-lt"/>
                <a:cs typeface="+mn-lt"/>
              </a:rPr>
              <a:t>3t</a:t>
            </a:r>
            <a:r>
              <a:rPr lang="en-US" sz="3200" b="1">
                <a:solidFill>
                  <a:srgbClr val="000000"/>
                </a:solidFill>
                <a:ea typeface="+mn-lt"/>
                <a:cs typeface="+mn-lt"/>
              </a:rPr>
              <a:t> + y</a:t>
            </a:r>
            <a:r>
              <a:rPr lang="en-US" sz="3200" b="1" baseline="-25000">
                <a:solidFill>
                  <a:srgbClr val="000000"/>
                </a:solidFill>
                <a:ea typeface="+mn-lt"/>
                <a:cs typeface="+mn-lt"/>
              </a:rPr>
              <a:t>4t</a:t>
            </a:r>
            <a:r>
              <a:rPr lang="en-US" sz="3200" b="1">
                <a:solidFill>
                  <a:srgbClr val="000000"/>
                </a:solidFill>
                <a:ea typeface="+mn-lt"/>
                <a:cs typeface="+mn-lt"/>
              </a:rPr>
              <a:t> + y</a:t>
            </a:r>
            <a:r>
              <a:rPr lang="en-US" sz="3200" b="1" baseline="-25000">
                <a:solidFill>
                  <a:srgbClr val="000000"/>
                </a:solidFill>
                <a:ea typeface="+mn-lt"/>
                <a:cs typeface="+mn-lt"/>
              </a:rPr>
              <a:t>5t</a:t>
            </a:r>
            <a:endParaRPr lang="en-US" sz="3200" baseline="-25000">
              <a:solidFill>
                <a:srgbClr val="000000"/>
              </a:solidFill>
              <a:ea typeface="Calibri"/>
              <a:cs typeface="Calibri"/>
            </a:endParaRPr>
          </a:p>
        </p:txBody>
      </p:sp>
      <p:pic>
        <p:nvPicPr>
          <p:cNvPr id="11" name="Picture 10" descr="A graph of a line graph">
            <a:extLst>
              <a:ext uri="{FF2B5EF4-FFF2-40B4-BE49-F238E27FC236}">
                <a16:creationId xmlns:a16="http://schemas.microsoft.com/office/drawing/2014/main" id="{45B60877-D851-7254-6871-48C57D462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5426" y="5303044"/>
            <a:ext cx="12747625" cy="466407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4834CA0-3F76-72D1-6B17-87385ACF5B2D}"/>
              </a:ext>
            </a:extLst>
          </p:cNvPr>
          <p:cNvSpPr txBox="1"/>
          <p:nvPr/>
        </p:nvSpPr>
        <p:spPr>
          <a:xfrm>
            <a:off x="6741177" y="1868776"/>
            <a:ext cx="1039588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A key feature of this dataset is the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exact additive relationship between the five sector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variables and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 total Gross Bank Credit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401529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E5C0B-204E-D5BC-0588-A3BF995B0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A836BC6-ADB4-FF80-AD6C-96FD30038192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360C60E0-3B73-73E6-31C3-8A73AB45D49E}"/>
              </a:ext>
            </a:extLst>
          </p:cNvPr>
          <p:cNvSpPr txBox="1"/>
          <p:nvPr/>
        </p:nvSpPr>
        <p:spPr>
          <a:xfrm>
            <a:off x="5565414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0314702B-92AD-DC9B-1237-D82EBEDDEB1E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12EEEE3C-82A3-B5E6-F985-719FDFF78EA9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8BAE5C62-2AAE-BD2F-6053-7ECBEFF4A6D4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59803E81-923E-48BD-023B-C911840C212B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75EF687F-306A-8907-C3F9-FEB357392AB9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C4EE5BFC-8706-A9AE-A904-C6F3169A4DE5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CFF7C871-3908-AFB4-B489-0119589B7F73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3974AA79-9FB7-B9A8-0DA6-6E7350A9F6B7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F318AA83-FA83-6C84-232D-D1F5CBE1B5CE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CED9DB77-ABE5-1220-1E1C-42CA2F870A6E}"/>
              </a:ext>
            </a:extLst>
          </p:cNvPr>
          <p:cNvGrpSpPr/>
          <p:nvPr/>
        </p:nvGrpSpPr>
        <p:grpSpPr>
          <a:xfrm>
            <a:off x="1044146" y="412687"/>
            <a:ext cx="718334" cy="1007856"/>
            <a:chOff x="0" y="-32064"/>
            <a:chExt cx="189191" cy="265444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0042DA78-1A07-14E8-6207-5B9304A9FED1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63763987-3F75-2110-3CE6-34F13EA2EF3A}"/>
                </a:ext>
              </a:extLst>
            </p:cNvPr>
            <p:cNvSpPr txBox="1"/>
            <p:nvPr/>
          </p:nvSpPr>
          <p:spPr>
            <a:xfrm>
              <a:off x="0" y="-32064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A1032E20-F307-E4E2-1A38-3B405A824E53}"/>
              </a:ext>
            </a:extLst>
          </p:cNvPr>
          <p:cNvSpPr txBox="1"/>
          <p:nvPr/>
        </p:nvSpPr>
        <p:spPr>
          <a:xfrm>
            <a:off x="2101996" y="546968"/>
            <a:ext cx="11764361" cy="1540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+mn-lt"/>
                <a:sym typeface="League Gothic"/>
              </a:rPr>
              <a:t>JOHANSEN PROCEDURE</a:t>
            </a:r>
          </a:p>
          <a:p>
            <a:pPr>
              <a:lnSpc>
                <a:spcPts val="6160"/>
              </a:lnSpc>
              <a:spcBef>
                <a:spcPct val="0"/>
              </a:spcBef>
            </a:pPr>
            <a:endParaRPr lang="en-US" sz="4400">
              <a:solidFill>
                <a:srgbClr val="FFFFFF"/>
              </a:solidFill>
              <a:latin typeface="League Gothic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29F059-7E2E-5440-5604-FA334ECAD7A8}"/>
              </a:ext>
            </a:extLst>
          </p:cNvPr>
          <p:cNvSpPr txBox="1"/>
          <p:nvPr/>
        </p:nvSpPr>
        <p:spPr>
          <a:xfrm>
            <a:off x="340377" y="1475076"/>
            <a:ext cx="1760948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400">
                <a:ea typeface="+mn-lt"/>
                <a:cs typeface="+mn-lt"/>
              </a:rPr>
              <a:t> </a:t>
            </a:r>
            <a:r>
              <a:rPr lang="en-US" sz="2800">
                <a:ea typeface="+mn-lt"/>
                <a:cs typeface="+mn-lt"/>
              </a:rPr>
              <a:t>Before applying the Johansen test, the</a:t>
            </a:r>
            <a:r>
              <a:rPr lang="en-US" sz="2800" b="1">
                <a:ea typeface="+mn-lt"/>
                <a:cs typeface="+mn-lt"/>
              </a:rPr>
              <a:t> VAR lag length (p)</a:t>
            </a:r>
            <a:r>
              <a:rPr lang="en-US" sz="2800">
                <a:ea typeface="+mn-lt"/>
                <a:cs typeface="+mn-lt"/>
              </a:rPr>
              <a:t> is selected by estimating unrestricted</a:t>
            </a:r>
            <a:r>
              <a:rPr lang="en-US" sz="2800" b="1">
                <a:ea typeface="+mn-lt"/>
                <a:cs typeface="+mn-lt"/>
              </a:rPr>
              <a:t> VAR models</a:t>
            </a:r>
            <a:r>
              <a:rPr lang="en-US" sz="2800">
                <a:ea typeface="+mn-lt"/>
                <a:cs typeface="+mn-lt"/>
              </a:rPr>
              <a:t> and </a:t>
            </a:r>
            <a:r>
              <a:rPr lang="en-US" sz="2800" b="1">
                <a:ea typeface="+mn-lt"/>
                <a:cs typeface="+mn-lt"/>
              </a:rPr>
              <a:t>comparing information criteria</a:t>
            </a:r>
            <a:r>
              <a:rPr lang="en-US" sz="2800">
                <a:ea typeface="+mn-lt"/>
                <a:cs typeface="+mn-lt"/>
              </a:rPr>
              <a:t>.</a:t>
            </a:r>
            <a:endParaRPr lang="en-US" sz="2800" b="1">
              <a:ea typeface="+mn-lt"/>
              <a:cs typeface="+mn-lt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B351675-B9F0-6D6D-D083-A0F7501D68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9928788"/>
              </p:ext>
            </p:extLst>
          </p:nvPr>
        </p:nvGraphicFramePr>
        <p:xfrm>
          <a:off x="2089150" y="2990850"/>
          <a:ext cx="13311740" cy="100812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2690">
                  <a:extLst>
                    <a:ext uri="{9D8B030D-6E8A-4147-A177-3AD203B41FA5}">
                      <a16:colId xmlns:a16="http://schemas.microsoft.com/office/drawing/2014/main" val="2321957899"/>
                    </a:ext>
                  </a:extLst>
                </a:gridCol>
                <a:gridCol w="3560117">
                  <a:extLst>
                    <a:ext uri="{9D8B030D-6E8A-4147-A177-3AD203B41FA5}">
                      <a16:colId xmlns:a16="http://schemas.microsoft.com/office/drawing/2014/main" val="1337563304"/>
                    </a:ext>
                  </a:extLst>
                </a:gridCol>
                <a:gridCol w="3598816">
                  <a:extLst>
                    <a:ext uri="{9D8B030D-6E8A-4147-A177-3AD203B41FA5}">
                      <a16:colId xmlns:a16="http://schemas.microsoft.com/office/drawing/2014/main" val="1040117603"/>
                    </a:ext>
                  </a:extLst>
                </a:gridCol>
                <a:gridCol w="3560117">
                  <a:extLst>
                    <a:ext uri="{9D8B030D-6E8A-4147-A177-3AD203B41FA5}">
                      <a16:colId xmlns:a16="http://schemas.microsoft.com/office/drawing/2014/main" val="3141298453"/>
                    </a:ext>
                  </a:extLst>
                </a:gridCol>
              </a:tblGrid>
              <a:tr h="46123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Lag p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AIC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BIC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Recommendation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140382"/>
                  </a:ext>
                </a:extLst>
              </a:tr>
              <a:tr h="54076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 = 1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-39.1092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-38.2471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333333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← AIC &amp; BIC minimum ✓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9658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87704E8-1098-E466-712F-0CFE8BBD154F}"/>
              </a:ext>
            </a:extLst>
          </p:cNvPr>
          <p:cNvSpPr txBox="1"/>
          <p:nvPr/>
        </p:nvSpPr>
        <p:spPr>
          <a:xfrm>
            <a:off x="2677177" y="4313526"/>
            <a:ext cx="1216753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ea typeface="+mn-lt"/>
                <a:cs typeface="+mn-lt"/>
              </a:rPr>
              <a:t> All criteria (AIC, BIC) are </a:t>
            </a:r>
            <a:r>
              <a:rPr lang="en-US" sz="2800" b="1" err="1">
                <a:ea typeface="+mn-lt"/>
                <a:cs typeface="+mn-lt"/>
              </a:rPr>
              <a:t>minimised</a:t>
            </a:r>
            <a:r>
              <a:rPr lang="en-US" sz="2800" b="1">
                <a:ea typeface="+mn-lt"/>
                <a:cs typeface="+mn-lt"/>
              </a:rPr>
              <a:t> at p = 1</a:t>
            </a:r>
            <a:r>
              <a:rPr lang="en-US" sz="2800">
                <a:ea typeface="+mn-lt"/>
                <a:cs typeface="+mn-lt"/>
              </a:rPr>
              <a:t>. The VECM uses </a:t>
            </a:r>
            <a:r>
              <a:rPr lang="en-US" sz="2800" b="1">
                <a:ea typeface="+mn-lt"/>
                <a:cs typeface="+mn-lt"/>
              </a:rPr>
              <a:t>p = 1 lag in levels</a:t>
            </a:r>
            <a:endParaRPr lang="en-US" sz="280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377F3E-67C7-CCDC-4773-BEB669E5DEEA}"/>
              </a:ext>
            </a:extLst>
          </p:cNvPr>
          <p:cNvSpPr txBox="1"/>
          <p:nvPr/>
        </p:nvSpPr>
        <p:spPr>
          <a:xfrm>
            <a:off x="340377" y="5342226"/>
            <a:ext cx="176094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b="1">
                <a:ea typeface="+mn-lt"/>
                <a:cs typeface="+mn-lt"/>
              </a:rPr>
              <a:t>Johansen Test Results: </a:t>
            </a:r>
            <a:r>
              <a:rPr lang="en-US" sz="2800">
                <a:ea typeface="+mn-lt"/>
                <a:cs typeface="+mn-lt"/>
              </a:rPr>
              <a:t>Individual Hypothesis Test</a:t>
            </a:r>
            <a:r>
              <a:rPr lang="en-US" sz="1000">
                <a:ea typeface="+mn-lt"/>
                <a:cs typeface="+mn-lt"/>
              </a:rPr>
              <a:t>s</a:t>
            </a:r>
            <a:r>
              <a:rPr lang="en-US" sz="2800">
                <a:ea typeface="+mn-lt"/>
                <a:cs typeface="+mn-lt"/>
              </a:rPr>
              <a:t>. (Cointegrating rank </a:t>
            </a:r>
            <a:r>
              <a:rPr lang="en-US" sz="2800" b="1">
                <a:ea typeface="+mn-lt"/>
                <a:cs typeface="+mn-lt"/>
              </a:rPr>
              <a:t>r = 3)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64DD2E3-378B-54F8-125B-51E7549645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6572730"/>
              </p:ext>
            </p:extLst>
          </p:nvPr>
        </p:nvGraphicFramePr>
        <p:xfrm>
          <a:off x="2381250" y="6057900"/>
          <a:ext cx="13533758" cy="37862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5979">
                  <a:extLst>
                    <a:ext uri="{9D8B030D-6E8A-4147-A177-3AD203B41FA5}">
                      <a16:colId xmlns:a16="http://schemas.microsoft.com/office/drawing/2014/main" val="1676176465"/>
                    </a:ext>
                  </a:extLst>
                </a:gridCol>
                <a:gridCol w="1699685">
                  <a:extLst>
                    <a:ext uri="{9D8B030D-6E8A-4147-A177-3AD203B41FA5}">
                      <a16:colId xmlns:a16="http://schemas.microsoft.com/office/drawing/2014/main" val="4155309322"/>
                    </a:ext>
                  </a:extLst>
                </a:gridCol>
                <a:gridCol w="1465979">
                  <a:extLst>
                    <a:ext uri="{9D8B030D-6E8A-4147-A177-3AD203B41FA5}">
                      <a16:colId xmlns:a16="http://schemas.microsoft.com/office/drawing/2014/main" val="1205719989"/>
                    </a:ext>
                  </a:extLst>
                </a:gridCol>
                <a:gridCol w="2039625">
                  <a:extLst>
                    <a:ext uri="{9D8B030D-6E8A-4147-A177-3AD203B41FA5}">
                      <a16:colId xmlns:a16="http://schemas.microsoft.com/office/drawing/2014/main" val="13211447"/>
                    </a:ext>
                  </a:extLst>
                </a:gridCol>
                <a:gridCol w="1593458">
                  <a:extLst>
                    <a:ext uri="{9D8B030D-6E8A-4147-A177-3AD203B41FA5}">
                      <a16:colId xmlns:a16="http://schemas.microsoft.com/office/drawing/2014/main" val="1154246510"/>
                    </a:ext>
                  </a:extLst>
                </a:gridCol>
                <a:gridCol w="1784674">
                  <a:extLst>
                    <a:ext uri="{9D8B030D-6E8A-4147-A177-3AD203B41FA5}">
                      <a16:colId xmlns:a16="http://schemas.microsoft.com/office/drawing/2014/main" val="1692399420"/>
                    </a:ext>
                  </a:extLst>
                </a:gridCol>
                <a:gridCol w="1614701">
                  <a:extLst>
                    <a:ext uri="{9D8B030D-6E8A-4147-A177-3AD203B41FA5}">
                      <a16:colId xmlns:a16="http://schemas.microsoft.com/office/drawing/2014/main" val="1792815204"/>
                    </a:ext>
                  </a:extLst>
                </a:gridCol>
                <a:gridCol w="1869657">
                  <a:extLst>
                    <a:ext uri="{9D8B030D-6E8A-4147-A177-3AD203B41FA5}">
                      <a16:colId xmlns:a16="http://schemas.microsoft.com/office/drawing/2014/main" val="478857729"/>
                    </a:ext>
                  </a:extLst>
                </a:gridCol>
              </a:tblGrid>
              <a:tr h="103988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Null </a:t>
                      </a:r>
                      <a:r>
                        <a:rPr lang="en-US" sz="2400" b="1" i="0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Hypothes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Trace Stat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CV 5%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Trace Decision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Max-Eig Stat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CV 5%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Max Decision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Eigenvalue λ̂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405903"/>
                  </a:ext>
                </a:extLst>
              </a:tr>
              <a:tr h="5599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H0: r = 0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117.93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68.52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Reject ✓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50.08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33.46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Reject ✓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0.4491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693968"/>
                  </a:ext>
                </a:extLst>
              </a:tr>
              <a:tr h="5599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H0: r ≤ 1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67.85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47.21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Reject ✓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32.19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27.07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Reject ✓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0.3184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4345994"/>
                  </a:ext>
                </a:extLst>
              </a:tr>
              <a:tr h="55993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H0: r ≤ 2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35.66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29.68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Reject ✓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22.22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20.97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Reject ✓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0.2324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4714808"/>
                  </a:ext>
                </a:extLst>
              </a:tr>
              <a:tr h="533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H0: r ≤ 3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13.44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15.41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8B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Accept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11.99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14.07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8B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Accept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0.1330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492660"/>
                  </a:ext>
                </a:extLst>
              </a:tr>
              <a:tr h="53327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H0: r ≤ 4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1.45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3.76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8B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Accept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1.45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3.76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solidFill>
                            <a:srgbClr val="8B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Accept</a:t>
                      </a:r>
                      <a:endParaRPr lang="en-US" sz="24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i="0">
                          <a:effectLst/>
                          <a:latin typeface="Calibri"/>
                          <a:ea typeface="Calibri"/>
                          <a:cs typeface="Calibri"/>
                        </a:rPr>
                        <a:t>0.0171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2520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7324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62D90-4DC1-407C-9914-D36933B9F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4A8CBF4-E3E1-57EA-9B54-813A0C0CD5F3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2C9BB33A-9757-CB4C-4106-74044006C7A9}"/>
              </a:ext>
            </a:extLst>
          </p:cNvPr>
          <p:cNvSpPr txBox="1"/>
          <p:nvPr/>
        </p:nvSpPr>
        <p:spPr>
          <a:xfrm>
            <a:off x="5565414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C0783852-21B9-316A-D6BA-B0574B51EB21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264BB157-2005-1898-9B87-BAAE75B9A303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01ECC3C9-5403-0573-6A1F-E5905BD808AB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9DC29CBE-7374-D975-0638-3E3F940CF2A0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B230433F-340D-20F5-35B7-89E49E5EA037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D685A773-5A2B-464F-C756-0C661DB48B5F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D8A87FAB-AD53-D012-10C5-9502E28F4784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A15A4D68-5373-0C7F-AFF0-6811F254A1A7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12B149FF-C4AA-0E7A-03BB-281674F25922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A84AD769-4F52-1CEB-DF75-432A317EF060}"/>
              </a:ext>
            </a:extLst>
          </p:cNvPr>
          <p:cNvGrpSpPr/>
          <p:nvPr/>
        </p:nvGrpSpPr>
        <p:grpSpPr>
          <a:xfrm>
            <a:off x="1044146" y="393638"/>
            <a:ext cx="718334" cy="1007856"/>
            <a:chOff x="0" y="-37081"/>
            <a:chExt cx="189191" cy="265444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91FA859F-C6FC-297E-CFE2-6C3CB7B92A10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D8CF0CCE-D67F-A9F9-D213-13CCDDFEDB8A}"/>
                </a:ext>
              </a:extLst>
            </p:cNvPr>
            <p:cNvSpPr txBox="1"/>
            <p:nvPr/>
          </p:nvSpPr>
          <p:spPr>
            <a:xfrm>
              <a:off x="0" y="-37081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6F70D92A-F10D-4A73-1980-CAB335737379}"/>
              </a:ext>
            </a:extLst>
          </p:cNvPr>
          <p:cNvSpPr txBox="1"/>
          <p:nvPr/>
        </p:nvSpPr>
        <p:spPr>
          <a:xfrm>
            <a:off x="2101996" y="546968"/>
            <a:ext cx="11764361" cy="7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+mn-lt"/>
              </a:rPr>
              <a:t>ESTIMATION OF PARAMETERS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6F21F2-F333-554A-0D34-DCE7728CB0B7}"/>
              </a:ext>
            </a:extLst>
          </p:cNvPr>
          <p:cNvSpPr txBox="1"/>
          <p:nvPr/>
        </p:nvSpPr>
        <p:spPr>
          <a:xfrm>
            <a:off x="340377" y="1475076"/>
            <a:ext cx="1760948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 b="1">
                <a:ea typeface="+mn-lt"/>
                <a:cs typeface="+mn-lt"/>
              </a:rPr>
              <a:t>The Cointegrating Vector Matrix β</a:t>
            </a:r>
            <a:r>
              <a:rPr lang="en-US" sz="2800">
                <a:ea typeface="+mn-lt"/>
                <a:cs typeface="+mn-lt"/>
              </a:rPr>
              <a:t>: The three cointegrating vectors</a:t>
            </a:r>
            <a:r>
              <a:rPr lang="en-US" sz="2800" b="1">
                <a:ea typeface="+mn-lt"/>
                <a:cs typeface="+mn-lt"/>
              </a:rPr>
              <a:t> β</a:t>
            </a:r>
            <a:r>
              <a:rPr lang="en-US" sz="2800" b="1" baseline="-25000">
                <a:ea typeface="+mn-lt"/>
                <a:cs typeface="+mn-lt"/>
              </a:rPr>
              <a:t>1</a:t>
            </a:r>
            <a:r>
              <a:rPr lang="en-US" sz="2800" b="1">
                <a:ea typeface="+mn-lt"/>
                <a:cs typeface="+mn-lt"/>
              </a:rPr>
              <a:t>,β</a:t>
            </a:r>
            <a:r>
              <a:rPr lang="en-US" sz="2800" b="1" baseline="-25000">
                <a:ea typeface="+mn-lt"/>
                <a:cs typeface="+mn-lt"/>
              </a:rPr>
              <a:t>2</a:t>
            </a:r>
            <a:r>
              <a:rPr lang="en-US" sz="2800" b="1">
                <a:ea typeface="+mn-lt"/>
                <a:cs typeface="+mn-lt"/>
              </a:rPr>
              <a:t>,β</a:t>
            </a:r>
            <a:r>
              <a:rPr lang="en-US" sz="2800" b="1" baseline="-25000">
                <a:ea typeface="+mn-lt"/>
                <a:cs typeface="+mn-lt"/>
              </a:rPr>
              <a:t>3</a:t>
            </a:r>
            <a:r>
              <a:rPr lang="en-US" sz="2800">
                <a:ea typeface="+mn-lt"/>
                <a:cs typeface="+mn-lt"/>
              </a:rPr>
              <a:t> are estimated as the </a:t>
            </a:r>
            <a:r>
              <a:rPr lang="en-US" sz="2800" b="1">
                <a:ea typeface="+mn-lt"/>
                <a:cs typeface="+mn-lt"/>
              </a:rPr>
              <a:t>eigenvectors</a:t>
            </a:r>
            <a:r>
              <a:rPr lang="en-US" sz="2800">
                <a:ea typeface="+mn-lt"/>
                <a:cs typeface="+mn-lt"/>
              </a:rPr>
              <a:t> of the reduced-rank regression matrix corresponding to the </a:t>
            </a:r>
            <a:r>
              <a:rPr lang="en-US" sz="2800" b="1">
                <a:ea typeface="+mn-lt"/>
                <a:cs typeface="+mn-lt"/>
              </a:rPr>
              <a:t>three largest eigenvalues  λ̂</a:t>
            </a:r>
            <a:r>
              <a:rPr lang="en-US" sz="2800" b="1" baseline="-25000">
                <a:ea typeface="+mn-lt"/>
                <a:cs typeface="+mn-lt"/>
              </a:rPr>
              <a:t>1</a:t>
            </a:r>
            <a:r>
              <a:rPr lang="en-US" sz="2800" b="1">
                <a:ea typeface="+mn-lt"/>
                <a:cs typeface="+mn-lt"/>
              </a:rPr>
              <a:t>,  λ̂</a:t>
            </a:r>
            <a:r>
              <a:rPr lang="en-US" sz="2800" b="1" baseline="-25000">
                <a:ea typeface="+mn-lt"/>
                <a:cs typeface="+mn-lt"/>
              </a:rPr>
              <a:t>2</a:t>
            </a:r>
            <a:r>
              <a:rPr lang="en-US" sz="2800" b="1">
                <a:ea typeface="+mn-lt"/>
                <a:cs typeface="+mn-lt"/>
              </a:rPr>
              <a:t>,  λ̂</a:t>
            </a:r>
            <a:r>
              <a:rPr lang="en-US" sz="2800" b="1" baseline="-25000">
                <a:ea typeface="+mn-lt"/>
                <a:cs typeface="+mn-lt"/>
              </a:rPr>
              <a:t>3</a:t>
            </a:r>
            <a:endParaRPr lang="en-US" sz="2800" b="1" baseline="-2500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994E35-BC5D-21E7-D317-C321E2A5E62A}"/>
              </a:ext>
            </a:extLst>
          </p:cNvPr>
          <p:cNvSpPr txBox="1"/>
          <p:nvPr/>
        </p:nvSpPr>
        <p:spPr>
          <a:xfrm>
            <a:off x="360697" y="7296756"/>
            <a:ext cx="17497725" cy="19645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 algn="ctr">
              <a:lnSpc>
                <a:spcPct val="150000"/>
              </a:lnSpc>
              <a:buFont typeface="Wingdings"/>
              <a:buChar char="v"/>
            </a:pPr>
            <a:r>
              <a:rPr lang="en-US" sz="2800" b="1">
                <a:ea typeface="+mn-lt"/>
                <a:cs typeface="+mn-lt"/>
              </a:rPr>
              <a:t>ECT1</a:t>
            </a:r>
            <a:r>
              <a:rPr lang="en-US" sz="2800" b="1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= ln(Food)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b="1">
                <a:ea typeface="+mn-lt"/>
                <a:cs typeface="+mn-lt"/>
              </a:rPr>
              <a:t>- 17.879</a:t>
            </a:r>
            <a:r>
              <a:rPr lang="en-US" sz="2800">
                <a:ea typeface="+mn-lt"/>
                <a:cs typeface="+mn-lt"/>
              </a:rPr>
              <a:t> ln(Agri)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b="1">
                <a:ea typeface="+mn-lt"/>
                <a:cs typeface="+mn-lt"/>
              </a:rPr>
              <a:t>+ 6.187</a:t>
            </a:r>
            <a:r>
              <a:rPr lang="en-US" sz="2800">
                <a:ea typeface="+mn-lt"/>
                <a:cs typeface="+mn-lt"/>
              </a:rPr>
              <a:t> ln(Indus</a:t>
            </a:r>
            <a:r>
              <a:rPr lang="en-US" sz="2800" baseline="-25000">
                <a:ea typeface="+mn-lt"/>
                <a:cs typeface="+mn-lt"/>
              </a:rPr>
              <a:t>)t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b="1">
                <a:ea typeface="+mn-lt"/>
                <a:cs typeface="+mn-lt"/>
              </a:rPr>
              <a:t>- 9.263</a:t>
            </a:r>
            <a:r>
              <a:rPr lang="en-US" sz="2800">
                <a:ea typeface="+mn-lt"/>
                <a:cs typeface="+mn-lt"/>
              </a:rPr>
              <a:t> ln(Serv)t </a:t>
            </a:r>
            <a:r>
              <a:rPr lang="en-US" sz="2800" b="1">
                <a:ea typeface="+mn-lt"/>
                <a:cs typeface="+mn-lt"/>
              </a:rPr>
              <a:t>+ 18.632</a:t>
            </a:r>
            <a:r>
              <a:rPr lang="en-US" sz="2800">
                <a:ea typeface="+mn-lt"/>
                <a:cs typeface="+mn-lt"/>
              </a:rPr>
              <a:t> ln(PL)</a:t>
            </a:r>
            <a:r>
              <a:rPr lang="en-US" sz="2800" baseline="-25000">
                <a:ea typeface="+mn-lt"/>
                <a:cs typeface="+mn-lt"/>
              </a:rPr>
              <a:t>t </a:t>
            </a:r>
            <a:r>
              <a:rPr lang="en-US" sz="2800">
                <a:ea typeface="+mn-lt"/>
                <a:cs typeface="+mn-lt"/>
              </a:rPr>
              <a:t> </a:t>
            </a:r>
            <a:endParaRPr lang="en-US">
              <a:ea typeface="Calibri"/>
              <a:cs typeface="Calibri"/>
            </a:endParaRPr>
          </a:p>
          <a:p>
            <a:pPr marL="457200" indent="-457200" algn="ctr">
              <a:lnSpc>
                <a:spcPct val="150000"/>
              </a:lnSpc>
              <a:buFont typeface="Wingdings"/>
              <a:buChar char="v"/>
            </a:pPr>
            <a:r>
              <a:rPr lang="en-US" sz="2800" b="1">
                <a:ea typeface="+mn-lt"/>
                <a:cs typeface="+mn-lt"/>
              </a:rPr>
              <a:t>ECT2</a:t>
            </a:r>
            <a:r>
              <a:rPr lang="en-US" sz="2800" b="1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= ln(Food)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b="1">
                <a:ea typeface="+mn-lt"/>
                <a:cs typeface="+mn-lt"/>
              </a:rPr>
              <a:t>- 2.624</a:t>
            </a:r>
            <a:r>
              <a:rPr lang="en-US" sz="2800">
                <a:ea typeface="+mn-lt"/>
                <a:cs typeface="+mn-lt"/>
              </a:rPr>
              <a:t> ln(Agri)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b="1">
                <a:ea typeface="+mn-lt"/>
                <a:cs typeface="+mn-lt"/>
              </a:rPr>
              <a:t>- 1.426</a:t>
            </a:r>
            <a:r>
              <a:rPr lang="en-US" sz="2800">
                <a:ea typeface="+mn-lt"/>
                <a:cs typeface="+mn-lt"/>
              </a:rPr>
              <a:t> ln(Indus)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 b="1">
                <a:ea typeface="+mn-lt"/>
                <a:cs typeface="+mn-lt"/>
              </a:rPr>
              <a:t> - 0.974</a:t>
            </a:r>
            <a:r>
              <a:rPr lang="en-US" sz="2800">
                <a:ea typeface="+mn-lt"/>
                <a:cs typeface="+mn-lt"/>
              </a:rPr>
              <a:t>ln(Serv)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  </a:t>
            </a:r>
            <a:r>
              <a:rPr lang="en-US" sz="2800" b="1">
                <a:ea typeface="+mn-lt"/>
                <a:cs typeface="+mn-lt"/>
              </a:rPr>
              <a:t>+ 4.455</a:t>
            </a:r>
            <a:r>
              <a:rPr lang="en-US" sz="2800">
                <a:ea typeface="+mn-lt"/>
                <a:cs typeface="+mn-lt"/>
              </a:rPr>
              <a:t> ln(PL)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  </a:t>
            </a:r>
            <a:endParaRPr lang="en-US" sz="2800">
              <a:ea typeface="Calibri"/>
              <a:cs typeface="Calibri"/>
            </a:endParaRPr>
          </a:p>
          <a:p>
            <a:pPr marL="457200" indent="-457200" algn="ctr">
              <a:lnSpc>
                <a:spcPct val="150000"/>
              </a:lnSpc>
              <a:buFont typeface="Wingdings"/>
              <a:buChar char="v"/>
            </a:pPr>
            <a:r>
              <a:rPr lang="en-US" sz="2800" b="1">
                <a:ea typeface="+mn-lt"/>
                <a:cs typeface="+mn-lt"/>
              </a:rPr>
              <a:t>ECT3</a:t>
            </a:r>
            <a:r>
              <a:rPr lang="en-US" sz="2800" b="1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= ln(Food)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</a:t>
            </a:r>
            <a:r>
              <a:rPr lang="en-US" sz="2800" b="1">
                <a:ea typeface="+mn-lt"/>
                <a:cs typeface="+mn-lt"/>
              </a:rPr>
              <a:t>+ 3.652</a:t>
            </a:r>
            <a:r>
              <a:rPr lang="en-US" sz="2800">
                <a:ea typeface="+mn-lt"/>
                <a:cs typeface="+mn-lt"/>
              </a:rPr>
              <a:t> ln(Agri)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- </a:t>
            </a:r>
            <a:r>
              <a:rPr lang="en-US" sz="2800" b="1">
                <a:ea typeface="+mn-lt"/>
                <a:cs typeface="+mn-lt"/>
              </a:rPr>
              <a:t>7.803</a:t>
            </a:r>
            <a:r>
              <a:rPr lang="en-US" sz="2800">
                <a:ea typeface="+mn-lt"/>
                <a:cs typeface="+mn-lt"/>
              </a:rPr>
              <a:t> ln(Indus)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+</a:t>
            </a:r>
            <a:r>
              <a:rPr lang="en-US" sz="2800" b="1">
                <a:ea typeface="+mn-lt"/>
                <a:cs typeface="+mn-lt"/>
              </a:rPr>
              <a:t> 16.959</a:t>
            </a:r>
            <a:r>
              <a:rPr lang="en-US" sz="2800">
                <a:ea typeface="+mn-lt"/>
                <a:cs typeface="+mn-lt"/>
              </a:rPr>
              <a:t> ln(Serv)</a:t>
            </a:r>
            <a:r>
              <a:rPr lang="en-US" sz="2800" baseline="-25000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-</a:t>
            </a:r>
            <a:r>
              <a:rPr lang="en-US" sz="2800" b="1">
                <a:ea typeface="+mn-lt"/>
                <a:cs typeface="+mn-lt"/>
              </a:rPr>
              <a:t> 11.977 </a:t>
            </a:r>
            <a:r>
              <a:rPr lang="en-US" sz="2800">
                <a:ea typeface="+mn-lt"/>
                <a:cs typeface="+mn-lt"/>
              </a:rPr>
              <a:t>ln(PL)</a:t>
            </a:r>
            <a:r>
              <a:rPr lang="en-US" sz="2800" baseline="-25000">
                <a:ea typeface="+mn-lt"/>
                <a:cs typeface="+mn-lt"/>
              </a:rPr>
              <a:t>t </a:t>
            </a:r>
            <a:r>
              <a:rPr lang="en-US" sz="2800">
                <a:ea typeface="+mn-lt"/>
                <a:cs typeface="+mn-lt"/>
              </a:rPr>
              <a:t>  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B14D1A-3249-1B98-C915-5E6BFB94E550}"/>
              </a:ext>
            </a:extLst>
          </p:cNvPr>
          <p:cNvSpPr txBox="1"/>
          <p:nvPr/>
        </p:nvSpPr>
        <p:spPr>
          <a:xfrm>
            <a:off x="340377" y="9590376"/>
            <a:ext cx="1760948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800">
                <a:ea typeface="+mn-lt"/>
                <a:cs typeface="+mn-lt"/>
              </a:rPr>
              <a:t>Each of equations represents a linear combination of the five log-credit series that is stationary.</a:t>
            </a:r>
            <a:endParaRPr lang="en-US" sz="2800" b="1">
              <a:ea typeface="+mn-lt"/>
              <a:cs typeface="+mn-lt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8CCAD1-6457-CC0A-B0EE-51D1C510F2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589398"/>
              </p:ext>
            </p:extLst>
          </p:nvPr>
        </p:nvGraphicFramePr>
        <p:xfrm>
          <a:off x="5580380" y="2717800"/>
          <a:ext cx="7130954" cy="437195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87381">
                  <a:extLst>
                    <a:ext uri="{9D8B030D-6E8A-4147-A177-3AD203B41FA5}">
                      <a16:colId xmlns:a16="http://schemas.microsoft.com/office/drawing/2014/main" val="2127281454"/>
                    </a:ext>
                  </a:extLst>
                </a:gridCol>
                <a:gridCol w="1357202">
                  <a:extLst>
                    <a:ext uri="{9D8B030D-6E8A-4147-A177-3AD203B41FA5}">
                      <a16:colId xmlns:a16="http://schemas.microsoft.com/office/drawing/2014/main" val="3295551827"/>
                    </a:ext>
                  </a:extLst>
                </a:gridCol>
                <a:gridCol w="1263603">
                  <a:extLst>
                    <a:ext uri="{9D8B030D-6E8A-4147-A177-3AD203B41FA5}">
                      <a16:colId xmlns:a16="http://schemas.microsoft.com/office/drawing/2014/main" val="3517377364"/>
                    </a:ext>
                  </a:extLst>
                </a:gridCol>
                <a:gridCol w="1922768">
                  <a:extLst>
                    <a:ext uri="{9D8B030D-6E8A-4147-A177-3AD203B41FA5}">
                      <a16:colId xmlns:a16="http://schemas.microsoft.com/office/drawing/2014/main" val="2513434085"/>
                    </a:ext>
                  </a:extLst>
                </a:gridCol>
              </a:tblGrid>
              <a:tr h="7292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β₁ (CV1)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β₂ (CV2)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β₃ (CV3)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2052371"/>
                  </a:ext>
                </a:extLst>
              </a:tr>
              <a:tr h="62197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y1: Food Credit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1.0000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1.0000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1.0000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8484768"/>
                  </a:ext>
                </a:extLst>
              </a:tr>
              <a:tr h="77211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y2: Agriculture &amp; Allied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-17.8785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-2.6235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3.6523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9689000"/>
                  </a:ext>
                </a:extLst>
              </a:tr>
              <a:tr h="7292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y3: Industry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6.1866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-1.4256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-7.8027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350489"/>
                  </a:ext>
                </a:extLst>
              </a:tr>
              <a:tr h="7292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y4: Services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-9.2633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-0.9737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16.9592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1747604"/>
                  </a:ext>
                </a:extLst>
              </a:tr>
              <a:tr h="72921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y5: Personal Loans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18.6320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4.4550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-11.9765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3300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78518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4A246-C834-69BD-F1B1-3322BD98E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13F2821-EFD5-C980-4BB6-3206A6E29DF7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0D3FB14B-9489-5854-5ED1-6A848200AA9C}"/>
              </a:ext>
            </a:extLst>
          </p:cNvPr>
          <p:cNvSpPr txBox="1"/>
          <p:nvPr/>
        </p:nvSpPr>
        <p:spPr>
          <a:xfrm>
            <a:off x="5565414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91D524E0-86D8-16AD-FE74-193E944C5183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CBC1FBEE-4E4A-E7BE-307E-B68971EEB3A2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8E9518FD-3AE4-0F8E-194E-273AB633A1C6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F07DD64D-9B81-ACDF-C4A9-A962D16490F9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175EE49E-94AE-4C23-06B6-D754CC931DEC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43C9B479-A345-A101-AFB0-6B70396748D2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EF3C1596-D120-521A-2197-D56DB5A66D8D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C73D1D82-B011-D296-0D91-5598184FF8C0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DCECA8D0-71D4-9045-AC20-CF4025ABFD4C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BF0731B7-2455-31CF-6F6E-E4014CA80BA7}"/>
              </a:ext>
            </a:extLst>
          </p:cNvPr>
          <p:cNvGrpSpPr/>
          <p:nvPr/>
        </p:nvGrpSpPr>
        <p:grpSpPr>
          <a:xfrm>
            <a:off x="1044146" y="431740"/>
            <a:ext cx="718334" cy="1045958"/>
            <a:chOff x="0" y="-27046"/>
            <a:chExt cx="189191" cy="275479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1844C7D3-57DA-B4C5-2D04-320D02357EF4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194B00F6-1EDE-67AE-F121-3DEB6872D711}"/>
                </a:ext>
              </a:extLst>
            </p:cNvPr>
            <p:cNvSpPr txBox="1"/>
            <p:nvPr/>
          </p:nvSpPr>
          <p:spPr>
            <a:xfrm>
              <a:off x="0" y="-27046"/>
              <a:ext cx="189191" cy="27547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74DDD23C-9ECC-838A-C26B-BE9B08F7813E}"/>
              </a:ext>
            </a:extLst>
          </p:cNvPr>
          <p:cNvSpPr txBox="1"/>
          <p:nvPr/>
        </p:nvSpPr>
        <p:spPr>
          <a:xfrm>
            <a:off x="2101996" y="546968"/>
            <a:ext cx="11764361" cy="7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+mn-lt"/>
              </a:rPr>
              <a:t>ESTIMATION OF PARAMETERS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48D63-6089-4558-BB1C-458AE3CA6431}"/>
              </a:ext>
            </a:extLst>
          </p:cNvPr>
          <p:cNvSpPr txBox="1"/>
          <p:nvPr/>
        </p:nvSpPr>
        <p:spPr>
          <a:xfrm>
            <a:off x="340377" y="1475076"/>
            <a:ext cx="17609485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 b="1">
                <a:ea typeface="+mn-lt"/>
                <a:cs typeface="+mn-lt"/>
              </a:rPr>
              <a:t>The Loading Matrix α</a:t>
            </a:r>
            <a:r>
              <a:rPr lang="en-US" sz="2800">
                <a:ea typeface="+mn-lt"/>
                <a:cs typeface="+mn-lt"/>
              </a:rPr>
              <a:t>: The loading matrix α is estimated by</a:t>
            </a:r>
            <a:r>
              <a:rPr lang="en-US" sz="2800" b="1">
                <a:ea typeface="+mn-lt"/>
                <a:cs typeface="+mn-lt"/>
              </a:rPr>
              <a:t> OLS regression of </a:t>
            </a:r>
            <a:r>
              <a:rPr lang="en-US" sz="2800" b="1" err="1">
                <a:ea typeface="+mn-lt"/>
                <a:cs typeface="+mn-lt"/>
              </a:rPr>
              <a:t>ΔY</a:t>
            </a:r>
            <a:r>
              <a:rPr lang="en-US" sz="2800" b="1" baseline="-25000" err="1">
                <a:ea typeface="+mn-lt"/>
                <a:cs typeface="+mn-lt"/>
              </a:rPr>
              <a:t>t</a:t>
            </a:r>
            <a:r>
              <a:rPr lang="en-US" sz="2800">
                <a:ea typeface="+mn-lt"/>
                <a:cs typeface="+mn-lt"/>
              </a:rPr>
              <a:t> on the three</a:t>
            </a:r>
            <a:r>
              <a:rPr lang="en-US" sz="2800" b="1">
                <a:ea typeface="+mn-lt"/>
                <a:cs typeface="+mn-lt"/>
              </a:rPr>
              <a:t> ECTs (β'Y</a:t>
            </a:r>
            <a:r>
              <a:rPr lang="en-US" sz="2800" b="1" baseline="-25000">
                <a:ea typeface="+mn-lt"/>
                <a:cs typeface="+mn-lt"/>
              </a:rPr>
              <a:t>{t-1}</a:t>
            </a:r>
            <a:r>
              <a:rPr lang="en-US" sz="2800" b="1">
                <a:ea typeface="+mn-lt"/>
                <a:cs typeface="+mn-lt"/>
              </a:rPr>
              <a:t>)</a:t>
            </a:r>
            <a:r>
              <a:rPr lang="en-US" sz="2800">
                <a:ea typeface="+mn-lt"/>
                <a:cs typeface="+mn-lt"/>
              </a:rPr>
              <a:t> and the constant </a:t>
            </a:r>
            <a:r>
              <a:rPr lang="en-US" sz="2800" b="1">
                <a:ea typeface="+mn-lt"/>
                <a:cs typeface="+mn-lt"/>
              </a:rPr>
              <a:t>μ</a:t>
            </a:r>
          </a:p>
          <a:p>
            <a:r>
              <a:rPr lang="en-US" sz="2800">
                <a:ea typeface="+mn-lt"/>
                <a:cs typeface="+mn-lt"/>
              </a:rPr>
              <a:t>                                          </a:t>
            </a:r>
            <a:r>
              <a:rPr lang="en-US" sz="3200" b="1">
                <a:ea typeface="+mn-lt"/>
                <a:cs typeface="+mn-lt"/>
              </a:rPr>
              <a:t>               </a:t>
            </a:r>
            <a:endParaRPr lang="en-US" sz="3200" b="1" baseline="-25000">
              <a:ea typeface="Calibri"/>
              <a:cs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755B38F-627A-6946-12D5-C659E5EDFF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264863"/>
              </p:ext>
            </p:extLst>
          </p:nvPr>
        </p:nvGraphicFramePr>
        <p:xfrm>
          <a:off x="4578723" y="2924511"/>
          <a:ext cx="8339251" cy="396240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33587">
                  <a:extLst>
                    <a:ext uri="{9D8B030D-6E8A-4147-A177-3AD203B41FA5}">
                      <a16:colId xmlns:a16="http://schemas.microsoft.com/office/drawing/2014/main" val="522141266"/>
                    </a:ext>
                  </a:extLst>
                </a:gridCol>
                <a:gridCol w="1582350">
                  <a:extLst>
                    <a:ext uri="{9D8B030D-6E8A-4147-A177-3AD203B41FA5}">
                      <a16:colId xmlns:a16="http://schemas.microsoft.com/office/drawing/2014/main" val="4192361665"/>
                    </a:ext>
                  </a:extLst>
                </a:gridCol>
                <a:gridCol w="2075865">
                  <a:extLst>
                    <a:ext uri="{9D8B030D-6E8A-4147-A177-3AD203B41FA5}">
                      <a16:colId xmlns:a16="http://schemas.microsoft.com/office/drawing/2014/main" val="1220859175"/>
                    </a:ext>
                  </a:extLst>
                </a:gridCol>
                <a:gridCol w="2147449">
                  <a:extLst>
                    <a:ext uri="{9D8B030D-6E8A-4147-A177-3AD203B41FA5}">
                      <a16:colId xmlns:a16="http://schemas.microsoft.com/office/drawing/2014/main" val="3100489589"/>
                    </a:ext>
                  </a:extLst>
                </a:gridCol>
              </a:tblGrid>
              <a:tr h="95238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α₁ (Loading on ECT1)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α₂ (Loading on ECT2)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α₃ (Loading on ECT3)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938575"/>
                  </a:ext>
                </a:extLst>
              </a:tr>
              <a:tr h="5442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y1: Food Credit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</a:rPr>
                        <a:t>-0.03146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</a:rPr>
                        <a:t>-0.52062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</a:rPr>
                        <a:t>-0.03875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0670343"/>
                  </a:ext>
                </a:extLst>
              </a:tr>
              <a:tr h="5442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y2: Agriculture &amp; Allied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5E20"/>
                          </a:solidFill>
                          <a:effectLst/>
                        </a:rPr>
                        <a:t>0.00861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5E20"/>
                          </a:solidFill>
                          <a:effectLst/>
                        </a:rPr>
                        <a:t>0.00701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</a:rPr>
                        <a:t>-0.00036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0007856"/>
                  </a:ext>
                </a:extLst>
              </a:tr>
              <a:tr h="5442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y3: Industry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5E20"/>
                          </a:solidFill>
                          <a:effectLst/>
                        </a:rPr>
                        <a:t>0.01180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</a:rPr>
                        <a:t>-0.00300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</a:rPr>
                        <a:t>-0.00337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595955"/>
                  </a:ext>
                </a:extLst>
              </a:tr>
              <a:tr h="5442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y4: Services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5E20"/>
                          </a:solidFill>
                          <a:effectLst/>
                        </a:rPr>
                        <a:t>0.01376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5E20"/>
                          </a:solidFill>
                          <a:effectLst/>
                        </a:rPr>
                        <a:t>0.02147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</a:rPr>
                        <a:t>-0.02024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7812661"/>
                  </a:ext>
                </a:extLst>
              </a:tr>
              <a:tr h="5442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y5: Personal Loans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5E20"/>
                          </a:solidFill>
                          <a:effectLst/>
                        </a:rPr>
                        <a:t>0.00173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5E20"/>
                          </a:solidFill>
                          <a:effectLst/>
                        </a:rPr>
                        <a:t>0.00378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</a:rPr>
                        <a:t>-0.00465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0839083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16946A3-E742-2DDC-7077-6089776309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073917"/>
              </p:ext>
            </p:extLst>
          </p:nvPr>
        </p:nvGraphicFramePr>
        <p:xfrm>
          <a:off x="3981450" y="8420100"/>
          <a:ext cx="9553817" cy="15600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16666">
                  <a:extLst>
                    <a:ext uri="{9D8B030D-6E8A-4147-A177-3AD203B41FA5}">
                      <a16:colId xmlns:a16="http://schemas.microsoft.com/office/drawing/2014/main" val="1948425502"/>
                    </a:ext>
                  </a:extLst>
                </a:gridCol>
                <a:gridCol w="1483897">
                  <a:extLst>
                    <a:ext uri="{9D8B030D-6E8A-4147-A177-3AD203B41FA5}">
                      <a16:colId xmlns:a16="http://schemas.microsoft.com/office/drawing/2014/main" val="4271874565"/>
                    </a:ext>
                  </a:extLst>
                </a:gridCol>
                <a:gridCol w="1454802">
                  <a:extLst>
                    <a:ext uri="{9D8B030D-6E8A-4147-A177-3AD203B41FA5}">
                      <a16:colId xmlns:a16="http://schemas.microsoft.com/office/drawing/2014/main" val="1195438835"/>
                    </a:ext>
                  </a:extLst>
                </a:gridCol>
                <a:gridCol w="1319639">
                  <a:extLst>
                    <a:ext uri="{9D8B030D-6E8A-4147-A177-3AD203B41FA5}">
                      <a16:colId xmlns:a16="http://schemas.microsoft.com/office/drawing/2014/main" val="330141629"/>
                    </a:ext>
                  </a:extLst>
                </a:gridCol>
                <a:gridCol w="1803955">
                  <a:extLst>
                    <a:ext uri="{9D8B030D-6E8A-4147-A177-3AD203B41FA5}">
                      <a16:colId xmlns:a16="http://schemas.microsoft.com/office/drawing/2014/main" val="3283329082"/>
                    </a:ext>
                  </a:extLst>
                </a:gridCol>
                <a:gridCol w="1774858">
                  <a:extLst>
                    <a:ext uri="{9D8B030D-6E8A-4147-A177-3AD203B41FA5}">
                      <a16:colId xmlns:a16="http://schemas.microsoft.com/office/drawing/2014/main" val="3779038534"/>
                    </a:ext>
                  </a:extLst>
                </a:gridCol>
              </a:tblGrid>
              <a:tr h="7268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Component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μ₁ (Food)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μ₂ (Agri)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μ₃ (Indus)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μ₄ (Serv)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μ₅ (PL)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2447884"/>
                  </a:ext>
                </a:extLst>
              </a:tr>
              <a:tr h="7268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Estimated μᵢ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2744"/>
                          </a:solidFill>
                          <a:effectLst/>
                        </a:rPr>
                        <a:t>2.17155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2744"/>
                          </a:solidFill>
                          <a:effectLst/>
                        </a:rPr>
                        <a:t>0.07624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2744"/>
                          </a:solidFill>
                          <a:effectLst/>
                        </a:rPr>
                        <a:t>0.19108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2744"/>
                          </a:solidFill>
                          <a:effectLst/>
                        </a:rPr>
                        <a:t>0.43671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2744"/>
                          </a:solidFill>
                          <a:effectLst/>
                        </a:rPr>
                        <a:t>0.10044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9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0902465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2A501EE7-6570-C7B1-ADBD-2B6CBD983D60}"/>
              </a:ext>
            </a:extLst>
          </p:cNvPr>
          <p:cNvSpPr txBox="1"/>
          <p:nvPr/>
        </p:nvSpPr>
        <p:spPr>
          <a:xfrm>
            <a:off x="340377" y="7223693"/>
            <a:ext cx="1760948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 b="1"/>
              <a:t>The constant vector </a:t>
            </a:r>
            <a:r>
              <a:rPr lang="el-GR" sz="2800" b="1"/>
              <a:t>μ</a:t>
            </a:r>
            <a:r>
              <a:rPr lang="el-GR" sz="2800"/>
              <a:t> </a:t>
            </a:r>
            <a:r>
              <a:rPr lang="en-US" sz="2800"/>
              <a:t>is estimated </a:t>
            </a:r>
            <a:r>
              <a:rPr lang="en-US" sz="2800" b="1"/>
              <a:t>along with </a:t>
            </a:r>
            <a:r>
              <a:rPr lang="el-GR" sz="2800" b="1"/>
              <a:t>α</a:t>
            </a:r>
            <a:r>
              <a:rPr lang="el-GR" sz="2800"/>
              <a:t> </a:t>
            </a:r>
            <a:r>
              <a:rPr lang="en-US" sz="2800"/>
              <a:t>and captures </a:t>
            </a:r>
            <a:r>
              <a:rPr lang="en-US" sz="2800" b="1"/>
              <a:t>sector-specific trend</a:t>
            </a:r>
            <a:r>
              <a:rPr lang="en-US" sz="2800"/>
              <a:t> growth that is </a:t>
            </a:r>
            <a:r>
              <a:rPr lang="en-US" sz="2800" b="1"/>
              <a:t>not</a:t>
            </a:r>
            <a:r>
              <a:rPr lang="en-US" sz="2800"/>
              <a:t> explained by the error correction mechanism.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0EC0CBF-4D13-DAE2-6D56-8D808C7ACF93}"/>
              </a:ext>
            </a:extLst>
          </p:cNvPr>
          <p:cNvSpPr txBox="1"/>
          <p:nvPr/>
        </p:nvSpPr>
        <p:spPr>
          <a:xfrm>
            <a:off x="4819548" y="2062901"/>
            <a:ext cx="8650431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ea typeface="Calibri"/>
                <a:cs typeface="Calibri"/>
              </a:rPr>
              <a:t> </a:t>
            </a:r>
            <a:r>
              <a:rPr lang="en-US" sz="3200" b="1" err="1">
                <a:ea typeface="Calibri"/>
                <a:cs typeface="Calibri"/>
              </a:rPr>
              <a:t>ΔY</a:t>
            </a:r>
            <a:r>
              <a:rPr lang="en-US" sz="2100" b="1" baseline="-25000" err="1">
                <a:ea typeface="Calibri"/>
                <a:cs typeface="Calibri"/>
              </a:rPr>
              <a:t>t</a:t>
            </a:r>
            <a:r>
              <a:rPr lang="en-US" sz="3200" b="1">
                <a:ea typeface="Calibri"/>
                <a:cs typeface="Calibri"/>
              </a:rPr>
              <a:t> = α [ECT1</a:t>
            </a:r>
            <a:r>
              <a:rPr lang="en-US" sz="2100" b="1" baseline="-25000">
                <a:ea typeface="Calibri"/>
                <a:cs typeface="Calibri"/>
              </a:rPr>
              <a:t>{t-1}</a:t>
            </a:r>
            <a:r>
              <a:rPr lang="en-US" sz="3200" b="1">
                <a:ea typeface="Calibri"/>
                <a:cs typeface="Calibri"/>
              </a:rPr>
              <a:t>, ECT2</a:t>
            </a:r>
            <a:r>
              <a:rPr lang="en-US" sz="2100" b="1" baseline="-25000">
                <a:ea typeface="Calibri"/>
                <a:cs typeface="Calibri"/>
              </a:rPr>
              <a:t>{t-1}</a:t>
            </a:r>
            <a:r>
              <a:rPr lang="en-US" sz="3200" b="1">
                <a:ea typeface="Calibri"/>
                <a:cs typeface="Calibri"/>
              </a:rPr>
              <a:t>, ECT3</a:t>
            </a:r>
            <a:r>
              <a:rPr lang="en-US" sz="2100" b="1" baseline="-25000">
                <a:ea typeface="Calibri"/>
                <a:cs typeface="Calibri"/>
              </a:rPr>
              <a:t>{t-1}</a:t>
            </a:r>
            <a:r>
              <a:rPr lang="en-US" sz="3200" b="1">
                <a:ea typeface="Calibri"/>
                <a:cs typeface="Calibri"/>
              </a:rPr>
              <a:t>]' + μ + </a:t>
            </a:r>
            <a:r>
              <a:rPr lang="en-US" sz="3200" b="1" err="1">
                <a:ea typeface="Calibri"/>
                <a:cs typeface="Calibri"/>
              </a:rPr>
              <a:t>ε</a:t>
            </a:r>
            <a:r>
              <a:rPr lang="en-US" sz="2100" b="1" baseline="-25000" err="1">
                <a:ea typeface="Calibri"/>
                <a:cs typeface="Calibri"/>
              </a:rPr>
              <a:t>t</a:t>
            </a:r>
            <a:endParaRPr lang="en-US" sz="210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19225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B6AB-6BC1-F778-BA9F-5753EEE75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D6C78C4-1E1D-889F-0F0F-61A4559EF751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4525A88-EA44-690B-0D8D-78167D76FA06}"/>
              </a:ext>
            </a:extLst>
          </p:cNvPr>
          <p:cNvSpPr txBox="1"/>
          <p:nvPr/>
        </p:nvSpPr>
        <p:spPr>
          <a:xfrm>
            <a:off x="5565414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AFCD347A-8AEA-0895-6DB8-0290B080EE16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16FB9BC1-E014-A6A6-9AAC-711116292A43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1F7FC741-1F32-67C6-AFEA-C72929F10B62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174D3A99-69D4-46B6-1AE0-7FA2668A6EEE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2B984655-CA4C-9277-0484-971F7EC27B43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370F4AC2-1678-129D-1784-2B8FC3C0C4CC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37A5EC24-C29B-E050-9B17-F350660B5718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C41C3211-CB6B-77CB-9A94-2CD812BB6710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F92FE98D-3158-DDC4-8025-705237B90505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B4E71A95-412E-01C3-408D-A11C34F4D9CA}"/>
              </a:ext>
            </a:extLst>
          </p:cNvPr>
          <p:cNvGrpSpPr/>
          <p:nvPr/>
        </p:nvGrpSpPr>
        <p:grpSpPr>
          <a:xfrm>
            <a:off x="1044146" y="412687"/>
            <a:ext cx="718334" cy="1007856"/>
            <a:chOff x="0" y="-32064"/>
            <a:chExt cx="189191" cy="265444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CA0E6B20-D626-6EA8-8AE4-8B340747322B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4F887CDD-1FF5-9659-2B89-83F4213041E0}"/>
                </a:ext>
              </a:extLst>
            </p:cNvPr>
            <p:cNvSpPr txBox="1"/>
            <p:nvPr/>
          </p:nvSpPr>
          <p:spPr>
            <a:xfrm>
              <a:off x="0" y="-32064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03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3BDDCE2B-67A3-A1C3-714B-60A81A41F8EF}"/>
              </a:ext>
            </a:extLst>
          </p:cNvPr>
          <p:cNvSpPr txBox="1"/>
          <p:nvPr/>
        </p:nvSpPr>
        <p:spPr>
          <a:xfrm>
            <a:off x="2101996" y="546968"/>
            <a:ext cx="11764361" cy="7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+mn-lt"/>
              </a:rPr>
              <a:t>FORECAST ACCURACY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24141-62BF-72B6-8D37-B5A9AF50EFAD}"/>
              </a:ext>
            </a:extLst>
          </p:cNvPr>
          <p:cNvSpPr txBox="1"/>
          <p:nvPr/>
        </p:nvSpPr>
        <p:spPr>
          <a:xfrm>
            <a:off x="340377" y="1475076"/>
            <a:ext cx="1760948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2800">
                <a:solidFill>
                  <a:srgbClr val="444444"/>
                </a:solidFill>
                <a:ea typeface="+mn-lt"/>
                <a:cs typeface="+mn-lt"/>
              </a:rPr>
              <a:t>The </a:t>
            </a:r>
            <a:r>
              <a:rPr lang="en-US" sz="2800" b="1">
                <a:solidFill>
                  <a:srgbClr val="444444"/>
                </a:solidFill>
                <a:ea typeface="+mn-lt"/>
                <a:cs typeface="+mn-lt"/>
              </a:rPr>
              <a:t>multi-step forecast</a:t>
            </a:r>
            <a:r>
              <a:rPr lang="en-US" sz="2800">
                <a:solidFill>
                  <a:srgbClr val="444444"/>
                </a:solidFill>
                <a:ea typeface="+mn-lt"/>
                <a:cs typeface="+mn-lt"/>
              </a:rPr>
              <a:t> is generated by</a:t>
            </a:r>
            <a:r>
              <a:rPr lang="en-US" sz="2800" b="1">
                <a:solidFill>
                  <a:srgbClr val="444444"/>
                </a:solidFill>
                <a:ea typeface="+mn-lt"/>
                <a:cs typeface="+mn-lt"/>
              </a:rPr>
              <a:t> recursively applying</a:t>
            </a:r>
            <a:r>
              <a:rPr lang="en-US" sz="2800">
                <a:solidFill>
                  <a:srgbClr val="444444"/>
                </a:solidFill>
                <a:ea typeface="+mn-lt"/>
                <a:cs typeface="+mn-lt"/>
              </a:rPr>
              <a:t> this </a:t>
            </a:r>
            <a:r>
              <a:rPr lang="en-US" sz="2800">
                <a:ea typeface="+mn-lt"/>
                <a:cs typeface="+mn-lt"/>
              </a:rPr>
              <a:t>estimated VECM equation forward</a:t>
            </a:r>
            <a:r>
              <a:rPr lang="en-US" sz="2800">
                <a:solidFill>
                  <a:srgbClr val="444444"/>
                </a:solidFill>
                <a:ea typeface="+mn-lt"/>
                <a:cs typeface="+mn-lt"/>
              </a:rPr>
              <a:t> from the</a:t>
            </a:r>
            <a:r>
              <a:rPr lang="en-US" sz="2800" b="1">
                <a:solidFill>
                  <a:srgbClr val="444444"/>
                </a:solidFill>
                <a:ea typeface="+mn-lt"/>
                <a:cs typeface="+mn-lt"/>
              </a:rPr>
              <a:t> last training observation</a:t>
            </a:r>
            <a:r>
              <a:rPr lang="en-US" sz="2800">
                <a:ea typeface="Calibri"/>
                <a:cs typeface="Calibri"/>
              </a:rPr>
              <a:t>    </a:t>
            </a:r>
            <a:endParaRPr lang="en-US" sz="3200" b="1"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A130F0-14AA-DD86-5587-EDCCB8D6F23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9" r="130" b="5682"/>
          <a:stretch>
            <a:fillRect/>
          </a:stretch>
        </p:blipFill>
        <p:spPr>
          <a:xfrm>
            <a:off x="340451" y="2322367"/>
            <a:ext cx="17585178" cy="1904214"/>
          </a:xfrm>
          <a:prstGeom prst="rect">
            <a:avLst/>
          </a:prstGeom>
        </p:spPr>
      </p:pic>
      <p:pic>
        <p:nvPicPr>
          <p:cNvPr id="5" name="Picture 4" descr="A graph of a line graph">
            <a:extLst>
              <a:ext uri="{FF2B5EF4-FFF2-40B4-BE49-F238E27FC236}">
                <a16:creationId xmlns:a16="http://schemas.microsoft.com/office/drawing/2014/main" id="{F59D0F1D-34C0-DF0E-6105-37233E851E6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50" t="1984" r="137" b="-397"/>
          <a:stretch>
            <a:fillRect/>
          </a:stretch>
        </p:blipFill>
        <p:spPr>
          <a:xfrm>
            <a:off x="1117772" y="4260533"/>
            <a:ext cx="15286922" cy="461633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B7A4CFD-6255-09E6-FDE1-300E7EDE8D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64759"/>
              </p:ext>
            </p:extLst>
          </p:nvPr>
        </p:nvGraphicFramePr>
        <p:xfrm>
          <a:off x="3779520" y="9098280"/>
          <a:ext cx="9945329" cy="87376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864427">
                  <a:extLst>
                    <a:ext uri="{9D8B030D-6E8A-4147-A177-3AD203B41FA5}">
                      <a16:colId xmlns:a16="http://schemas.microsoft.com/office/drawing/2014/main" val="274183652"/>
                    </a:ext>
                  </a:extLst>
                </a:gridCol>
                <a:gridCol w="3575662">
                  <a:extLst>
                    <a:ext uri="{9D8B030D-6E8A-4147-A177-3AD203B41FA5}">
                      <a16:colId xmlns:a16="http://schemas.microsoft.com/office/drawing/2014/main" val="1023332666"/>
                    </a:ext>
                  </a:extLst>
                </a:gridCol>
                <a:gridCol w="2505240">
                  <a:extLst>
                    <a:ext uri="{9D8B030D-6E8A-4147-A177-3AD203B41FA5}">
                      <a16:colId xmlns:a16="http://schemas.microsoft.com/office/drawing/2014/main" val="3444491366"/>
                    </a:ext>
                  </a:extLst>
                </a:gridCol>
              </a:tblGrid>
              <a:tr h="34684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RMSE (Rs. Cr)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rgbClr val="FFFFFF"/>
                          </a:solidFill>
                          <a:effectLst/>
                        </a:rPr>
                        <a:t>MAPE</a:t>
                      </a:r>
                      <a:endParaRPr lang="en-US" sz="20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71692"/>
                  </a:ext>
                </a:extLst>
              </a:tr>
              <a:tr h="31412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  <a:effectLst/>
                        </a:rPr>
                        <a:t>GROSS BANK CREDIT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effectLst/>
                        </a:rPr>
                        <a:t>383,269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B5E20"/>
                          </a:solidFill>
                          <a:effectLst/>
                        </a:rPr>
                        <a:t>4.08%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10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3719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70AD413-CDD5-518C-D253-A04605BAB3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9" t="-5" r="-200" b="5"/>
          <a:stretch>
            <a:fillRect/>
          </a:stretch>
        </p:blipFill>
        <p:spPr>
          <a:xfrm>
            <a:off x="3082" y="-560"/>
            <a:ext cx="18332286" cy="10288132"/>
          </a:xfrm>
          <a:prstGeom prst="rect">
            <a:avLst/>
          </a:prstGeom>
        </p:spPr>
      </p:pic>
      <p:sp>
        <p:nvSpPr>
          <p:cNvPr id="3" name="Freeform 52">
            <a:extLst>
              <a:ext uri="{FF2B5EF4-FFF2-40B4-BE49-F238E27FC236}">
                <a16:creationId xmlns:a16="http://schemas.microsoft.com/office/drawing/2014/main" id="{2933E27B-12E6-D5BE-E901-FA76D040CF93}"/>
              </a:ext>
            </a:extLst>
          </p:cNvPr>
          <p:cNvSpPr/>
          <p:nvPr/>
        </p:nvSpPr>
        <p:spPr>
          <a:xfrm>
            <a:off x="929846" y="534430"/>
            <a:ext cx="718334" cy="790865"/>
          </a:xfrm>
          <a:custGeom>
            <a:avLst/>
            <a:gdLst/>
            <a:ahLst/>
            <a:cxnLst/>
            <a:rect l="l" t="t" r="r" b="b"/>
            <a:pathLst>
              <a:path w="189191" h="208294">
                <a:moveTo>
                  <a:pt x="94595" y="0"/>
                </a:moveTo>
                <a:lnTo>
                  <a:pt x="94595" y="0"/>
                </a:lnTo>
                <a:cubicBezTo>
                  <a:pt x="146839" y="0"/>
                  <a:pt x="189191" y="42352"/>
                  <a:pt x="189191" y="94595"/>
                </a:cubicBezTo>
                <a:lnTo>
                  <a:pt x="189191" y="113698"/>
                </a:lnTo>
                <a:cubicBezTo>
                  <a:pt x="189191" y="138787"/>
                  <a:pt x="179225" y="162847"/>
                  <a:pt x="161484" y="180587"/>
                </a:cubicBezTo>
                <a:cubicBezTo>
                  <a:pt x="143744" y="198327"/>
                  <a:pt x="119684" y="208294"/>
                  <a:pt x="94595" y="208294"/>
                </a:cubicBezTo>
                <a:lnTo>
                  <a:pt x="94595" y="208294"/>
                </a:lnTo>
                <a:cubicBezTo>
                  <a:pt x="69507" y="208294"/>
                  <a:pt x="45446" y="198327"/>
                  <a:pt x="27706" y="180587"/>
                </a:cubicBezTo>
                <a:cubicBezTo>
                  <a:pt x="9966" y="162847"/>
                  <a:pt x="0" y="138787"/>
                  <a:pt x="0" y="113698"/>
                </a:cubicBezTo>
                <a:lnTo>
                  <a:pt x="0" y="94595"/>
                </a:lnTo>
                <a:cubicBezTo>
                  <a:pt x="0" y="69507"/>
                  <a:pt x="9966" y="45446"/>
                  <a:pt x="27706" y="27706"/>
                </a:cubicBezTo>
                <a:cubicBezTo>
                  <a:pt x="45446" y="9966"/>
                  <a:pt x="69507" y="0"/>
                  <a:pt x="94595" y="0"/>
                </a:cubicBezTo>
                <a:close/>
              </a:path>
            </a:pathLst>
          </a:custGeom>
          <a:solidFill>
            <a:srgbClr val="75B06F"/>
          </a:solidFill>
          <a:ln cap="rnd">
            <a:noFill/>
            <a:prstDash val="solid"/>
            <a:round/>
          </a:ln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/>
          </a:p>
        </p:txBody>
      </p:sp>
      <p:sp>
        <p:nvSpPr>
          <p:cNvPr id="4" name="TextBox 53">
            <a:extLst>
              <a:ext uri="{FF2B5EF4-FFF2-40B4-BE49-F238E27FC236}">
                <a16:creationId xmlns:a16="http://schemas.microsoft.com/office/drawing/2014/main" id="{CE9B3C29-A83A-E12B-5729-DE08D3761B6A}"/>
              </a:ext>
            </a:extLst>
          </p:cNvPr>
          <p:cNvSpPr txBox="1"/>
          <p:nvPr/>
        </p:nvSpPr>
        <p:spPr>
          <a:xfrm>
            <a:off x="948896" y="431740"/>
            <a:ext cx="718334" cy="1045958"/>
          </a:xfrm>
          <a:prstGeom prst="rect">
            <a:avLst/>
          </a:prstGeom>
        </p:spPr>
        <p:txBody>
          <a:bodyPr lIns="50800" tIns="50800" rIns="50800" bIns="5080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  <a:endParaRPr lang="en-US" sz="3000" b="1" u="none" strike="noStrike">
              <a:solidFill>
                <a:srgbClr val="F0F8A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2734502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8CEBB0-B5DC-0133-8466-240234C78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8068984-4EB8-E80C-8D3F-5FDDF4F781A0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DF40B33F-30DD-4CDD-8AC9-EB8194E597CC}"/>
              </a:ext>
            </a:extLst>
          </p:cNvPr>
          <p:cNvSpPr txBox="1"/>
          <p:nvPr/>
        </p:nvSpPr>
        <p:spPr>
          <a:xfrm>
            <a:off x="1597285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628C0C72-45BF-4672-7989-7A6836976226}"/>
              </a:ext>
            </a:extLst>
          </p:cNvPr>
          <p:cNvSpPr txBox="1"/>
          <p:nvPr/>
        </p:nvSpPr>
        <p:spPr>
          <a:xfrm>
            <a:off x="5565414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58429132-C9A4-7B8D-0CA9-496A05C8888B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4EC8DFAD-AB81-D975-FFA5-4136B9F335D4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6076991B-2D9A-555B-6A26-4F3A0B1FAB03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0C2DD88E-9E5A-7E90-CCBF-C4D5414CECA6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A4FF1187-40D5-FA57-96E4-677CE2CE9EF5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B4AF3ED9-C85D-FB07-E4D2-644104988008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3DED38FF-CCF4-4457-36E5-DF33D2CDA2DB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8FC1355D-1C12-D32D-FDB3-BEB9C2092CC8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35BA3EC5-9043-05EC-6A41-B477882EC868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AE5A96E7-545E-ECFF-9BDE-C68E972E6601}"/>
              </a:ext>
            </a:extLst>
          </p:cNvPr>
          <p:cNvGrpSpPr/>
          <p:nvPr/>
        </p:nvGrpSpPr>
        <p:grpSpPr>
          <a:xfrm>
            <a:off x="1044146" y="374589"/>
            <a:ext cx="718334" cy="1007856"/>
            <a:chOff x="0" y="-42098"/>
            <a:chExt cx="189191" cy="265444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12AC8867-8B68-7476-2277-BC64879C93A6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3F07DD35-276B-9B9F-271B-2B5D0E1280C4}"/>
                </a:ext>
              </a:extLst>
            </p:cNvPr>
            <p:cNvSpPr txBox="1"/>
            <p:nvPr/>
          </p:nvSpPr>
          <p:spPr>
            <a:xfrm>
              <a:off x="0" y="-42098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AF853CC9-5502-2CAC-B708-DF88216B2A15}"/>
              </a:ext>
            </a:extLst>
          </p:cNvPr>
          <p:cNvSpPr txBox="1"/>
          <p:nvPr/>
        </p:nvSpPr>
        <p:spPr>
          <a:xfrm>
            <a:off x="2101996" y="546968"/>
            <a:ext cx="11764361" cy="7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+mn-lt"/>
                <a:sym typeface="League Gothic"/>
              </a:rPr>
              <a:t>DATASET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4F0BD7-10C3-D70C-9888-9223127D93D0}"/>
              </a:ext>
            </a:extLst>
          </p:cNvPr>
          <p:cNvSpPr txBox="1"/>
          <p:nvPr/>
        </p:nvSpPr>
        <p:spPr>
          <a:xfrm>
            <a:off x="695977" y="1475076"/>
            <a:ext cx="176094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Objective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: Forecast India's Gross Bank Credit using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 Cash Reserve Ratio (CRR)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and</a:t>
            </a:r>
            <a:r>
              <a:rPr lang="en-US" sz="2400" b="1">
                <a:solidFill>
                  <a:srgbClr val="000000"/>
                </a:solidFill>
                <a:ea typeface="+mn-lt"/>
                <a:cs typeface="+mn-lt"/>
              </a:rPr>
              <a:t> Cash-Deposit Ratio (CDR)</a:t>
            </a:r>
            <a:r>
              <a:rPr lang="en-US" sz="2400">
                <a:solidFill>
                  <a:srgbClr val="000000"/>
                </a:solidFill>
                <a:ea typeface="+mn-lt"/>
                <a:cs typeface="+mn-lt"/>
              </a:rPr>
              <a:t> as exogenous variables.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800864A-48A3-7CC2-64B0-4E6593E15F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0023811"/>
              </p:ext>
            </p:extLst>
          </p:nvPr>
        </p:nvGraphicFramePr>
        <p:xfrm>
          <a:off x="3761509" y="2078181"/>
          <a:ext cx="10626745" cy="2448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31937">
                  <a:extLst>
                    <a:ext uri="{9D8B030D-6E8A-4147-A177-3AD203B41FA5}">
                      <a16:colId xmlns:a16="http://schemas.microsoft.com/office/drawing/2014/main" val="3568599923"/>
                    </a:ext>
                  </a:extLst>
                </a:gridCol>
                <a:gridCol w="1589179">
                  <a:extLst>
                    <a:ext uri="{9D8B030D-6E8A-4147-A177-3AD203B41FA5}">
                      <a16:colId xmlns:a16="http://schemas.microsoft.com/office/drawing/2014/main" val="1403252258"/>
                    </a:ext>
                  </a:extLst>
                </a:gridCol>
                <a:gridCol w="1364446">
                  <a:extLst>
                    <a:ext uri="{9D8B030D-6E8A-4147-A177-3AD203B41FA5}">
                      <a16:colId xmlns:a16="http://schemas.microsoft.com/office/drawing/2014/main" val="310794595"/>
                    </a:ext>
                  </a:extLst>
                </a:gridCol>
                <a:gridCol w="1720043">
                  <a:extLst>
                    <a:ext uri="{9D8B030D-6E8A-4147-A177-3AD203B41FA5}">
                      <a16:colId xmlns:a16="http://schemas.microsoft.com/office/drawing/2014/main" val="3450332816"/>
                    </a:ext>
                  </a:extLst>
                </a:gridCol>
                <a:gridCol w="1249634">
                  <a:extLst>
                    <a:ext uri="{9D8B030D-6E8A-4147-A177-3AD203B41FA5}">
                      <a16:colId xmlns:a16="http://schemas.microsoft.com/office/drawing/2014/main" val="704776700"/>
                    </a:ext>
                  </a:extLst>
                </a:gridCol>
                <a:gridCol w="1524969">
                  <a:extLst>
                    <a:ext uri="{9D8B030D-6E8A-4147-A177-3AD203B41FA5}">
                      <a16:colId xmlns:a16="http://schemas.microsoft.com/office/drawing/2014/main" val="329197549"/>
                    </a:ext>
                  </a:extLst>
                </a:gridCol>
                <a:gridCol w="1646537">
                  <a:extLst>
                    <a:ext uri="{9D8B030D-6E8A-4147-A177-3AD203B41FA5}">
                      <a16:colId xmlns:a16="http://schemas.microsoft.com/office/drawing/2014/main" val="3540513215"/>
                    </a:ext>
                  </a:extLst>
                </a:gridCol>
              </a:tblGrid>
              <a:tr h="63620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Variable</a:t>
                      </a:r>
                      <a:endParaRPr lang="en-US" sz="24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ADF Stat </a:t>
                      </a:r>
                      <a:r>
                        <a:rPr lang="en-US" sz="2400" b="1" i="0" u="none" strike="noStrike" noProof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(Level)</a:t>
                      </a:r>
                      <a:endParaRPr lang="en-US" sz="2400" b="1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p-value</a:t>
                      </a:r>
                      <a:endParaRPr lang="en-US" sz="24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Decision</a:t>
                      </a:r>
                      <a:endParaRPr lang="en-US" sz="240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ADF Stat (Δ)</a:t>
                      </a:r>
                      <a:endParaRPr lang="en-US" b="1"/>
                    </a:p>
                  </a:txBody>
                  <a:tcPr marL="76200" marR="76200" marT="50799" marB="50799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p-value</a:t>
                      </a:r>
                      <a:endParaRPr lang="en-US" sz="2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798" marB="50798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Decision</a:t>
                      </a:r>
                      <a:endParaRPr lang="en-US" sz="2400" b="0" i="0" u="none" strike="noStrike" noProof="0">
                        <a:solidFill>
                          <a:srgbClr val="00000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798" marB="50798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904043"/>
                  </a:ext>
                </a:extLst>
              </a:tr>
              <a:tr h="6163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222222"/>
                          </a:solidFill>
                          <a:effectLst/>
                        </a:rPr>
                        <a:t>CRR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222222"/>
                          </a:solidFill>
                          <a:effectLst/>
                        </a:rPr>
                        <a:t>−3.1769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222222"/>
                          </a:solidFill>
                          <a:effectLst/>
                        </a:rPr>
                        <a:t>&gt; 0.05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  <a:effectLst/>
                        </a:rPr>
                        <a:t>✗ Non-Stationary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222222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−4.6015</a:t>
                      </a:r>
                      <a:endParaRPr lang="en-US" b="1"/>
                    </a:p>
                  </a:txBody>
                  <a:tcPr marL="76200" marR="76200" marT="38099" marB="38099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222222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&lt; 0.01 </a:t>
                      </a:r>
                      <a:endParaRPr lang="en-US" b="1"/>
                    </a:p>
                  </a:txBody>
                  <a:tcPr marL="76200" marR="76200" marT="38099" marB="38099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accent3">
                              <a:lumMod val="49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✓ Stationary</a:t>
                      </a:r>
                      <a:endParaRPr lang="en-US" b="1">
                        <a:solidFill>
                          <a:schemeClr val="accent3">
                            <a:lumMod val="49000"/>
                          </a:schemeClr>
                        </a:solidFill>
                      </a:endParaRPr>
                    </a:p>
                  </a:txBody>
                  <a:tcPr marL="76200" marR="76200" marT="38099" marB="38099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5771054"/>
                  </a:ext>
                </a:extLst>
              </a:tr>
              <a:tr h="6163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222222"/>
                          </a:solidFill>
                          <a:effectLst/>
                        </a:rPr>
                        <a:t>CDR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222222"/>
                          </a:solidFill>
                          <a:effectLst/>
                        </a:rPr>
                        <a:t>−3.0844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222222"/>
                          </a:solidFill>
                          <a:effectLst/>
                        </a:rPr>
                        <a:t>&gt; 0.05</a:t>
                      </a:r>
                      <a:endParaRPr lang="en-US" sz="2400" b="1">
                        <a:effectLst/>
                      </a:endParaRP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C00000"/>
                          </a:solidFill>
                          <a:effectLst/>
                        </a:rPr>
                        <a:t>✗ Non-Stationary</a:t>
                      </a:r>
                    </a:p>
                  </a:txBody>
                  <a:tcPr marL="76200" marR="76200" marT="38100" marB="381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222222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−5.4524 </a:t>
                      </a:r>
                      <a:endParaRPr lang="en-US" b="1"/>
                    </a:p>
                  </a:txBody>
                  <a:tcPr marL="76200" marR="76200" marT="38099" marB="38099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222222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&lt; 0.01 </a:t>
                      </a:r>
                      <a:endParaRPr lang="en-US" b="1"/>
                    </a:p>
                  </a:txBody>
                  <a:tcPr marL="76200" marR="76200" marT="38099" marB="38099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accent3">
                              <a:lumMod val="49000"/>
                            </a:schemeClr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✓ Stationary</a:t>
                      </a:r>
                      <a:endParaRPr lang="en-US" b="1">
                        <a:solidFill>
                          <a:schemeClr val="accent3">
                            <a:lumMod val="49000"/>
                          </a:schemeClr>
                        </a:solidFill>
                      </a:endParaRPr>
                    </a:p>
                  </a:txBody>
                  <a:tcPr marL="76200" marR="76200" marT="38099" marB="38099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BFBFBF"/>
                      </a:solidFill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470451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6F8AD5C3-4502-E3A8-EC65-BC0F124415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4236" r="223" b="-332"/>
          <a:stretch>
            <a:fillRect/>
          </a:stretch>
        </p:blipFill>
        <p:spPr>
          <a:xfrm>
            <a:off x="2035320" y="4702320"/>
            <a:ext cx="14238181" cy="526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943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11E56-B711-B9D2-9804-100D1D8A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9073B80-0A36-DD4B-5571-D1B8C412AED3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9404552A-EC85-F567-D6ED-42C2B1B8EEAC}"/>
              </a:ext>
            </a:extLst>
          </p:cNvPr>
          <p:cNvSpPr txBox="1"/>
          <p:nvPr/>
        </p:nvSpPr>
        <p:spPr>
          <a:xfrm>
            <a:off x="1597285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50C6F0CA-0EA4-7C1A-2FC7-410C1CB6AECB}"/>
              </a:ext>
            </a:extLst>
          </p:cNvPr>
          <p:cNvSpPr txBox="1"/>
          <p:nvPr/>
        </p:nvSpPr>
        <p:spPr>
          <a:xfrm>
            <a:off x="5565414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272E4E89-6F57-1BFC-91F8-CE88226C7309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617D809E-19E4-1B29-3F5B-1BA1ABF8E885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8C1C649C-081F-CC8C-958A-01F2CAF07943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65216CFC-56EA-FDED-5215-2776D237D091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F83665E4-EF56-6DE3-4D81-20A5A48738BE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F29CBDC7-A5F1-D6B8-1686-279D96F7B4D1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C9A7CBC5-B49E-B7F3-5910-2F8A81FBAB2D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A33EC323-44EA-9206-6349-7E9B86E1FEA6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C9E9E152-1901-EC78-B9B9-AF6EB769E940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B4C5967D-B8E9-0A71-3DB8-EA4DB2A9E4D0}"/>
              </a:ext>
            </a:extLst>
          </p:cNvPr>
          <p:cNvGrpSpPr/>
          <p:nvPr/>
        </p:nvGrpSpPr>
        <p:grpSpPr>
          <a:xfrm>
            <a:off x="1044146" y="412687"/>
            <a:ext cx="718334" cy="1007857"/>
            <a:chOff x="0" y="-32064"/>
            <a:chExt cx="189191" cy="265444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5D4C8549-3F50-FB7F-93B4-55F4CA4ED44D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76F1DF40-E804-621A-A8BE-866A1114459A}"/>
                </a:ext>
              </a:extLst>
            </p:cNvPr>
            <p:cNvSpPr txBox="1"/>
            <p:nvPr/>
          </p:nvSpPr>
          <p:spPr>
            <a:xfrm>
              <a:off x="0" y="-32064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5AE67F1C-D308-79AE-96A5-BD4AEB0D2439}"/>
              </a:ext>
            </a:extLst>
          </p:cNvPr>
          <p:cNvSpPr txBox="1"/>
          <p:nvPr/>
        </p:nvSpPr>
        <p:spPr>
          <a:xfrm>
            <a:off x="2101996" y="546968"/>
            <a:ext cx="11764361" cy="7457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Calibri"/>
                <a:sym typeface="League Gothic"/>
              </a:rPr>
              <a:t>MODEL ORDER IDENTIFICATION</a:t>
            </a:r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BC98DB-9E6C-81FE-337E-7555BAB2AE3B}"/>
              </a:ext>
            </a:extLst>
          </p:cNvPr>
          <p:cNvSpPr txBox="1"/>
          <p:nvPr/>
        </p:nvSpPr>
        <p:spPr>
          <a:xfrm>
            <a:off x="334027" y="1646526"/>
            <a:ext cx="1760948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400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With </a:t>
            </a:r>
            <a:r>
              <a:rPr lang="en-US" sz="2400" b="1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d=1</a:t>
            </a:r>
            <a:r>
              <a:rPr lang="en-US" sz="2400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, the next step is to identify the </a:t>
            </a:r>
            <a:r>
              <a:rPr lang="en-US" sz="2400" b="1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AR order (p)</a:t>
            </a:r>
            <a:r>
              <a:rPr lang="en-US" sz="2400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 and</a:t>
            </a:r>
            <a:r>
              <a:rPr lang="en-US" sz="2400" b="1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 MA order (q)</a:t>
            </a:r>
            <a:r>
              <a:rPr lang="en-US" sz="2400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 from the</a:t>
            </a:r>
            <a:r>
              <a:rPr lang="en-US" sz="2400" b="1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 ACF</a:t>
            </a:r>
            <a:r>
              <a:rPr lang="en-US" sz="2400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 and </a:t>
            </a:r>
            <a:r>
              <a:rPr lang="en-US" sz="2400" b="1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PACF</a:t>
            </a:r>
            <a:r>
              <a:rPr lang="en-US" sz="2400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 of the </a:t>
            </a:r>
            <a:r>
              <a:rPr lang="en-US" sz="2400" b="1">
                <a:solidFill>
                  <a:srgbClr val="222222"/>
                </a:solidFill>
                <a:latin typeface="Calibri"/>
                <a:ea typeface="+mn-lt"/>
                <a:cs typeface="Calibri"/>
              </a:rPr>
              <a:t>first-differenced Gross Credit series</a:t>
            </a:r>
            <a:endParaRPr lang="en-US" sz="2400" b="1">
              <a:solidFill>
                <a:srgbClr val="222222"/>
              </a:solidFill>
              <a:ea typeface="Calibri"/>
              <a:cs typeface="Calibri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05C566A8-5F91-4679-FA5E-D283859F4B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0295367"/>
              </p:ext>
            </p:extLst>
          </p:nvPr>
        </p:nvGraphicFramePr>
        <p:xfrm>
          <a:off x="4166507" y="8114755"/>
          <a:ext cx="9942126" cy="142847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54715">
                  <a:extLst>
                    <a:ext uri="{9D8B030D-6E8A-4147-A177-3AD203B41FA5}">
                      <a16:colId xmlns:a16="http://schemas.microsoft.com/office/drawing/2014/main" val="2832506152"/>
                    </a:ext>
                  </a:extLst>
                </a:gridCol>
                <a:gridCol w="2093079">
                  <a:extLst>
                    <a:ext uri="{9D8B030D-6E8A-4147-A177-3AD203B41FA5}">
                      <a16:colId xmlns:a16="http://schemas.microsoft.com/office/drawing/2014/main" val="3017546437"/>
                    </a:ext>
                  </a:extLst>
                </a:gridCol>
                <a:gridCol w="2093079">
                  <a:extLst>
                    <a:ext uri="{9D8B030D-6E8A-4147-A177-3AD203B41FA5}">
                      <a16:colId xmlns:a16="http://schemas.microsoft.com/office/drawing/2014/main" val="1600166687"/>
                    </a:ext>
                  </a:extLst>
                </a:gridCol>
                <a:gridCol w="2093079">
                  <a:extLst>
                    <a:ext uri="{9D8B030D-6E8A-4147-A177-3AD203B41FA5}">
                      <a16:colId xmlns:a16="http://schemas.microsoft.com/office/drawing/2014/main" val="1404012884"/>
                    </a:ext>
                  </a:extLst>
                </a:gridCol>
                <a:gridCol w="1308174">
                  <a:extLst>
                    <a:ext uri="{9D8B030D-6E8A-4147-A177-3AD203B41FA5}">
                      <a16:colId xmlns:a16="http://schemas.microsoft.com/office/drawing/2014/main" val="1539117114"/>
                    </a:ext>
                  </a:extLst>
                </a:gridCol>
              </a:tblGrid>
              <a:tr h="58669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Model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AIC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BIC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LB p-</a:t>
                      </a:r>
                      <a:r>
                        <a:rPr lang="en-US" sz="2400" b="0" err="1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val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0">
                          <a:solidFill>
                            <a:schemeClr val="bg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Pass?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9029259"/>
                  </a:ext>
                </a:extLst>
              </a:tr>
              <a:tr h="841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ARIMAX(6,1,1) *</a:t>
                      </a:r>
                      <a:endParaRPr lang="en-US" sz="2400" b="1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099" marB="38099" anchor="ctr">
                    <a:lnL w="12700">
                      <a:solidFill>
                        <a:srgbClr val="BFBFBF"/>
                      </a:solidFill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2001.72</a:t>
                      </a:r>
                      <a:endParaRPr lang="en-US" sz="2400" b="1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099" marB="38099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2025.41</a:t>
                      </a:r>
                      <a:endParaRPr lang="en-US" sz="2400" b="1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099" marB="38099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0.8751</a:t>
                      </a:r>
                      <a:endParaRPr lang="en-US" sz="2400" b="1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099" marB="38099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chemeClr val="tx1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✓ </a:t>
                      </a:r>
                      <a:endParaRPr lang="en-US" sz="2400" b="1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38099" marB="38099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BFBFBF"/>
                      </a:solidFill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BFBFBF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2970534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141F8087-551B-9D21-5530-9EED05EA9A29}"/>
              </a:ext>
            </a:extLst>
          </p:cNvPr>
          <p:cNvGrpSpPr/>
          <p:nvPr/>
        </p:nvGrpSpPr>
        <p:grpSpPr>
          <a:xfrm>
            <a:off x="2802413" y="2705923"/>
            <a:ext cx="12634129" cy="4578065"/>
            <a:chOff x="3187223" y="2355403"/>
            <a:chExt cx="11933089" cy="35417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F9FEB2B-7212-682D-30EC-8FBB529D4F8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5968" r="91"/>
            <a:stretch>
              <a:fillRect/>
            </a:stretch>
          </p:blipFill>
          <p:spPr>
            <a:xfrm>
              <a:off x="3187223" y="2718129"/>
              <a:ext cx="11933089" cy="3179019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566CB82-0FE7-F5F8-DFBA-D10DB54D08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17792" t="4092" r="14670" b="87724"/>
            <a:stretch>
              <a:fillRect/>
            </a:stretch>
          </p:blipFill>
          <p:spPr>
            <a:xfrm>
              <a:off x="4075597" y="2355403"/>
              <a:ext cx="10123314" cy="378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360432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F49D9-1557-558F-A834-447EF553F0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7AE5050-39BF-2D69-FC47-19F0E1E943BB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B776EA01-D9F6-1DB9-74A7-907833F15CCB}"/>
              </a:ext>
            </a:extLst>
          </p:cNvPr>
          <p:cNvSpPr txBox="1"/>
          <p:nvPr/>
        </p:nvSpPr>
        <p:spPr>
          <a:xfrm>
            <a:off x="1597285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CCCF82BC-7F01-6D86-4F80-8F1115288A8A}"/>
              </a:ext>
            </a:extLst>
          </p:cNvPr>
          <p:cNvSpPr txBox="1"/>
          <p:nvPr/>
        </p:nvSpPr>
        <p:spPr>
          <a:xfrm>
            <a:off x="5565414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5085A120-8985-3F25-450D-FA8C3B4C025F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E6671633-C691-8677-6A7D-C6C5EB939CB7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AA9F3120-BA69-6065-5432-B6EDF4B01076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62845824-70E8-140C-DE45-167758A2C3D5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D541A766-4018-0FB8-AE34-1FCDF04637CE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7DD86094-7874-CDFD-4B8B-E9D397414E75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8C4F5C80-EDA7-ADE7-6F41-26E3DE98336E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412F4F28-7359-7610-E644-163CDBC26A90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AE0946BC-5D6C-02A8-0CA4-DC99A14D187A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133AF340-997A-059E-979D-923CA7A76CB1}"/>
              </a:ext>
            </a:extLst>
          </p:cNvPr>
          <p:cNvGrpSpPr/>
          <p:nvPr/>
        </p:nvGrpSpPr>
        <p:grpSpPr>
          <a:xfrm>
            <a:off x="1044146" y="393638"/>
            <a:ext cx="718334" cy="1007856"/>
            <a:chOff x="0" y="-37081"/>
            <a:chExt cx="189191" cy="265444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B5E20667-338B-02E2-B4D7-52F1EC77EA72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E1BE49DF-6632-923F-46E1-DCEB28B14A33}"/>
                </a:ext>
              </a:extLst>
            </p:cNvPr>
            <p:cNvSpPr txBox="1"/>
            <p:nvPr/>
          </p:nvSpPr>
          <p:spPr>
            <a:xfrm>
              <a:off x="0" y="-37081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DECB6DB5-533C-A28F-70A2-B95B71EE9B9C}"/>
              </a:ext>
            </a:extLst>
          </p:cNvPr>
          <p:cNvSpPr txBox="1"/>
          <p:nvPr/>
        </p:nvSpPr>
        <p:spPr>
          <a:xfrm>
            <a:off x="2101996" y="546968"/>
            <a:ext cx="11764361" cy="1540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Calibri"/>
                <a:sym typeface="League Gothic"/>
              </a:rPr>
              <a:t>MODEL SPECIFICATION &amp; PARAMETER ESTIMATION</a:t>
            </a:r>
          </a:p>
          <a:p>
            <a:pPr>
              <a:lnSpc>
                <a:spcPts val="6160"/>
              </a:lnSpc>
              <a:spcBef>
                <a:spcPct val="0"/>
              </a:spcBef>
            </a:pPr>
            <a:endParaRPr lang="en-US" sz="4400">
              <a:solidFill>
                <a:srgbClr val="FFFFFF"/>
              </a:solidFill>
              <a:latin typeface="League Gothic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C8DFB-3B4F-6FB8-72D0-259D25CB8E3C}"/>
              </a:ext>
            </a:extLst>
          </p:cNvPr>
          <p:cNvSpPr txBox="1"/>
          <p:nvPr/>
        </p:nvSpPr>
        <p:spPr>
          <a:xfrm>
            <a:off x="334027" y="1494126"/>
            <a:ext cx="17609485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2800">
                <a:solidFill>
                  <a:srgbClr val="222222"/>
                </a:solidFill>
                <a:ea typeface="+mn-lt"/>
                <a:cs typeface="+mn-lt"/>
              </a:rPr>
              <a:t>The final model is</a:t>
            </a:r>
            <a:r>
              <a:rPr lang="en-US" sz="2800" b="1">
                <a:solidFill>
                  <a:srgbClr val="222222"/>
                </a:solidFill>
                <a:ea typeface="+mn-lt"/>
                <a:cs typeface="+mn-lt"/>
              </a:rPr>
              <a:t> ARIMAX(6,1,1) </a:t>
            </a:r>
            <a:r>
              <a:rPr lang="en-US" sz="2800">
                <a:solidFill>
                  <a:srgbClr val="222222"/>
                </a:solidFill>
                <a:ea typeface="+mn-lt"/>
                <a:cs typeface="+mn-lt"/>
              </a:rPr>
              <a:t>— an ARIMA model of </a:t>
            </a:r>
            <a:r>
              <a:rPr lang="en-US" sz="2800" b="1">
                <a:solidFill>
                  <a:srgbClr val="222222"/>
                </a:solidFill>
                <a:ea typeface="+mn-lt"/>
                <a:cs typeface="+mn-lt"/>
              </a:rPr>
              <a:t>order (6,1,1)</a:t>
            </a:r>
            <a:r>
              <a:rPr lang="en-US" sz="2800">
                <a:solidFill>
                  <a:srgbClr val="222222"/>
                </a:solidFill>
                <a:ea typeface="+mn-lt"/>
                <a:cs typeface="+mn-lt"/>
              </a:rPr>
              <a:t> augmented with two exogenous variables </a:t>
            </a:r>
            <a:r>
              <a:rPr lang="en-US" sz="2800" b="1">
                <a:solidFill>
                  <a:srgbClr val="222222"/>
                </a:solidFill>
                <a:ea typeface="+mn-lt"/>
                <a:cs typeface="+mn-lt"/>
              </a:rPr>
              <a:t>(CRR and CDR)</a:t>
            </a:r>
            <a:r>
              <a:rPr lang="en-US" sz="2800">
                <a:solidFill>
                  <a:srgbClr val="222222"/>
                </a:solidFill>
                <a:ea typeface="+mn-lt"/>
                <a:cs typeface="+mn-lt"/>
              </a:rPr>
              <a:t>. After applying </a:t>
            </a:r>
            <a:r>
              <a:rPr lang="en-US" sz="2800" b="1">
                <a:solidFill>
                  <a:srgbClr val="222222"/>
                </a:solidFill>
                <a:ea typeface="+mn-lt"/>
                <a:cs typeface="+mn-lt"/>
              </a:rPr>
              <a:t>d=1</a:t>
            </a:r>
            <a:r>
              <a:rPr lang="en-US" sz="2800">
                <a:solidFill>
                  <a:srgbClr val="222222"/>
                </a:solidFill>
                <a:ea typeface="+mn-lt"/>
                <a:cs typeface="+mn-lt"/>
              </a:rPr>
              <a:t> first differencing to define </a:t>
            </a:r>
            <a:r>
              <a:rPr lang="en-US" sz="2800" b="1" err="1">
                <a:solidFill>
                  <a:srgbClr val="222222"/>
                </a:solidFill>
                <a:ea typeface="+mn-lt"/>
                <a:cs typeface="+mn-lt"/>
              </a:rPr>
              <a:t>Δy</a:t>
            </a:r>
            <a:r>
              <a:rPr lang="en-US" sz="2800" b="1" baseline="-25000" err="1">
                <a:solidFill>
                  <a:srgbClr val="222222"/>
                </a:solidFill>
                <a:ea typeface="+mn-lt"/>
                <a:cs typeface="+mn-lt"/>
              </a:rPr>
              <a:t>t</a:t>
            </a:r>
            <a:r>
              <a:rPr lang="en-US" sz="2800" b="1">
                <a:solidFill>
                  <a:srgbClr val="222222"/>
                </a:solidFill>
                <a:ea typeface="+mn-lt"/>
                <a:cs typeface="+mn-lt"/>
              </a:rPr>
              <a:t>=y</a:t>
            </a:r>
            <a:r>
              <a:rPr lang="en-US" sz="2800" b="1" baseline="-25000">
                <a:solidFill>
                  <a:srgbClr val="222222"/>
                </a:solidFill>
                <a:ea typeface="+mn-lt"/>
                <a:cs typeface="+mn-lt"/>
              </a:rPr>
              <a:t>t</a:t>
            </a:r>
            <a:r>
              <a:rPr lang="en-US" sz="2800" b="1">
                <a:solidFill>
                  <a:srgbClr val="222222"/>
                </a:solidFill>
                <a:ea typeface="+mn-lt"/>
                <a:cs typeface="+mn-lt"/>
              </a:rPr>
              <a:t>−y</a:t>
            </a:r>
            <a:r>
              <a:rPr lang="en-US" sz="2800" b="1" baseline="-25000">
                <a:solidFill>
                  <a:srgbClr val="222222"/>
                </a:solidFill>
                <a:ea typeface="+mn-lt"/>
                <a:cs typeface="+mn-lt"/>
              </a:rPr>
              <a:t>t−1</a:t>
            </a:r>
            <a:r>
              <a:rPr lang="en-US" sz="2800">
                <a:solidFill>
                  <a:srgbClr val="222222"/>
                </a:solidFill>
                <a:ea typeface="+mn-lt"/>
                <a:cs typeface="+mn-lt"/>
              </a:rPr>
              <a:t>, the model in the differenced space is:</a:t>
            </a:r>
            <a:endParaRPr lang="en-US" sz="2800" b="1">
              <a:solidFill>
                <a:srgbClr val="222222"/>
              </a:solidFill>
              <a:ea typeface="Calibri"/>
              <a:cs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4491EA-53D6-9164-5D45-06916CD3BC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3" t="27602" r="-245" b="26546"/>
          <a:stretch>
            <a:fillRect/>
          </a:stretch>
        </p:blipFill>
        <p:spPr>
          <a:xfrm>
            <a:off x="719107" y="2760639"/>
            <a:ext cx="17071043" cy="57386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24D2BB-605B-EF3F-26AC-1F6AAF3CDCA4}"/>
              </a:ext>
            </a:extLst>
          </p:cNvPr>
          <p:cNvSpPr txBox="1"/>
          <p:nvPr/>
        </p:nvSpPr>
        <p:spPr>
          <a:xfrm>
            <a:off x="334026" y="3703925"/>
            <a:ext cx="17472325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Wingdings"/>
              <a:buChar char="v"/>
            </a:pPr>
            <a:r>
              <a:rPr lang="en-US" sz="3200" b="1">
                <a:solidFill>
                  <a:srgbClr val="222222"/>
                </a:solidFill>
                <a:ea typeface="+mn-lt"/>
                <a:cs typeface="+mn-lt"/>
              </a:rPr>
              <a:t> Parameter Estimation</a:t>
            </a:r>
            <a:r>
              <a:rPr lang="en-US" sz="2800" b="1">
                <a:solidFill>
                  <a:srgbClr val="222222"/>
                </a:solidFill>
                <a:ea typeface="+mn-lt"/>
                <a:cs typeface="+mn-lt"/>
              </a:rPr>
              <a:t>:  </a:t>
            </a:r>
          </a:p>
          <a:p>
            <a:r>
              <a:rPr lang="en-US" sz="2800">
                <a:solidFill>
                  <a:srgbClr val="222222"/>
                </a:solidFill>
                <a:ea typeface="+mn-lt"/>
                <a:cs typeface="+mn-lt"/>
              </a:rPr>
              <a:t>The parameters of the ARIMAX(6,1,1) model were estimated using the </a:t>
            </a:r>
            <a:r>
              <a:rPr lang="en-US" sz="2800" b="1">
                <a:solidFill>
                  <a:srgbClr val="222222"/>
                </a:solidFill>
                <a:ea typeface="+mn-lt"/>
                <a:cs typeface="+mn-lt"/>
              </a:rPr>
              <a:t>Maximum Likelihood Estimation (MLE)</a:t>
            </a:r>
            <a:r>
              <a:rPr lang="en-US" sz="2800">
                <a:solidFill>
                  <a:srgbClr val="222222"/>
                </a:solidFill>
                <a:ea typeface="+mn-lt"/>
                <a:cs typeface="+mn-lt"/>
              </a:rPr>
              <a:t> method</a:t>
            </a:r>
            <a:endParaRPr lang="en-US" sz="2800">
              <a:solidFill>
                <a:srgbClr val="222222"/>
              </a:solidFill>
              <a:ea typeface="Calibri"/>
              <a:cs typeface="Calibri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2D6C595-8DD7-3B35-C08C-BABC4BA88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226037"/>
              </p:ext>
            </p:extLst>
          </p:nvPr>
        </p:nvGraphicFramePr>
        <p:xfrm>
          <a:off x="5029200" y="4953000"/>
          <a:ext cx="8453412" cy="504151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99328">
                  <a:extLst>
                    <a:ext uri="{9D8B030D-6E8A-4147-A177-3AD203B41FA5}">
                      <a16:colId xmlns:a16="http://schemas.microsoft.com/office/drawing/2014/main" val="2929989885"/>
                    </a:ext>
                  </a:extLst>
                </a:gridCol>
                <a:gridCol w="2434583">
                  <a:extLst>
                    <a:ext uri="{9D8B030D-6E8A-4147-A177-3AD203B41FA5}">
                      <a16:colId xmlns:a16="http://schemas.microsoft.com/office/drawing/2014/main" val="272862352"/>
                    </a:ext>
                  </a:extLst>
                </a:gridCol>
                <a:gridCol w="1893564">
                  <a:extLst>
                    <a:ext uri="{9D8B030D-6E8A-4147-A177-3AD203B41FA5}">
                      <a16:colId xmlns:a16="http://schemas.microsoft.com/office/drawing/2014/main" val="3957261577"/>
                    </a:ext>
                  </a:extLst>
                </a:gridCol>
                <a:gridCol w="1825937">
                  <a:extLst>
                    <a:ext uri="{9D8B030D-6E8A-4147-A177-3AD203B41FA5}">
                      <a16:colId xmlns:a16="http://schemas.microsoft.com/office/drawing/2014/main" val="2276226218"/>
                    </a:ext>
                  </a:extLst>
                </a:gridCol>
              </a:tblGrid>
              <a:tr h="46106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Parameter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Coefficient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p-value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Sig.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897757"/>
                  </a:ext>
                </a:extLst>
              </a:tr>
              <a:tr h="436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AR(1) [φ₁]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-0.2354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0.0328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B8860B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**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8166782"/>
                  </a:ext>
                </a:extLst>
              </a:tr>
              <a:tr h="436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AR(2) [φ₂]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-0.0929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0.2461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1093816"/>
                  </a:ext>
                </a:extLst>
              </a:tr>
              <a:tr h="436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AR(3) [φ₃]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-0.0114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0.8872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1935019"/>
                  </a:ext>
                </a:extLst>
              </a:tr>
              <a:tr h="436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AR(4) [φ₄]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-0.1143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0.1791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3233470"/>
                  </a:ext>
                </a:extLst>
              </a:tr>
              <a:tr h="436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AR(5) [φ₅]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-0.1769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0.0399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B8860B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**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566711"/>
                  </a:ext>
                </a:extLst>
              </a:tr>
              <a:tr h="436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AR(6) [φ₆]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+0.5635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0.0000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***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933971"/>
                  </a:ext>
                </a:extLst>
              </a:tr>
              <a:tr h="436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MA(1) [θ₁]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+0.1538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0.3150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90215"/>
                  </a:ext>
                </a:extLst>
              </a:tr>
              <a:tr h="436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CRR [β₁]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-90,001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0.0000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***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7566458"/>
                  </a:ext>
                </a:extLst>
              </a:tr>
              <a:tr h="4368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CDR [β₂]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-13,594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0.1869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1388044"/>
                  </a:ext>
                </a:extLst>
              </a:tr>
              <a:tr h="6429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Intercept [μ]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+45,740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0.0000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69850" marR="6985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8B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***</a:t>
                      </a:r>
                      <a:endParaRPr lang="en-US" sz="2400" b="1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50800" marR="50800" marT="34925" marB="34925" anchor="ctr">
                    <a:lnL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03493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2250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CA1E6-8B41-F8CE-B26A-46997A3B8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A2ADA8A-5F9D-939D-EB49-2EA9224A2988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US">
              <a:ea typeface="Calibri"/>
              <a:cs typeface="Calibri"/>
            </a:endParaRPr>
          </a:p>
        </p:txBody>
      </p:sp>
      <p:sp>
        <p:nvSpPr>
          <p:cNvPr id="34" name="TextBox 34">
            <a:extLst>
              <a:ext uri="{FF2B5EF4-FFF2-40B4-BE49-F238E27FC236}">
                <a16:creationId xmlns:a16="http://schemas.microsoft.com/office/drawing/2014/main" id="{81CACA2C-DF5E-C990-2D20-A046EDBBB960}"/>
              </a:ext>
            </a:extLst>
          </p:cNvPr>
          <p:cNvSpPr txBox="1"/>
          <p:nvPr/>
        </p:nvSpPr>
        <p:spPr>
          <a:xfrm>
            <a:off x="1597285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1</a:t>
            </a:r>
          </a:p>
        </p:txBody>
      </p:sp>
      <p:sp>
        <p:nvSpPr>
          <p:cNvPr id="35" name="TextBox 35">
            <a:extLst>
              <a:ext uri="{FF2B5EF4-FFF2-40B4-BE49-F238E27FC236}">
                <a16:creationId xmlns:a16="http://schemas.microsoft.com/office/drawing/2014/main" id="{1829CAD8-D5A3-6510-9CDB-882CCF6E3870}"/>
              </a:ext>
            </a:extLst>
          </p:cNvPr>
          <p:cNvSpPr txBox="1"/>
          <p:nvPr/>
        </p:nvSpPr>
        <p:spPr>
          <a:xfrm>
            <a:off x="5565414" y="2712011"/>
            <a:ext cx="3187028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STEP 2</a:t>
            </a:r>
          </a:p>
        </p:txBody>
      </p:sp>
      <p:grpSp>
        <p:nvGrpSpPr>
          <p:cNvPr id="42" name="Group 42">
            <a:extLst>
              <a:ext uri="{FF2B5EF4-FFF2-40B4-BE49-F238E27FC236}">
                <a16:creationId xmlns:a16="http://schemas.microsoft.com/office/drawing/2014/main" id="{3F85ECFF-5C4D-3802-8AA8-ED37442CD6A6}"/>
              </a:ext>
            </a:extLst>
          </p:cNvPr>
          <p:cNvGrpSpPr/>
          <p:nvPr/>
        </p:nvGrpSpPr>
        <p:grpSpPr>
          <a:xfrm>
            <a:off x="1282496" y="564824"/>
            <a:ext cx="13117261" cy="730077"/>
            <a:chOff x="0" y="0"/>
            <a:chExt cx="10952656" cy="609600"/>
          </a:xfrm>
        </p:grpSpPr>
        <p:sp>
          <p:nvSpPr>
            <p:cNvPr id="43" name="Freeform 43">
              <a:extLst>
                <a:ext uri="{FF2B5EF4-FFF2-40B4-BE49-F238E27FC236}">
                  <a16:creationId xmlns:a16="http://schemas.microsoft.com/office/drawing/2014/main" id="{36B51684-0B57-9431-D6DE-5C98CBC6BED5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TextBox 44">
              <a:extLst>
                <a:ext uri="{FF2B5EF4-FFF2-40B4-BE49-F238E27FC236}">
                  <a16:creationId xmlns:a16="http://schemas.microsoft.com/office/drawing/2014/main" id="{3180CF63-2674-47DA-A975-20036C8CCB4A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5" name="Group 45">
            <a:extLst>
              <a:ext uri="{FF2B5EF4-FFF2-40B4-BE49-F238E27FC236}">
                <a16:creationId xmlns:a16="http://schemas.microsoft.com/office/drawing/2014/main" id="{ABAD493B-D764-B6CF-B5D8-4713F067CA35}"/>
              </a:ext>
            </a:extLst>
          </p:cNvPr>
          <p:cNvGrpSpPr/>
          <p:nvPr/>
        </p:nvGrpSpPr>
        <p:grpSpPr>
          <a:xfrm>
            <a:off x="14399757" y="564824"/>
            <a:ext cx="1041917" cy="730077"/>
            <a:chOff x="0" y="0"/>
            <a:chExt cx="869980" cy="609600"/>
          </a:xfrm>
        </p:grpSpPr>
        <p:sp>
          <p:nvSpPr>
            <p:cNvPr id="46" name="Freeform 46">
              <a:extLst>
                <a:ext uri="{FF2B5EF4-FFF2-40B4-BE49-F238E27FC236}">
                  <a16:creationId xmlns:a16="http://schemas.microsoft.com/office/drawing/2014/main" id="{3BDDD83E-E0BF-DDB0-35A1-1521D0966FE7}"/>
                </a:ext>
              </a:extLst>
            </p:cNvPr>
            <p:cNvSpPr/>
            <p:nvPr/>
          </p:nvSpPr>
          <p:spPr>
            <a:xfrm>
              <a:off x="0" y="0"/>
              <a:ext cx="869980" cy="609600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DAD887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Box 47">
              <a:extLst>
                <a:ext uri="{FF2B5EF4-FFF2-40B4-BE49-F238E27FC236}">
                  <a16:creationId xmlns:a16="http://schemas.microsoft.com/office/drawing/2014/main" id="{4FF5FC6B-F837-17D4-0165-AFDECC6C1771}"/>
                </a:ext>
              </a:extLst>
            </p:cNvPr>
            <p:cNvSpPr txBox="1"/>
            <p:nvPr/>
          </p:nvSpPr>
          <p:spPr>
            <a:xfrm>
              <a:off x="101600" y="-38100"/>
              <a:ext cx="6667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48" name="Group 48">
            <a:extLst>
              <a:ext uri="{FF2B5EF4-FFF2-40B4-BE49-F238E27FC236}">
                <a16:creationId xmlns:a16="http://schemas.microsoft.com/office/drawing/2014/main" id="{38814F4F-9EF3-557F-9E1C-D28219F8533E}"/>
              </a:ext>
            </a:extLst>
          </p:cNvPr>
          <p:cNvGrpSpPr/>
          <p:nvPr/>
        </p:nvGrpSpPr>
        <p:grpSpPr>
          <a:xfrm>
            <a:off x="15441674" y="564824"/>
            <a:ext cx="1833072" cy="730077"/>
            <a:chOff x="0" y="0"/>
            <a:chExt cx="1530580" cy="609600"/>
          </a:xfrm>
        </p:grpSpPr>
        <p:sp>
          <p:nvSpPr>
            <p:cNvPr id="49" name="Freeform 49">
              <a:extLst>
                <a:ext uri="{FF2B5EF4-FFF2-40B4-BE49-F238E27FC236}">
                  <a16:creationId xmlns:a16="http://schemas.microsoft.com/office/drawing/2014/main" id="{A66426A0-A892-70D8-C1D9-EA19FC436B55}"/>
                </a:ext>
              </a:extLst>
            </p:cNvPr>
            <p:cNvSpPr/>
            <p:nvPr/>
          </p:nvSpPr>
          <p:spPr>
            <a:xfrm>
              <a:off x="0" y="0"/>
              <a:ext cx="1530580" cy="609600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TextBox 50">
              <a:extLst>
                <a:ext uri="{FF2B5EF4-FFF2-40B4-BE49-F238E27FC236}">
                  <a16:creationId xmlns:a16="http://schemas.microsoft.com/office/drawing/2014/main" id="{0863CABA-39F1-307D-A306-EF700B3F7DB0}"/>
                </a:ext>
              </a:extLst>
            </p:cNvPr>
            <p:cNvSpPr txBox="1"/>
            <p:nvPr/>
          </p:nvSpPr>
          <p:spPr>
            <a:xfrm>
              <a:off x="101600" y="-38100"/>
              <a:ext cx="1327380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1" name="Group 51">
            <a:extLst>
              <a:ext uri="{FF2B5EF4-FFF2-40B4-BE49-F238E27FC236}">
                <a16:creationId xmlns:a16="http://schemas.microsoft.com/office/drawing/2014/main" id="{F3F7E899-8651-8D06-271D-22ABAB929EB9}"/>
              </a:ext>
            </a:extLst>
          </p:cNvPr>
          <p:cNvGrpSpPr/>
          <p:nvPr/>
        </p:nvGrpSpPr>
        <p:grpSpPr>
          <a:xfrm>
            <a:off x="1044146" y="412687"/>
            <a:ext cx="718334" cy="1007856"/>
            <a:chOff x="0" y="-32064"/>
            <a:chExt cx="189191" cy="265444"/>
          </a:xfrm>
        </p:grpSpPr>
        <p:sp>
          <p:nvSpPr>
            <p:cNvPr id="52" name="Freeform 52">
              <a:extLst>
                <a:ext uri="{FF2B5EF4-FFF2-40B4-BE49-F238E27FC236}">
                  <a16:creationId xmlns:a16="http://schemas.microsoft.com/office/drawing/2014/main" id="{A0D131AD-1784-7929-0DB6-ED54F0423DBB}"/>
                </a:ext>
              </a:extLst>
            </p:cNvPr>
            <p:cNvSpPr/>
            <p:nvPr/>
          </p:nvSpPr>
          <p:spPr>
            <a:xfrm>
              <a:off x="0" y="0"/>
              <a:ext cx="189191" cy="208294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TextBox 53">
              <a:extLst>
                <a:ext uri="{FF2B5EF4-FFF2-40B4-BE49-F238E27FC236}">
                  <a16:creationId xmlns:a16="http://schemas.microsoft.com/office/drawing/2014/main" id="{B91BB99C-673D-9D7E-F371-7A457DBC6A86}"/>
                </a:ext>
              </a:extLst>
            </p:cNvPr>
            <p:cNvSpPr txBox="1"/>
            <p:nvPr/>
          </p:nvSpPr>
          <p:spPr>
            <a:xfrm>
              <a:off x="0" y="-32064"/>
              <a:ext cx="189191" cy="2654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4200"/>
                </a:lnSpc>
                <a:spcBef>
                  <a:spcPct val="0"/>
                </a:spcBef>
              </a:pPr>
              <a:r>
                <a:rPr lang="en-US" sz="3000" b="1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04</a:t>
              </a:r>
              <a:endParaRPr lang="en-US" sz="3000" b="1" u="none" strike="noStrike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endParaRPr>
            </a:p>
          </p:txBody>
        </p:sp>
      </p:grpSp>
      <p:sp>
        <p:nvSpPr>
          <p:cNvPr id="54" name="TextBox 54">
            <a:extLst>
              <a:ext uri="{FF2B5EF4-FFF2-40B4-BE49-F238E27FC236}">
                <a16:creationId xmlns:a16="http://schemas.microsoft.com/office/drawing/2014/main" id="{E928F4BC-C252-822C-7704-77C9CC055CA5}"/>
              </a:ext>
            </a:extLst>
          </p:cNvPr>
          <p:cNvSpPr txBox="1"/>
          <p:nvPr/>
        </p:nvSpPr>
        <p:spPr>
          <a:xfrm>
            <a:off x="2101996" y="546968"/>
            <a:ext cx="11764361" cy="745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60"/>
              </a:lnSpc>
              <a:spcBef>
                <a:spcPct val="0"/>
              </a:spcBef>
            </a:pPr>
            <a:r>
              <a:rPr lang="en-US" sz="4400">
                <a:solidFill>
                  <a:srgbClr val="FFFFFF"/>
                </a:solidFill>
                <a:latin typeface="League Gothic"/>
                <a:ea typeface="+mn-lt"/>
                <a:cs typeface="Calibri"/>
              </a:rPr>
              <a:t>FORECAST ACCURACY </a:t>
            </a:r>
          </a:p>
        </p:txBody>
      </p:sp>
      <p:pic>
        <p:nvPicPr>
          <p:cNvPr id="6" name="Picture 5" descr="A graph showing a line&#10;&#10;AI-generated content may be incorrect.">
            <a:extLst>
              <a:ext uri="{FF2B5EF4-FFF2-40B4-BE49-F238E27FC236}">
                <a16:creationId xmlns:a16="http://schemas.microsoft.com/office/drawing/2014/main" id="{9E177E09-6252-D1E2-34E3-CFC48FE357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4" t="1311" r="256" b="-1639"/>
          <a:stretch>
            <a:fillRect/>
          </a:stretch>
        </p:blipFill>
        <p:spPr>
          <a:xfrm>
            <a:off x="1845987" y="1879283"/>
            <a:ext cx="14582756" cy="561927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549AB98-2D34-F24A-81ED-EBC208B287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4298102"/>
              </p:ext>
            </p:extLst>
          </p:nvPr>
        </p:nvGraphicFramePr>
        <p:xfrm>
          <a:off x="3288723" y="8029748"/>
          <a:ext cx="11730908" cy="17112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558244">
                  <a:extLst>
                    <a:ext uri="{9D8B030D-6E8A-4147-A177-3AD203B41FA5}">
                      <a16:colId xmlns:a16="http://schemas.microsoft.com/office/drawing/2014/main" val="274183652"/>
                    </a:ext>
                  </a:extLst>
                </a:gridCol>
                <a:gridCol w="4217635">
                  <a:extLst>
                    <a:ext uri="{9D8B030D-6E8A-4147-A177-3AD203B41FA5}">
                      <a16:colId xmlns:a16="http://schemas.microsoft.com/office/drawing/2014/main" val="1023332666"/>
                    </a:ext>
                  </a:extLst>
                </a:gridCol>
                <a:gridCol w="2955029">
                  <a:extLst>
                    <a:ext uri="{9D8B030D-6E8A-4147-A177-3AD203B41FA5}">
                      <a16:colId xmlns:a16="http://schemas.microsoft.com/office/drawing/2014/main" val="3444491366"/>
                    </a:ext>
                  </a:extLst>
                </a:gridCol>
              </a:tblGrid>
              <a:tr h="90406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RMSE (Rs. Cr)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MAPE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71692"/>
                  </a:ext>
                </a:extLst>
              </a:tr>
              <a:tr h="80719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</a:rPr>
                        <a:t>GROSS BANK CREDIT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 i="0" u="none" strike="noStrike" noProof="0">
                          <a:solidFill>
                            <a:srgbClr val="1A1A1A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98,001</a:t>
                      </a:r>
                      <a:endParaRPr lang="en-US" sz="2800" b="1" i="0"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1" i="0" u="none" strike="noStrike" noProof="0">
                          <a:solidFill>
                            <a:srgbClr val="1B5E2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0.8910%</a:t>
                      </a:r>
                      <a:endParaRPr lang="en-US" sz="2800" b="1" i="0">
                        <a:solidFill>
                          <a:srgbClr val="1B5E20"/>
                        </a:solidFill>
                        <a:effectLst/>
                        <a:latin typeface="Calibri"/>
                        <a:ea typeface="Calibri"/>
                        <a:cs typeface="Calibri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109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0250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6B106F-EEF8-7DEC-9698-E19944745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587DA19D-B514-0D42-97DE-E04BE8F921B5}"/>
              </a:ext>
            </a:extLst>
          </p:cNvPr>
          <p:cNvSpPr/>
          <p:nvPr/>
        </p:nvSpPr>
        <p:spPr>
          <a:xfrm flipH="1">
            <a:off x="-3213" y="-450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IN">
              <a:ea typeface="Calibri"/>
              <a:cs typeface="Calibri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02DB1A8-5A48-3964-91A6-F2CACBC08DB3}"/>
              </a:ext>
            </a:extLst>
          </p:cNvPr>
          <p:cNvGrpSpPr/>
          <p:nvPr/>
        </p:nvGrpSpPr>
        <p:grpSpPr>
          <a:xfrm>
            <a:off x="700216" y="348331"/>
            <a:ext cx="16949057" cy="1437843"/>
            <a:chOff x="966916" y="348331"/>
            <a:chExt cx="16230600" cy="100785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A7CBD40-B23D-F575-3677-581BA29126F2}"/>
                </a:ext>
              </a:extLst>
            </p:cNvPr>
            <p:cNvGrpSpPr/>
            <p:nvPr/>
          </p:nvGrpSpPr>
          <p:grpSpPr>
            <a:xfrm>
              <a:off x="1187123" y="550086"/>
              <a:ext cx="16010393" cy="775707"/>
              <a:chOff x="1187123" y="550086"/>
              <a:chExt cx="16010393" cy="775707"/>
            </a:xfrm>
          </p:grpSpPr>
          <p:grpSp>
            <p:nvGrpSpPr>
              <p:cNvPr id="18" name="Group 42">
                <a:extLst>
                  <a:ext uri="{FF2B5EF4-FFF2-40B4-BE49-F238E27FC236}">
                    <a16:creationId xmlns:a16="http://schemas.microsoft.com/office/drawing/2014/main" id="{421606A0-AF24-9323-FFEB-0F7241C83621}"/>
                  </a:ext>
                </a:extLst>
              </p:cNvPr>
              <p:cNvGrpSpPr/>
              <p:nvPr/>
            </p:nvGrpSpPr>
            <p:grpSpPr>
              <a:xfrm>
                <a:off x="1187123" y="550086"/>
                <a:ext cx="13117261" cy="775707"/>
                <a:chOff x="0" y="-38100"/>
                <a:chExt cx="10952656" cy="647700"/>
              </a:xfrm>
            </p:grpSpPr>
            <p:sp>
              <p:nvSpPr>
                <p:cNvPr id="25" name="Freeform 43">
                  <a:extLst>
                    <a:ext uri="{FF2B5EF4-FFF2-40B4-BE49-F238E27FC236}">
                      <a16:creationId xmlns:a16="http://schemas.microsoft.com/office/drawing/2014/main" id="{28A92E13-C59E-3031-0866-7A2311A2D48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52656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2656" h="609600">
                      <a:moveTo>
                        <a:pt x="203200" y="0"/>
                      </a:moveTo>
                      <a:lnTo>
                        <a:pt x="10952656" y="0"/>
                      </a:lnTo>
                      <a:lnTo>
                        <a:pt x="10749456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36656B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" name="TextBox 44">
                  <a:extLst>
                    <a:ext uri="{FF2B5EF4-FFF2-40B4-BE49-F238E27FC236}">
                      <a16:creationId xmlns:a16="http://schemas.microsoft.com/office/drawing/2014/main" id="{2FB98505-4C38-D1F5-755A-47C44ADB9004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0749456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23" name="Freeform 46">
                <a:extLst>
                  <a:ext uri="{FF2B5EF4-FFF2-40B4-BE49-F238E27FC236}">
                    <a16:creationId xmlns:a16="http://schemas.microsoft.com/office/drawing/2014/main" id="{6CD51DAE-C7D3-518B-B5AA-57D814FB33CD}"/>
                  </a:ext>
                </a:extLst>
              </p:cNvPr>
              <p:cNvSpPr/>
              <p:nvPr/>
            </p:nvSpPr>
            <p:spPr>
              <a:xfrm>
                <a:off x="14322527" y="595716"/>
                <a:ext cx="1041917" cy="730077"/>
              </a:xfrm>
              <a:custGeom>
                <a:avLst/>
                <a:gdLst/>
                <a:ahLst/>
                <a:cxnLst/>
                <a:rect l="l" t="t" r="r" b="b"/>
                <a:pathLst>
                  <a:path w="869980" h="609600">
                    <a:moveTo>
                      <a:pt x="203200" y="0"/>
                    </a:moveTo>
                    <a:lnTo>
                      <a:pt x="869980" y="0"/>
                    </a:lnTo>
                    <a:lnTo>
                      <a:pt x="6667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DAD887"/>
              </a:solidFill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0" name="Group 48">
                <a:extLst>
                  <a:ext uri="{FF2B5EF4-FFF2-40B4-BE49-F238E27FC236}">
                    <a16:creationId xmlns:a16="http://schemas.microsoft.com/office/drawing/2014/main" id="{361F9357-C5F6-3163-6811-BB9F6DBF3570}"/>
                  </a:ext>
                </a:extLst>
              </p:cNvPr>
              <p:cNvGrpSpPr/>
              <p:nvPr/>
            </p:nvGrpSpPr>
            <p:grpSpPr>
              <a:xfrm>
                <a:off x="15364444" y="550086"/>
                <a:ext cx="1833072" cy="775707"/>
                <a:chOff x="0" y="-38100"/>
                <a:chExt cx="1530580" cy="647700"/>
              </a:xfrm>
            </p:grpSpPr>
            <p:sp>
              <p:nvSpPr>
                <p:cNvPr id="21" name="Freeform 49">
                  <a:extLst>
                    <a:ext uri="{FF2B5EF4-FFF2-40B4-BE49-F238E27FC236}">
                      <a16:creationId xmlns:a16="http://schemas.microsoft.com/office/drawing/2014/main" id="{56F74084-6C2C-7584-39DC-8386B456A82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5305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580" h="609600">
                      <a:moveTo>
                        <a:pt x="203200" y="0"/>
                      </a:moveTo>
                      <a:lnTo>
                        <a:pt x="1530580" y="0"/>
                      </a:lnTo>
                      <a:lnTo>
                        <a:pt x="13273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75B06F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2" name="TextBox 50">
                  <a:extLst>
                    <a:ext uri="{FF2B5EF4-FFF2-40B4-BE49-F238E27FC236}">
                      <a16:creationId xmlns:a16="http://schemas.microsoft.com/office/drawing/2014/main" id="{BF8FFC7F-7C9F-EE80-997B-4FAA46B63B05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3273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</p:grpSp>
        <p:grpSp>
          <p:nvGrpSpPr>
            <p:cNvPr id="31" name="Group 51">
              <a:extLst>
                <a:ext uri="{FF2B5EF4-FFF2-40B4-BE49-F238E27FC236}">
                  <a16:creationId xmlns:a16="http://schemas.microsoft.com/office/drawing/2014/main" id="{C2FE3374-EF53-A70B-0424-018302E75BD5}"/>
                </a:ext>
              </a:extLst>
            </p:cNvPr>
            <p:cNvGrpSpPr/>
            <p:nvPr/>
          </p:nvGrpSpPr>
          <p:grpSpPr>
            <a:xfrm>
              <a:off x="966916" y="348331"/>
              <a:ext cx="718334" cy="1007856"/>
              <a:chOff x="0" y="-57150"/>
              <a:chExt cx="189191" cy="265444"/>
            </a:xfrm>
          </p:grpSpPr>
          <p:sp>
            <p:nvSpPr>
              <p:cNvPr id="29" name="Freeform 52">
                <a:extLst>
                  <a:ext uri="{FF2B5EF4-FFF2-40B4-BE49-F238E27FC236}">
                    <a16:creationId xmlns:a16="http://schemas.microsoft.com/office/drawing/2014/main" id="{7A97DD04-4A16-4FEA-814F-6107DF9E7469}"/>
                  </a:ext>
                </a:extLst>
              </p:cNvPr>
              <p:cNvSpPr/>
              <p:nvPr/>
            </p:nvSpPr>
            <p:spPr>
              <a:xfrm>
                <a:off x="0" y="0"/>
                <a:ext cx="189191" cy="208294"/>
              </a:xfrm>
              <a:custGeom>
                <a:avLst/>
                <a:gdLst/>
                <a:ahLst/>
                <a:cxnLst/>
                <a:rect l="l" t="t" r="r" b="b"/>
                <a:pathLst>
                  <a:path w="189191" h="208294">
                    <a:moveTo>
                      <a:pt x="94595" y="0"/>
                    </a:moveTo>
                    <a:lnTo>
                      <a:pt x="94595" y="0"/>
                    </a:lnTo>
                    <a:cubicBezTo>
                      <a:pt x="146839" y="0"/>
                      <a:pt x="189191" y="42352"/>
                      <a:pt x="189191" y="94595"/>
                    </a:cubicBezTo>
                    <a:lnTo>
                      <a:pt x="189191" y="113698"/>
                    </a:lnTo>
                    <a:cubicBezTo>
                      <a:pt x="189191" y="138787"/>
                      <a:pt x="179225" y="162847"/>
                      <a:pt x="161484" y="180587"/>
                    </a:cubicBezTo>
                    <a:cubicBezTo>
                      <a:pt x="143744" y="198327"/>
                      <a:pt x="119684" y="208294"/>
                      <a:pt x="94595" y="208294"/>
                    </a:cubicBezTo>
                    <a:lnTo>
                      <a:pt x="94595" y="208294"/>
                    </a:lnTo>
                    <a:cubicBezTo>
                      <a:pt x="69507" y="208294"/>
                      <a:pt x="45446" y="198327"/>
                      <a:pt x="27706" y="180587"/>
                    </a:cubicBezTo>
                    <a:cubicBezTo>
                      <a:pt x="9966" y="162847"/>
                      <a:pt x="0" y="138787"/>
                      <a:pt x="0" y="113698"/>
                    </a:cubicBezTo>
                    <a:lnTo>
                      <a:pt x="0" y="94595"/>
                    </a:lnTo>
                    <a:cubicBezTo>
                      <a:pt x="0" y="69507"/>
                      <a:pt x="9966" y="45446"/>
                      <a:pt x="27706" y="27706"/>
                    </a:cubicBezTo>
                    <a:cubicBezTo>
                      <a:pt x="45446" y="9966"/>
                      <a:pt x="69507" y="0"/>
                      <a:pt x="94595" y="0"/>
                    </a:cubicBezTo>
                    <a:close/>
                  </a:path>
                </a:pathLst>
              </a:custGeom>
              <a:solidFill>
                <a:srgbClr val="75B06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Box 53">
                <a:extLst>
                  <a:ext uri="{FF2B5EF4-FFF2-40B4-BE49-F238E27FC236}">
                    <a16:creationId xmlns:a16="http://schemas.microsoft.com/office/drawing/2014/main" id="{8EB1C816-803F-B453-561B-27235D2ED05F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89191" cy="265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000" b="1">
                    <a:solidFill>
                      <a:srgbClr val="F0F8A4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05</a:t>
                </a:r>
                <a:endParaRPr lang="en-US" sz="3000" b="1" u="none" strike="noStrike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endParaRPr>
              </a:p>
            </p:txBody>
          </p:sp>
        </p:grp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D2839CF3-FD13-5089-2867-AEC9585538B2}"/>
              </a:ext>
            </a:extLst>
          </p:cNvPr>
          <p:cNvSpPr txBox="1"/>
          <p:nvPr/>
        </p:nvSpPr>
        <p:spPr>
          <a:xfrm>
            <a:off x="1729763" y="353547"/>
            <a:ext cx="16596334" cy="12690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479"/>
              </a:lnSpc>
              <a:spcBef>
                <a:spcPct val="0"/>
              </a:spcBef>
            </a:pPr>
            <a:r>
              <a:rPr lang="en-US" sz="4800">
                <a:solidFill>
                  <a:schemeClr val="bg1"/>
                </a:solidFill>
                <a:latin typeface="League Gothic"/>
                <a:ea typeface="Calibri"/>
                <a:cs typeface="Calibri"/>
                <a:sym typeface="League Gothic"/>
              </a:rPr>
              <a:t>FAVAR : FACTOR-AUGMENTED VECTOR AUTOREGRESSIVE </a:t>
            </a:r>
            <a:endParaRPr lang="en-US" sz="4800">
              <a:solidFill>
                <a:schemeClr val="bg1"/>
              </a:solidFill>
              <a:latin typeface="League Gothic"/>
              <a:ea typeface="Calibri"/>
              <a:cs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12F12C-3DB4-0A35-8556-B2BCF4921372}"/>
              </a:ext>
            </a:extLst>
          </p:cNvPr>
          <p:cNvSpPr txBox="1"/>
          <p:nvPr/>
        </p:nvSpPr>
        <p:spPr>
          <a:xfrm>
            <a:off x="1085849" y="2143125"/>
            <a:ext cx="16173449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Font typeface="Wingdings"/>
              <a:buChar char="v"/>
            </a:pPr>
            <a:r>
              <a:rPr lang="en-US" sz="3200">
                <a:ea typeface="Calibri"/>
                <a:cs typeface="Calibri"/>
              </a:rPr>
              <a:t>All these models include only a small number of variables. However, many macroeconomic indicators were observed when making decisions. If these variables are excluded, the estimated shocks may be mismeasured.</a:t>
            </a:r>
            <a:endParaRPr lang="en-US"/>
          </a:p>
          <a:p>
            <a:pPr marL="457200" indent="-457200">
              <a:buFont typeface="Wingdings"/>
              <a:buChar char="v"/>
            </a:pPr>
            <a:r>
              <a:rPr lang="en-US" sz="3200">
                <a:ea typeface="Calibri"/>
                <a:cs typeface="Calibri"/>
              </a:rPr>
              <a:t>FAVAR fixes this by compressing 41 variables into 12 summary factors using PCA, and put these factors alongside the key policy variables into the VAR.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C891B-C33A-92B8-7971-5646D1289B82}"/>
              </a:ext>
            </a:extLst>
          </p:cNvPr>
          <p:cNvSpPr txBox="1"/>
          <p:nvPr/>
        </p:nvSpPr>
        <p:spPr>
          <a:xfrm>
            <a:off x="1456552" y="5331940"/>
            <a:ext cx="15116175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dirty="0">
                <a:ea typeface="Calibri"/>
                <a:cs typeface="Calibri"/>
              </a:rPr>
              <a:t>Observation equation</a:t>
            </a:r>
            <a:r>
              <a:rPr lang="en-US" sz="3200" dirty="0">
                <a:ea typeface="Calibri"/>
                <a:cs typeface="Calibri"/>
              </a:rPr>
              <a:t>:  </a:t>
            </a:r>
            <a:r>
              <a:rPr lang="en-US" sz="3200" dirty="0" err="1">
                <a:ea typeface="Calibri"/>
                <a:cs typeface="Calibri"/>
              </a:rPr>
              <a:t>X</a:t>
            </a:r>
            <a:r>
              <a:rPr lang="en-US" sz="3200" baseline="-25000" dirty="0" err="1">
                <a:ea typeface="Calibri"/>
                <a:cs typeface="Calibri"/>
              </a:rPr>
              <a:t>t</a:t>
            </a:r>
            <a:r>
              <a:rPr lang="en-US" sz="3200" dirty="0">
                <a:ea typeface="Calibri"/>
                <a:cs typeface="Calibri"/>
              </a:rPr>
              <a:t> = </a:t>
            </a:r>
            <a:r>
              <a:rPr lang="en-US" sz="3200" dirty="0" err="1">
                <a:ea typeface="Calibri"/>
                <a:cs typeface="Calibri"/>
              </a:rPr>
              <a:t>Λ</a:t>
            </a:r>
            <a:r>
              <a:rPr lang="en-US" sz="3200" baseline="30000" dirty="0" err="1">
                <a:ea typeface="Calibri"/>
                <a:cs typeface="Calibri"/>
              </a:rPr>
              <a:t>f</a:t>
            </a:r>
            <a:r>
              <a:rPr lang="en-US" sz="3200" dirty="0">
                <a:ea typeface="Calibri"/>
                <a:cs typeface="Calibri"/>
              </a:rPr>
              <a:t>  F</a:t>
            </a:r>
            <a:r>
              <a:rPr lang="en-US" sz="3200" baseline="-25000" dirty="0">
                <a:ea typeface="Calibri"/>
                <a:cs typeface="Calibri"/>
              </a:rPr>
              <a:t>t</a:t>
            </a:r>
            <a:r>
              <a:rPr lang="en-US" sz="3200" dirty="0">
                <a:ea typeface="Calibri"/>
                <a:cs typeface="Calibri"/>
              </a:rPr>
              <a:t> + </a:t>
            </a:r>
            <a:r>
              <a:rPr lang="en-US" sz="3200" dirty="0" err="1">
                <a:ea typeface="Calibri"/>
                <a:cs typeface="Calibri"/>
              </a:rPr>
              <a:t>Λ</a:t>
            </a:r>
            <a:r>
              <a:rPr lang="en-US" sz="3200" baseline="30000" dirty="0" err="1">
                <a:ea typeface="Calibri"/>
                <a:cs typeface="Calibri"/>
              </a:rPr>
              <a:t>y</a:t>
            </a:r>
            <a:r>
              <a:rPr lang="en-US" sz="3200" dirty="0">
                <a:ea typeface="Calibri"/>
                <a:cs typeface="Calibri"/>
              </a:rPr>
              <a:t>  </a:t>
            </a:r>
            <a:r>
              <a:rPr lang="en-US" sz="3200" dirty="0" err="1">
                <a:ea typeface="Calibri"/>
                <a:cs typeface="Calibri"/>
              </a:rPr>
              <a:t>Y</a:t>
            </a:r>
            <a:r>
              <a:rPr lang="en-US" sz="3200" baseline="-25000" dirty="0" err="1">
                <a:ea typeface="Calibri"/>
                <a:cs typeface="Calibri"/>
              </a:rPr>
              <a:t>t</a:t>
            </a:r>
            <a:r>
              <a:rPr lang="en-US" sz="3200" dirty="0">
                <a:ea typeface="Calibri"/>
                <a:cs typeface="Calibri"/>
              </a:rPr>
              <a:t> + e</a:t>
            </a:r>
            <a:r>
              <a:rPr lang="en-US" sz="3200" baseline="-25000" dirty="0">
                <a:ea typeface="Calibri"/>
                <a:cs typeface="Calibri"/>
              </a:rPr>
              <a:t>t</a:t>
            </a:r>
          </a:p>
          <a:p>
            <a:r>
              <a:rPr lang="en-US" sz="3200" b="1" dirty="0">
                <a:ea typeface="Calibri"/>
                <a:cs typeface="Calibri"/>
              </a:rPr>
              <a:t>Transition equation</a:t>
            </a:r>
            <a:r>
              <a:rPr lang="en-US" sz="3200" dirty="0">
                <a:ea typeface="Calibri"/>
                <a:cs typeface="Calibri"/>
              </a:rPr>
              <a:t>:   [F</a:t>
            </a:r>
            <a:r>
              <a:rPr lang="en-US" sz="3200" baseline="-25000" dirty="0">
                <a:ea typeface="Calibri"/>
                <a:cs typeface="Calibri"/>
              </a:rPr>
              <a:t>t</a:t>
            </a:r>
            <a:r>
              <a:rPr lang="en-US" sz="3200" dirty="0">
                <a:ea typeface="Calibri"/>
                <a:cs typeface="Calibri"/>
              </a:rPr>
              <a:t>, </a:t>
            </a:r>
            <a:r>
              <a:rPr lang="en-US" sz="3200" dirty="0" err="1">
                <a:ea typeface="Calibri"/>
                <a:cs typeface="Calibri"/>
              </a:rPr>
              <a:t>Y</a:t>
            </a:r>
            <a:r>
              <a:rPr lang="en-US" sz="3200" baseline="-25000" dirty="0" err="1">
                <a:ea typeface="Calibri"/>
                <a:cs typeface="Calibri"/>
              </a:rPr>
              <a:t>t</a:t>
            </a:r>
            <a:r>
              <a:rPr lang="en-US" sz="3200" dirty="0">
                <a:ea typeface="Calibri"/>
                <a:cs typeface="Calibri"/>
              </a:rPr>
              <a:t>]' = Φ(L) · [F</a:t>
            </a:r>
            <a:r>
              <a:rPr lang="en-US" sz="3200" baseline="-25000" dirty="0">
                <a:ea typeface="Calibri"/>
                <a:cs typeface="Calibri"/>
              </a:rPr>
              <a:t>{t-1}</a:t>
            </a:r>
            <a:r>
              <a:rPr lang="en-US" sz="3200" dirty="0">
                <a:ea typeface="Calibri"/>
                <a:cs typeface="Calibri"/>
              </a:rPr>
              <a:t>, Y</a:t>
            </a:r>
            <a:r>
              <a:rPr lang="en-US" sz="3200" baseline="-25000" dirty="0">
                <a:ea typeface="Calibri"/>
                <a:cs typeface="Calibri"/>
              </a:rPr>
              <a:t>{t-1}</a:t>
            </a:r>
            <a:r>
              <a:rPr lang="en-US" sz="3200" dirty="0">
                <a:ea typeface="Calibri"/>
                <a:cs typeface="Calibri"/>
              </a:rPr>
              <a:t>]' + </a:t>
            </a:r>
            <a:r>
              <a:rPr lang="en-US" sz="3200" dirty="0" err="1">
                <a:ea typeface="Calibri"/>
                <a:cs typeface="Calibri"/>
              </a:rPr>
              <a:t>u</a:t>
            </a:r>
            <a:r>
              <a:rPr lang="en-US" sz="3200" baseline="-25000" dirty="0" err="1">
                <a:ea typeface="Calibri"/>
                <a:cs typeface="Calibri"/>
              </a:rPr>
              <a:t>t</a:t>
            </a:r>
            <a:endParaRPr lang="en-US" sz="3200" baseline="-25000" dirty="0">
              <a:ea typeface="Calibri"/>
              <a:cs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81D0EB-359C-D920-5EDB-67C3B9FBAAF5}"/>
              </a:ext>
            </a:extLst>
          </p:cNvPr>
          <p:cNvSpPr txBox="1"/>
          <p:nvPr/>
        </p:nvSpPr>
        <p:spPr>
          <a:xfrm>
            <a:off x="1457324" y="6451600"/>
            <a:ext cx="15516225" cy="30469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dirty="0" err="1">
                <a:ea typeface="Calibri"/>
                <a:cs typeface="Calibri"/>
              </a:rPr>
              <a:t>X</a:t>
            </a:r>
            <a:r>
              <a:rPr lang="en-US" sz="3200" baseline="-25000" dirty="0" err="1">
                <a:ea typeface="Calibri"/>
                <a:cs typeface="Calibri"/>
              </a:rPr>
              <a:t>t</a:t>
            </a:r>
            <a:r>
              <a:rPr lang="en-US" sz="3200" dirty="0">
                <a:ea typeface="Calibri"/>
                <a:cs typeface="Calibri"/>
              </a:rPr>
              <a:t> : 41 macroeconomic variables. ( 32 after data cleaning)</a:t>
            </a:r>
            <a:endParaRPr lang="en-US" sz="3200" baseline="-25000" dirty="0">
              <a:ea typeface="Calibri"/>
              <a:cs typeface="Calibri"/>
            </a:endParaRPr>
          </a:p>
          <a:p>
            <a:r>
              <a:rPr lang="en-US" sz="3200">
                <a:ea typeface="Calibri"/>
                <a:cs typeface="Calibri"/>
              </a:rPr>
              <a:t>F</a:t>
            </a:r>
            <a:r>
              <a:rPr lang="en-US" sz="3200" baseline="-25000">
                <a:ea typeface="Calibri"/>
                <a:cs typeface="Calibri"/>
              </a:rPr>
              <a:t>t</a:t>
            </a:r>
            <a:r>
              <a:rPr lang="en-US" sz="3200">
                <a:ea typeface="Calibri"/>
                <a:cs typeface="Calibri"/>
              </a:rPr>
              <a:t> : Latent factors (12 for our dataset)</a:t>
            </a:r>
            <a:endParaRPr lang="en-US">
              <a:ea typeface="Calibri"/>
              <a:cs typeface="Calibri"/>
            </a:endParaRPr>
          </a:p>
          <a:p>
            <a:r>
              <a:rPr lang="en-US" sz="3200" dirty="0" err="1">
                <a:ea typeface="Calibri"/>
                <a:cs typeface="Calibri"/>
              </a:rPr>
              <a:t>Y</a:t>
            </a:r>
            <a:r>
              <a:rPr lang="en-US" sz="3200" baseline="-25000" dirty="0" err="1">
                <a:ea typeface="Calibri"/>
                <a:cs typeface="Calibri"/>
              </a:rPr>
              <a:t>t</a:t>
            </a:r>
            <a:r>
              <a:rPr lang="en-US" sz="3200" dirty="0">
                <a:ea typeface="Calibri"/>
                <a:cs typeface="Calibri"/>
              </a:rPr>
              <a:t> : Observed variables (Gross Credit Demand, Repo Rate).</a:t>
            </a:r>
          </a:p>
          <a:p>
            <a:r>
              <a:rPr lang="en-US" sz="3200">
                <a:ea typeface="Calibri"/>
                <a:cs typeface="Calibri"/>
              </a:rPr>
              <a:t>Λ : </a:t>
            </a:r>
            <a:r>
              <a:rPr lang="en-US" sz="3200">
                <a:ea typeface="+mn-lt"/>
                <a:cs typeface="+mn-lt"/>
              </a:rPr>
              <a:t>Matrices of factor loadings</a:t>
            </a:r>
            <a:endParaRPr lang="en-US" sz="3200" dirty="0">
              <a:ea typeface="Calibri"/>
              <a:cs typeface="Calibri"/>
            </a:endParaRPr>
          </a:p>
          <a:p>
            <a:r>
              <a:rPr lang="en-US" sz="3200">
                <a:ea typeface="Calibri"/>
                <a:cs typeface="Calibri"/>
              </a:rPr>
              <a:t>Φ(L) : </a:t>
            </a:r>
            <a:r>
              <a:rPr lang="en-US" sz="3200">
                <a:ea typeface="+mn-lt"/>
                <a:cs typeface="+mn-lt"/>
              </a:rPr>
              <a:t>Conformable lag polynomial of finite order d</a:t>
            </a:r>
            <a:endParaRPr lang="en-US"/>
          </a:p>
          <a:p>
            <a:endParaRPr lang="en-US" sz="3200" dirty="0">
              <a:ea typeface="Calibri"/>
              <a:cs typeface="Calibri"/>
            </a:endParaRPr>
          </a:p>
        </p:txBody>
      </p:sp>
      <p:sp>
        <p:nvSpPr>
          <p:cNvPr id="3" name="Flowchart: Alternate Process 2">
            <a:extLst>
              <a:ext uri="{FF2B5EF4-FFF2-40B4-BE49-F238E27FC236}">
                <a16:creationId xmlns:a16="http://schemas.microsoft.com/office/drawing/2014/main" id="{03D283EC-5DB0-95DB-D584-16C073E166EA}"/>
              </a:ext>
            </a:extLst>
          </p:cNvPr>
          <p:cNvSpPr/>
          <p:nvPr/>
        </p:nvSpPr>
        <p:spPr>
          <a:xfrm>
            <a:off x="1103906" y="4925163"/>
            <a:ext cx="16371664" cy="4555711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007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83753A0-9360-6ADE-EE0E-E722A64FF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C7F983C2-61D4-C454-0F3F-5B99B6D02DC1}"/>
              </a:ext>
            </a:extLst>
          </p:cNvPr>
          <p:cNvSpPr/>
          <p:nvPr/>
        </p:nvSpPr>
        <p:spPr>
          <a:xfrm flipH="1">
            <a:off x="30405" y="-450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 lIns="91440" tIns="45720" rIns="91440" bIns="45720" anchor="t"/>
          <a:lstStyle/>
          <a:p>
            <a:endParaRPr lang="en-IN">
              <a:ea typeface="Calibri"/>
              <a:cs typeface="Calibri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B03438-51A6-F6EC-6E95-918D98FD0451}"/>
              </a:ext>
            </a:extLst>
          </p:cNvPr>
          <p:cNvGrpSpPr/>
          <p:nvPr/>
        </p:nvGrpSpPr>
        <p:grpSpPr>
          <a:xfrm>
            <a:off x="700216" y="348331"/>
            <a:ext cx="16949057" cy="1437843"/>
            <a:chOff x="966916" y="348331"/>
            <a:chExt cx="16230600" cy="1007856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AE4735E-A1D8-5AA5-986E-210DEA2C7F88}"/>
                </a:ext>
              </a:extLst>
            </p:cNvPr>
            <p:cNvGrpSpPr/>
            <p:nvPr/>
          </p:nvGrpSpPr>
          <p:grpSpPr>
            <a:xfrm>
              <a:off x="1187123" y="550086"/>
              <a:ext cx="16010393" cy="775707"/>
              <a:chOff x="1187123" y="550086"/>
              <a:chExt cx="16010393" cy="775707"/>
            </a:xfrm>
          </p:grpSpPr>
          <p:grpSp>
            <p:nvGrpSpPr>
              <p:cNvPr id="18" name="Group 42">
                <a:extLst>
                  <a:ext uri="{FF2B5EF4-FFF2-40B4-BE49-F238E27FC236}">
                    <a16:creationId xmlns:a16="http://schemas.microsoft.com/office/drawing/2014/main" id="{FC479E1E-C887-3FC7-B07D-35AC17C6DCF1}"/>
                  </a:ext>
                </a:extLst>
              </p:cNvPr>
              <p:cNvGrpSpPr/>
              <p:nvPr/>
            </p:nvGrpSpPr>
            <p:grpSpPr>
              <a:xfrm>
                <a:off x="1187123" y="550086"/>
                <a:ext cx="13117261" cy="775707"/>
                <a:chOff x="0" y="-38100"/>
                <a:chExt cx="10952656" cy="647700"/>
              </a:xfrm>
            </p:grpSpPr>
            <p:sp>
              <p:nvSpPr>
                <p:cNvPr id="25" name="Freeform 43">
                  <a:extLst>
                    <a:ext uri="{FF2B5EF4-FFF2-40B4-BE49-F238E27FC236}">
                      <a16:creationId xmlns:a16="http://schemas.microsoft.com/office/drawing/2014/main" id="{E4053D40-2EAA-EAF5-0D8F-F3AA1FA07FBE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52656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2656" h="609600">
                      <a:moveTo>
                        <a:pt x="203200" y="0"/>
                      </a:moveTo>
                      <a:lnTo>
                        <a:pt x="10952656" y="0"/>
                      </a:lnTo>
                      <a:lnTo>
                        <a:pt x="10749456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36656B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6" name="TextBox 44">
                  <a:extLst>
                    <a:ext uri="{FF2B5EF4-FFF2-40B4-BE49-F238E27FC236}">
                      <a16:creationId xmlns:a16="http://schemas.microsoft.com/office/drawing/2014/main" id="{29CE5F43-CBFF-6ACF-13BD-5768F90CA5DA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0749456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sp>
            <p:nvSpPr>
              <p:cNvPr id="23" name="Freeform 46">
                <a:extLst>
                  <a:ext uri="{FF2B5EF4-FFF2-40B4-BE49-F238E27FC236}">
                    <a16:creationId xmlns:a16="http://schemas.microsoft.com/office/drawing/2014/main" id="{99ACF6B2-634A-CD57-1A34-6B91F3480DB7}"/>
                  </a:ext>
                </a:extLst>
              </p:cNvPr>
              <p:cNvSpPr/>
              <p:nvPr/>
            </p:nvSpPr>
            <p:spPr>
              <a:xfrm>
                <a:off x="14322527" y="595716"/>
                <a:ext cx="1041917" cy="730077"/>
              </a:xfrm>
              <a:custGeom>
                <a:avLst/>
                <a:gdLst/>
                <a:ahLst/>
                <a:cxnLst/>
                <a:rect l="l" t="t" r="r" b="b"/>
                <a:pathLst>
                  <a:path w="869980" h="609600">
                    <a:moveTo>
                      <a:pt x="203200" y="0"/>
                    </a:moveTo>
                    <a:lnTo>
                      <a:pt x="869980" y="0"/>
                    </a:lnTo>
                    <a:lnTo>
                      <a:pt x="6667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DAD887"/>
              </a:solidFill>
            </p:spPr>
            <p:txBody>
              <a:bodyPr/>
              <a:lstStyle/>
              <a:p>
                <a:endParaRPr lang="en-IN"/>
              </a:p>
            </p:txBody>
          </p:sp>
          <p:grpSp>
            <p:nvGrpSpPr>
              <p:cNvPr id="20" name="Group 48">
                <a:extLst>
                  <a:ext uri="{FF2B5EF4-FFF2-40B4-BE49-F238E27FC236}">
                    <a16:creationId xmlns:a16="http://schemas.microsoft.com/office/drawing/2014/main" id="{DA4EA759-AEF7-8C31-3449-D579A3699479}"/>
                  </a:ext>
                </a:extLst>
              </p:cNvPr>
              <p:cNvGrpSpPr/>
              <p:nvPr/>
            </p:nvGrpSpPr>
            <p:grpSpPr>
              <a:xfrm>
                <a:off x="15364444" y="550086"/>
                <a:ext cx="1833072" cy="775707"/>
                <a:chOff x="0" y="-38100"/>
                <a:chExt cx="1530580" cy="647700"/>
              </a:xfrm>
            </p:grpSpPr>
            <p:sp>
              <p:nvSpPr>
                <p:cNvPr id="21" name="Freeform 49">
                  <a:extLst>
                    <a:ext uri="{FF2B5EF4-FFF2-40B4-BE49-F238E27FC236}">
                      <a16:creationId xmlns:a16="http://schemas.microsoft.com/office/drawing/2014/main" id="{12CADC77-E311-42ED-68A2-87EEF085966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5305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580" h="609600">
                      <a:moveTo>
                        <a:pt x="203200" y="0"/>
                      </a:moveTo>
                      <a:lnTo>
                        <a:pt x="1530580" y="0"/>
                      </a:lnTo>
                      <a:lnTo>
                        <a:pt x="13273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75B06F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22" name="TextBox 50">
                  <a:extLst>
                    <a:ext uri="{FF2B5EF4-FFF2-40B4-BE49-F238E27FC236}">
                      <a16:creationId xmlns:a16="http://schemas.microsoft.com/office/drawing/2014/main" id="{2FC336E4-4930-3522-1E7B-4128B630903E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3273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</p:grpSp>
        <p:grpSp>
          <p:nvGrpSpPr>
            <p:cNvPr id="31" name="Group 51">
              <a:extLst>
                <a:ext uri="{FF2B5EF4-FFF2-40B4-BE49-F238E27FC236}">
                  <a16:creationId xmlns:a16="http://schemas.microsoft.com/office/drawing/2014/main" id="{C144A66C-6436-0087-0C91-E634B1A5F0A1}"/>
                </a:ext>
              </a:extLst>
            </p:cNvPr>
            <p:cNvGrpSpPr/>
            <p:nvPr/>
          </p:nvGrpSpPr>
          <p:grpSpPr>
            <a:xfrm>
              <a:off x="966916" y="348331"/>
              <a:ext cx="718334" cy="1007856"/>
              <a:chOff x="0" y="-57150"/>
              <a:chExt cx="189191" cy="265444"/>
            </a:xfrm>
          </p:grpSpPr>
          <p:sp>
            <p:nvSpPr>
              <p:cNvPr id="29" name="Freeform 52">
                <a:extLst>
                  <a:ext uri="{FF2B5EF4-FFF2-40B4-BE49-F238E27FC236}">
                    <a16:creationId xmlns:a16="http://schemas.microsoft.com/office/drawing/2014/main" id="{627BA275-CF11-8C5E-1044-28CBF9BCF238}"/>
                  </a:ext>
                </a:extLst>
              </p:cNvPr>
              <p:cNvSpPr/>
              <p:nvPr/>
            </p:nvSpPr>
            <p:spPr>
              <a:xfrm>
                <a:off x="0" y="0"/>
                <a:ext cx="189191" cy="208294"/>
              </a:xfrm>
              <a:custGeom>
                <a:avLst/>
                <a:gdLst/>
                <a:ahLst/>
                <a:cxnLst/>
                <a:rect l="l" t="t" r="r" b="b"/>
                <a:pathLst>
                  <a:path w="189191" h="208294">
                    <a:moveTo>
                      <a:pt x="94595" y="0"/>
                    </a:moveTo>
                    <a:lnTo>
                      <a:pt x="94595" y="0"/>
                    </a:lnTo>
                    <a:cubicBezTo>
                      <a:pt x="146839" y="0"/>
                      <a:pt x="189191" y="42352"/>
                      <a:pt x="189191" y="94595"/>
                    </a:cubicBezTo>
                    <a:lnTo>
                      <a:pt x="189191" y="113698"/>
                    </a:lnTo>
                    <a:cubicBezTo>
                      <a:pt x="189191" y="138787"/>
                      <a:pt x="179225" y="162847"/>
                      <a:pt x="161484" y="180587"/>
                    </a:cubicBezTo>
                    <a:cubicBezTo>
                      <a:pt x="143744" y="198327"/>
                      <a:pt x="119684" y="208294"/>
                      <a:pt x="94595" y="208294"/>
                    </a:cubicBezTo>
                    <a:lnTo>
                      <a:pt x="94595" y="208294"/>
                    </a:lnTo>
                    <a:cubicBezTo>
                      <a:pt x="69507" y="208294"/>
                      <a:pt x="45446" y="198327"/>
                      <a:pt x="27706" y="180587"/>
                    </a:cubicBezTo>
                    <a:cubicBezTo>
                      <a:pt x="9966" y="162847"/>
                      <a:pt x="0" y="138787"/>
                      <a:pt x="0" y="113698"/>
                    </a:cubicBezTo>
                    <a:lnTo>
                      <a:pt x="0" y="94595"/>
                    </a:lnTo>
                    <a:cubicBezTo>
                      <a:pt x="0" y="69507"/>
                      <a:pt x="9966" y="45446"/>
                      <a:pt x="27706" y="27706"/>
                    </a:cubicBezTo>
                    <a:cubicBezTo>
                      <a:pt x="45446" y="9966"/>
                      <a:pt x="69507" y="0"/>
                      <a:pt x="94595" y="0"/>
                    </a:cubicBezTo>
                    <a:close/>
                  </a:path>
                </a:pathLst>
              </a:custGeom>
              <a:solidFill>
                <a:srgbClr val="75B06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0" name="TextBox 53">
                <a:extLst>
                  <a:ext uri="{FF2B5EF4-FFF2-40B4-BE49-F238E27FC236}">
                    <a16:creationId xmlns:a16="http://schemas.microsoft.com/office/drawing/2014/main" id="{1686A2CF-1D47-DE1E-92AF-E4C67CFCA1FC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89191" cy="265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r>
                  <a:rPr lang="en-US" sz="3000" b="1">
                    <a:solidFill>
                      <a:srgbClr val="F0F8A4"/>
                    </a:solidFill>
                    <a:latin typeface="Montserrat Bold"/>
                    <a:ea typeface="Montserrat Bold"/>
                    <a:cs typeface="Montserrat Bold"/>
                    <a:sym typeface="Montserrat Bold"/>
                  </a:rPr>
                  <a:t>05</a:t>
                </a:r>
                <a:endParaRPr lang="en-US" sz="3000" b="1" u="none" strike="noStrike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  <a:sym typeface="Montserrat Bold"/>
                </a:endParaRPr>
              </a:p>
            </p:txBody>
          </p:sp>
        </p:grp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2465591E-F02E-5160-F225-020F08230B83}"/>
              </a:ext>
            </a:extLst>
          </p:cNvPr>
          <p:cNvSpPr txBox="1"/>
          <p:nvPr/>
        </p:nvSpPr>
        <p:spPr>
          <a:xfrm>
            <a:off x="1729763" y="353547"/>
            <a:ext cx="16596334" cy="128958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479"/>
              </a:lnSpc>
              <a:spcBef>
                <a:spcPct val="0"/>
              </a:spcBef>
            </a:pPr>
            <a:r>
              <a:rPr lang="en-US" sz="5400">
                <a:solidFill>
                  <a:schemeClr val="bg1"/>
                </a:solidFill>
                <a:latin typeface="League Gothic"/>
                <a:ea typeface="Calibri"/>
                <a:cs typeface="Calibri"/>
                <a:sym typeface="League Gothic"/>
              </a:rPr>
              <a:t>DATA CLEANING &amp; TRANSFORMATION</a:t>
            </a:r>
            <a:endParaRPr lang="en-US" sz="5400">
              <a:solidFill>
                <a:schemeClr val="bg1"/>
              </a:solidFill>
              <a:latin typeface="League Gothic"/>
              <a:ea typeface="Calibri"/>
              <a:cs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6FF6DD0-B057-8E20-CFF5-69172BB3B39E}"/>
              </a:ext>
            </a:extLst>
          </p:cNvPr>
          <p:cNvSpPr/>
          <p:nvPr/>
        </p:nvSpPr>
        <p:spPr>
          <a:xfrm>
            <a:off x="1039512" y="2540858"/>
            <a:ext cx="7600950" cy="1390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4885F69-5087-9B5A-2608-B64F483C9266}"/>
              </a:ext>
            </a:extLst>
          </p:cNvPr>
          <p:cNvSpPr txBox="1"/>
          <p:nvPr/>
        </p:nvSpPr>
        <p:spPr>
          <a:xfrm>
            <a:off x="1095374" y="1800224"/>
            <a:ext cx="57435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2">
                    <a:lumMod val="49000"/>
                  </a:schemeClr>
                </a:solidFill>
                <a:latin typeface="Google Sans Text"/>
                <a:ea typeface="Calibri"/>
                <a:cs typeface="Calibri"/>
              </a:rPr>
              <a:t>Variables Dropped</a:t>
            </a:r>
            <a:endParaRPr lang="en-US" sz="3600" b="1">
              <a:solidFill>
                <a:schemeClr val="bg2">
                  <a:lumMod val="49000"/>
                </a:schemeClr>
              </a:solidFill>
              <a:latin typeface="Google Sans Text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20C9F35-A5FB-1DFF-B0FC-B2CF9E5458A5}"/>
              </a:ext>
            </a:extLst>
          </p:cNvPr>
          <p:cNvGrpSpPr/>
          <p:nvPr/>
        </p:nvGrpSpPr>
        <p:grpSpPr>
          <a:xfrm>
            <a:off x="1076325" y="2556305"/>
            <a:ext cx="7914502" cy="1554381"/>
            <a:chOff x="1076325" y="2556305"/>
            <a:chExt cx="7914502" cy="1554381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4D179FB-7789-F8DE-2C7D-F38DDA322593}"/>
                </a:ext>
              </a:extLst>
            </p:cNvPr>
            <p:cNvSpPr txBox="1"/>
            <p:nvPr/>
          </p:nvSpPr>
          <p:spPr>
            <a:xfrm>
              <a:off x="1076325" y="2556305"/>
              <a:ext cx="7914502" cy="46166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indent="-457200">
                <a:buFont typeface="Arial"/>
                <a:buChar char="•"/>
              </a:pPr>
              <a:r>
                <a:rPr lang="en-US" sz="2400" b="1">
                  <a:ea typeface="Calibri"/>
                  <a:cs typeface="Calibri"/>
                </a:rPr>
                <a:t>S</a:t>
              </a:r>
              <a:r>
                <a:rPr lang="en-US" sz="2400" b="1">
                  <a:latin typeface="Google Sans Text"/>
                  <a:ea typeface="Calibri"/>
                  <a:cs typeface="Calibri"/>
                </a:rPr>
                <a:t>DF Rate, Base Rate, MCLR, Term Deposit Rate</a:t>
              </a:r>
              <a:r>
                <a:rPr lang="en-US" sz="2400" b="1">
                  <a:ea typeface="Calibri"/>
                  <a:cs typeface="Calibri"/>
                </a:rPr>
                <a:t> FBIL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1887F20D-AA58-AE57-7C13-769B6788C62C}"/>
                </a:ext>
              </a:extLst>
            </p:cNvPr>
            <p:cNvSpPr txBox="1"/>
            <p:nvPr/>
          </p:nvSpPr>
          <p:spPr>
            <a:xfrm>
              <a:off x="1090484" y="3279689"/>
              <a:ext cx="7620000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indent="-457200">
                <a:buFont typeface="Wingdings"/>
                <a:buChar char="Ø"/>
              </a:pPr>
              <a:r>
                <a:rPr lang="en-US" sz="2400">
                  <a:solidFill>
                    <a:srgbClr val="1A2B3C"/>
                  </a:solidFill>
                  <a:latin typeface="Google Sans Text"/>
                  <a:ea typeface="Calibri"/>
                  <a:cs typeface="Calibri"/>
                </a:rPr>
                <a:t>100% missing values — not available for study perio</a:t>
              </a:r>
              <a:r>
                <a:rPr lang="en-US" sz="2400">
                  <a:solidFill>
                    <a:srgbClr val="1A2B3C"/>
                  </a:solidFill>
                  <a:ea typeface="Calibri"/>
                  <a:cs typeface="Calibri"/>
                </a:rPr>
                <a:t>d</a:t>
              </a:r>
              <a:endParaRPr lang="en-US" sz="2400">
                <a:ea typeface="Calibri"/>
                <a:cs typeface="Calibri"/>
              </a:endParaRPr>
            </a:p>
            <a:p>
              <a:pPr algn="l"/>
              <a:endParaRPr lang="en-US" sz="2400">
                <a:ea typeface="Calibri"/>
                <a:cs typeface="Calibri"/>
              </a:endParaRPr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5576FDEB-7059-FE98-0A38-ABB3176FA22E}"/>
              </a:ext>
            </a:extLst>
          </p:cNvPr>
          <p:cNvSpPr/>
          <p:nvPr/>
        </p:nvSpPr>
        <p:spPr>
          <a:xfrm>
            <a:off x="9696450" y="2537254"/>
            <a:ext cx="8245560" cy="140609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99DD14D-A301-CC8C-1AC3-7F3F2602F8CB}"/>
              </a:ext>
            </a:extLst>
          </p:cNvPr>
          <p:cNvSpPr txBox="1"/>
          <p:nvPr/>
        </p:nvSpPr>
        <p:spPr>
          <a:xfrm>
            <a:off x="9696450" y="1790700"/>
            <a:ext cx="668655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>
                <a:solidFill>
                  <a:schemeClr val="bg2">
                    <a:lumMod val="49000"/>
                  </a:schemeClr>
                </a:solidFill>
                <a:latin typeface="Google Sans Text"/>
                <a:ea typeface="Calibri"/>
                <a:cs typeface="Calibri"/>
              </a:rPr>
              <a:t>Transformations Applied</a:t>
            </a:r>
            <a:endParaRPr lang="en-US" sz="3600" b="1">
              <a:solidFill>
                <a:schemeClr val="bg2">
                  <a:lumMod val="49000"/>
                </a:schemeClr>
              </a:solidFill>
              <a:latin typeface="Google Sans Text"/>
            </a:endParaRPr>
          </a:p>
          <a:p>
            <a:pPr algn="l"/>
            <a:endParaRPr lang="en-US" sz="3600" b="1">
              <a:solidFill>
                <a:schemeClr val="bg2">
                  <a:lumMod val="49000"/>
                </a:schemeClr>
              </a:solidFill>
              <a:latin typeface="Google Sans Text"/>
              <a:ea typeface="Segoe UI Symbol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BD7D7355-C8CE-A003-BAF4-984206E7E51E}"/>
              </a:ext>
            </a:extLst>
          </p:cNvPr>
          <p:cNvSpPr txBox="1"/>
          <p:nvPr/>
        </p:nvSpPr>
        <p:spPr>
          <a:xfrm>
            <a:off x="9696450" y="2571750"/>
            <a:ext cx="701040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>
                <a:latin typeface="Google Sans Text"/>
                <a:ea typeface="Calibri"/>
                <a:cs typeface="Calibri"/>
              </a:rPr>
              <a:t> 1.  Log-Difference</a:t>
            </a:r>
            <a:endParaRPr lang="en-US" sz="2800" b="1">
              <a:latin typeface="Google Sans Text"/>
            </a:endParaRPr>
          </a:p>
          <a:p>
            <a:pPr algn="l"/>
            <a:endParaRPr lang="en-US" sz="2800" b="1">
              <a:latin typeface="Google Sans Text"/>
              <a:ea typeface="Calibri"/>
              <a:cs typeface="Calibri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07A03AD-B792-CC72-268A-5701A616256F}"/>
              </a:ext>
            </a:extLst>
          </p:cNvPr>
          <p:cNvSpPr txBox="1"/>
          <p:nvPr/>
        </p:nvSpPr>
        <p:spPr>
          <a:xfrm>
            <a:off x="9705974" y="3047999"/>
            <a:ext cx="8543925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>
                <a:latin typeface="Google Sans Text"/>
                <a:ea typeface="Calibri"/>
                <a:cs typeface="Calibri"/>
              </a:rPr>
              <a:t>Gross Credit,</a:t>
            </a:r>
            <a:r>
              <a:rPr lang="en-US" sz="2800">
                <a:latin typeface="Google Sans Text"/>
                <a:ea typeface="+mn-lt"/>
                <a:cs typeface="+mn-lt"/>
              </a:rPr>
              <a:t> </a:t>
            </a:r>
            <a:r>
              <a:rPr lang="en-US" sz="2800">
                <a:ea typeface="+mn-lt"/>
                <a:cs typeface="+mn-lt"/>
              </a:rPr>
              <a:t>Repo Rate</a:t>
            </a:r>
            <a:r>
              <a:rPr lang="en-US" sz="2800">
                <a:latin typeface="Calibri"/>
                <a:ea typeface="Calibri"/>
                <a:cs typeface="Calibri"/>
              </a:rPr>
              <a:t>,</a:t>
            </a:r>
            <a:r>
              <a:rPr lang="en-US" sz="2800">
                <a:latin typeface="Google Sans Text"/>
                <a:ea typeface="Calibri"/>
                <a:cs typeface="Calibri"/>
              </a:rPr>
              <a:t> INR/USD &amp;  INR/EUR (Exchange Rates) .</a:t>
            </a:r>
            <a:endParaRPr lang="en-US" sz="2800">
              <a:latin typeface="Google Sans Text"/>
            </a:endParaRPr>
          </a:p>
          <a:p>
            <a:pPr algn="l"/>
            <a:endParaRPr lang="en-US" sz="2800">
              <a:latin typeface="Google Sans Text"/>
              <a:ea typeface="Calibri"/>
              <a:cs typeface="Calibri"/>
            </a:endParaRP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29326CE8-3716-D222-FD33-EF091C78F4D9}"/>
              </a:ext>
            </a:extLst>
          </p:cNvPr>
          <p:cNvGrpSpPr/>
          <p:nvPr/>
        </p:nvGrpSpPr>
        <p:grpSpPr>
          <a:xfrm>
            <a:off x="1047750" y="4457700"/>
            <a:ext cx="7600950" cy="1668481"/>
            <a:chOff x="1047750" y="4457700"/>
            <a:chExt cx="7600950" cy="1668481"/>
          </a:xfrm>
        </p:grpSpPr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3096392E-DF29-15FD-D385-B7A17F5B18E3}"/>
                </a:ext>
              </a:extLst>
            </p:cNvPr>
            <p:cNvGrpSpPr/>
            <p:nvPr/>
          </p:nvGrpSpPr>
          <p:grpSpPr>
            <a:xfrm>
              <a:off x="1047750" y="4457700"/>
              <a:ext cx="7600950" cy="1390650"/>
              <a:chOff x="1047750" y="4457700"/>
              <a:chExt cx="7600950" cy="1390650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97E57A2-DE2D-C3BE-0151-B3898D2E5B84}"/>
                  </a:ext>
                </a:extLst>
              </p:cNvPr>
              <p:cNvSpPr/>
              <p:nvPr/>
            </p:nvSpPr>
            <p:spPr>
              <a:xfrm>
                <a:off x="1047750" y="4457700"/>
                <a:ext cx="7600950" cy="13906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97BDE818-ED54-B595-CFBD-6CCC9C8A3160}"/>
                  </a:ext>
                </a:extLst>
              </p:cNvPr>
              <p:cNvSpPr txBox="1"/>
              <p:nvPr/>
            </p:nvSpPr>
            <p:spPr>
              <a:xfrm>
                <a:off x="1142999" y="4571999"/>
                <a:ext cx="7400925" cy="95410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Arial"/>
                  <a:buChar char="•"/>
                </a:pPr>
                <a:r>
                  <a:rPr lang="en-US" sz="2800" b="1">
                    <a:latin typeface="Google Sans Text"/>
                    <a:ea typeface="Calibri"/>
                    <a:cs typeface="Calibri"/>
                  </a:rPr>
                  <a:t>Incremental CD Ratio, Incr. Inv-Deposit Ratio</a:t>
                </a:r>
                <a:endParaRPr lang="en-US" sz="2800" b="1">
                  <a:latin typeface="Google Sans Text"/>
                </a:endParaRPr>
              </a:p>
              <a:p>
                <a:pPr marL="457200" indent="-457200" algn="l">
                  <a:buFont typeface="Arial"/>
                  <a:buChar char="•"/>
                </a:pPr>
                <a:endParaRPr lang="en-US" sz="2800" b="1">
                  <a:latin typeface="Google Sans Text"/>
                  <a:ea typeface="Calibri"/>
                  <a:cs typeface="Calibri"/>
                </a:endParaRPr>
              </a:p>
            </p:txBody>
          </p:sp>
        </p:grp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C5AF5EB-617E-38A4-4EBB-9AD060F252E1}"/>
                </a:ext>
              </a:extLst>
            </p:cNvPr>
            <p:cNvSpPr txBox="1"/>
            <p:nvPr/>
          </p:nvSpPr>
          <p:spPr>
            <a:xfrm>
              <a:off x="1171574" y="5172074"/>
              <a:ext cx="7286625" cy="9541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indent="-457200">
                <a:buFont typeface="Wingdings"/>
                <a:buChar char="Ø"/>
              </a:pPr>
              <a:r>
                <a:rPr lang="en-US" sz="2800">
                  <a:latin typeface="Google Sans Text"/>
                  <a:ea typeface="Calibri"/>
                  <a:cs typeface="Calibri"/>
                </a:rPr>
                <a:t>Missing values + extreme outliers (max 748.8)</a:t>
              </a:r>
              <a:endParaRPr lang="en-US" sz="2800">
                <a:latin typeface="Google Sans Text"/>
              </a:endParaRPr>
            </a:p>
            <a:p>
              <a:pPr marL="457200" indent="-457200" algn="l">
                <a:buFont typeface="Wingdings"/>
                <a:buChar char="Ø"/>
              </a:pPr>
              <a:endParaRPr lang="en-US" sz="2800">
                <a:latin typeface="Google Sans Text"/>
                <a:ea typeface="Calibri"/>
                <a:cs typeface="Calibri"/>
              </a:endParaRP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8C8056B1-D40E-8848-572B-9C9F109037CC}"/>
              </a:ext>
            </a:extLst>
          </p:cNvPr>
          <p:cNvGrpSpPr/>
          <p:nvPr/>
        </p:nvGrpSpPr>
        <p:grpSpPr>
          <a:xfrm>
            <a:off x="1028700" y="6362700"/>
            <a:ext cx="8134349" cy="1611331"/>
            <a:chOff x="1047750" y="4457700"/>
            <a:chExt cx="8134349" cy="1611331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C60ED21-D2EC-C135-5F75-E6658B281B54}"/>
                </a:ext>
              </a:extLst>
            </p:cNvPr>
            <p:cNvGrpSpPr/>
            <p:nvPr/>
          </p:nvGrpSpPr>
          <p:grpSpPr>
            <a:xfrm>
              <a:off x="1047750" y="4457700"/>
              <a:ext cx="7600950" cy="1390650"/>
              <a:chOff x="1047750" y="4457700"/>
              <a:chExt cx="7600950" cy="139065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987A73D4-F579-EF79-7E5E-38FF3B9FB2A6}"/>
                  </a:ext>
                </a:extLst>
              </p:cNvPr>
              <p:cNvSpPr/>
              <p:nvPr/>
            </p:nvSpPr>
            <p:spPr>
              <a:xfrm>
                <a:off x="1047750" y="4457700"/>
                <a:ext cx="7600950" cy="13906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74962FE2-5494-28BB-C84F-D42309564F77}"/>
                  </a:ext>
                </a:extLst>
              </p:cNvPr>
              <p:cNvSpPr txBox="1"/>
              <p:nvPr/>
            </p:nvSpPr>
            <p:spPr>
              <a:xfrm>
                <a:off x="1142999" y="4571999"/>
                <a:ext cx="7400925" cy="95410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Arial"/>
                  <a:buChar char="•"/>
                </a:pPr>
                <a:r>
                  <a:rPr lang="en-US" sz="2800" b="1">
                    <a:latin typeface="Google Sans Text"/>
                    <a:ea typeface="Calibri"/>
                    <a:cs typeface="Calibri"/>
                  </a:rPr>
                  <a:t>Reserve Repo Rate, Bank Rate</a:t>
                </a:r>
                <a:endParaRPr lang="en-US" sz="2800" b="1">
                  <a:latin typeface="Google Sans Text"/>
                </a:endParaRPr>
              </a:p>
              <a:p>
                <a:pPr marL="457200" indent="-457200" algn="l">
                  <a:buFont typeface="Arial"/>
                  <a:buChar char="•"/>
                </a:pPr>
                <a:endParaRPr lang="en-US" sz="2800" b="1">
                  <a:latin typeface="Google Sans Text"/>
                  <a:ea typeface="Calibri"/>
                  <a:cs typeface="Calibri"/>
                </a:endParaRPr>
              </a:p>
            </p:txBody>
          </p:sp>
        </p:grp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659EE3FD-EAC0-E857-1941-C7AF5245C011}"/>
                </a:ext>
              </a:extLst>
            </p:cNvPr>
            <p:cNvSpPr txBox="1"/>
            <p:nvPr/>
          </p:nvSpPr>
          <p:spPr>
            <a:xfrm>
              <a:off x="1114424" y="5114924"/>
              <a:ext cx="8067675" cy="95410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indent="-457200">
                <a:buFont typeface="Wingdings"/>
                <a:buChar char="Ø"/>
              </a:pPr>
              <a:r>
                <a:rPr lang="en-US" sz="2800">
                  <a:latin typeface="Google Sans Text"/>
                  <a:ea typeface="Calibri"/>
                  <a:cs typeface="Calibri"/>
                </a:rPr>
                <a:t>Nearly perfect collinearity with Repo &amp; MSF Rate</a:t>
              </a:r>
              <a:endParaRPr lang="en-US">
                <a:ea typeface="Calibri"/>
                <a:cs typeface="Calibri"/>
              </a:endParaRPr>
            </a:p>
            <a:p>
              <a:pPr marL="457200" indent="-457200" algn="l">
                <a:buFont typeface="Wingdings"/>
                <a:buChar char="Ø"/>
              </a:pPr>
              <a:endParaRPr lang="en-US" sz="2800">
                <a:latin typeface="Google Sans Text"/>
                <a:ea typeface="Calibri"/>
                <a:cs typeface="Calibri"/>
              </a:endParaRP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A07316F7-8BCF-FF91-5DCF-6BBDEF7AB734}"/>
              </a:ext>
            </a:extLst>
          </p:cNvPr>
          <p:cNvGrpSpPr/>
          <p:nvPr/>
        </p:nvGrpSpPr>
        <p:grpSpPr>
          <a:xfrm>
            <a:off x="1038224" y="8343899"/>
            <a:ext cx="7610476" cy="1907136"/>
            <a:chOff x="1038224" y="4457700"/>
            <a:chExt cx="7610476" cy="1866889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BA49EB0F-5DA2-DD7F-E339-7DBFECA9EFCC}"/>
                </a:ext>
              </a:extLst>
            </p:cNvPr>
            <p:cNvGrpSpPr/>
            <p:nvPr/>
          </p:nvGrpSpPr>
          <p:grpSpPr>
            <a:xfrm>
              <a:off x="1047750" y="4457700"/>
              <a:ext cx="7600950" cy="1390650"/>
              <a:chOff x="1047750" y="4457700"/>
              <a:chExt cx="7600950" cy="1390650"/>
            </a:xfrm>
          </p:grpSpPr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405651AB-56F4-25A0-7B7B-37C304CD02B4}"/>
                  </a:ext>
                </a:extLst>
              </p:cNvPr>
              <p:cNvSpPr/>
              <p:nvPr/>
            </p:nvSpPr>
            <p:spPr>
              <a:xfrm>
                <a:off x="1047750" y="4457700"/>
                <a:ext cx="7600950" cy="13906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77C8C66-C577-007F-53C4-9EC2AA5BD523}"/>
                  </a:ext>
                </a:extLst>
              </p:cNvPr>
              <p:cNvSpPr txBox="1"/>
              <p:nvPr/>
            </p:nvSpPr>
            <p:spPr>
              <a:xfrm>
                <a:off x="1085849" y="4476749"/>
                <a:ext cx="7400925" cy="95410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>
                  <a:buFont typeface="Arial"/>
                  <a:buChar char="•"/>
                </a:pPr>
                <a:r>
                  <a:rPr lang="en-US" sz="2800" b="1">
                    <a:latin typeface="Google Sans Text"/>
                    <a:ea typeface="Calibri"/>
                    <a:cs typeface="Calibri"/>
                  </a:rPr>
                  <a:t>Non-Food Credit</a:t>
                </a:r>
                <a:endParaRPr lang="en-US" sz="2800" b="1">
                  <a:latin typeface="Google Sans Text"/>
                </a:endParaRPr>
              </a:p>
              <a:p>
                <a:pPr marL="457200" indent="-457200" algn="l">
                  <a:buFont typeface="Arial"/>
                  <a:buChar char="•"/>
                </a:pPr>
                <a:endParaRPr lang="en-US" sz="2800" b="1">
                  <a:latin typeface="Google Sans Text"/>
                  <a:ea typeface="Calibri"/>
                  <a:cs typeface="Calibri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A88ADA3-6B07-6F7B-41B9-66993E387737}"/>
                </a:ext>
              </a:extLst>
            </p:cNvPr>
            <p:cNvSpPr txBox="1"/>
            <p:nvPr/>
          </p:nvSpPr>
          <p:spPr>
            <a:xfrm>
              <a:off x="1038224" y="4939594"/>
              <a:ext cx="7286625" cy="138499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457200" indent="-457200">
                <a:buFont typeface="Wingdings"/>
                <a:buChar char="Ø"/>
              </a:pPr>
              <a:r>
                <a:rPr lang="en-US" sz="2800">
                  <a:latin typeface="Google Sans Text"/>
                  <a:ea typeface="Calibri"/>
                  <a:cs typeface="Calibri"/>
                </a:rPr>
                <a:t>Sub-component of Gross Credit — severe multicollinearity</a:t>
              </a:r>
              <a:endParaRPr lang="en-US" sz="2800">
                <a:latin typeface="Google Sans Text"/>
              </a:endParaRPr>
            </a:p>
            <a:p>
              <a:pPr marL="457200" indent="-457200" algn="l">
                <a:buFont typeface="Wingdings"/>
                <a:buChar char="Ø"/>
              </a:pPr>
              <a:endParaRPr lang="en-US" sz="2800">
                <a:latin typeface="Google Sans Text"/>
                <a:ea typeface="Calibri"/>
                <a:cs typeface="Calibri"/>
              </a:endParaRP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13324CE6-6AAB-A2BD-1E52-17D88A936883}"/>
              </a:ext>
            </a:extLst>
          </p:cNvPr>
          <p:cNvGrpSpPr/>
          <p:nvPr/>
        </p:nvGrpSpPr>
        <p:grpSpPr>
          <a:xfrm>
            <a:off x="9696449" y="6359095"/>
            <a:ext cx="8629650" cy="1721974"/>
            <a:chOff x="1047749" y="4511245"/>
            <a:chExt cx="8629650" cy="1721974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430E809C-5AE3-2CBF-5A3B-1E04CC1ADAE6}"/>
                </a:ext>
              </a:extLst>
            </p:cNvPr>
            <p:cNvGrpSpPr/>
            <p:nvPr/>
          </p:nvGrpSpPr>
          <p:grpSpPr>
            <a:xfrm>
              <a:off x="1047749" y="4511245"/>
              <a:ext cx="8245561" cy="1337105"/>
              <a:chOff x="1047749" y="4511245"/>
              <a:chExt cx="8245561" cy="1337105"/>
            </a:xfrm>
          </p:grpSpPr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2E63190-E349-6946-93B3-6299916FACCE}"/>
                  </a:ext>
                </a:extLst>
              </p:cNvPr>
              <p:cNvSpPr/>
              <p:nvPr/>
            </p:nvSpPr>
            <p:spPr>
              <a:xfrm>
                <a:off x="1047750" y="4511245"/>
                <a:ext cx="8245560" cy="133710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C73194E1-CDA6-924D-8F5E-C16C118CE65C}"/>
                  </a:ext>
                </a:extLst>
              </p:cNvPr>
              <p:cNvSpPr txBox="1"/>
              <p:nvPr/>
            </p:nvSpPr>
            <p:spPr>
              <a:xfrm>
                <a:off x="1047749" y="4514849"/>
                <a:ext cx="7400925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 b="1">
                    <a:latin typeface="Google Sans Text"/>
                    <a:ea typeface="Calibri"/>
                    <a:cs typeface="Calibri"/>
                  </a:rPr>
                  <a:t> 3.  ADF Stationarity Test</a:t>
                </a:r>
                <a:endParaRPr lang="en-US" b="1">
                  <a:ea typeface="Calibri"/>
                  <a:cs typeface="Calibri"/>
                </a:endParaRP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4B0AD3FC-8968-0AC4-343B-51AB745AE8C7}"/>
                </a:ext>
              </a:extLst>
            </p:cNvPr>
            <p:cNvSpPr txBox="1"/>
            <p:nvPr/>
          </p:nvSpPr>
          <p:spPr>
            <a:xfrm>
              <a:off x="1057274" y="4848224"/>
              <a:ext cx="8620125" cy="138499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latin typeface="Google Sans Text"/>
                  <a:ea typeface="Calibri"/>
                  <a:cs typeface="Calibri"/>
                </a:rPr>
                <a:t>Augmented Dickey-Fuller test at 5% significance. Non-stationary series (e.g. CD Ratio, CRR) first-differenced.</a:t>
              </a:r>
              <a:endParaRPr lang="en-US" sz="2800">
                <a:latin typeface="Google Sans Text"/>
              </a:endParaRPr>
            </a:p>
            <a:p>
              <a:pPr marL="457200" indent="-457200" algn="l">
                <a:buFont typeface="Wingdings"/>
                <a:buChar char="Ø"/>
              </a:pPr>
              <a:endParaRPr lang="en-US" sz="2800">
                <a:latin typeface="Google Sans Text"/>
                <a:ea typeface="Calibri"/>
                <a:cs typeface="Calibri"/>
              </a:endParaRPr>
            </a:p>
          </p:txBody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75FAD2B-74CF-5A90-8650-776F0C8B63AD}"/>
              </a:ext>
            </a:extLst>
          </p:cNvPr>
          <p:cNvGrpSpPr/>
          <p:nvPr/>
        </p:nvGrpSpPr>
        <p:grpSpPr>
          <a:xfrm>
            <a:off x="9648824" y="4442255"/>
            <a:ext cx="8277740" cy="1867164"/>
            <a:chOff x="1000124" y="4461305"/>
            <a:chExt cx="8277740" cy="1867164"/>
          </a:xfrm>
        </p:grpSpPr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9076202F-AC76-6A81-5E8D-76CD8683225B}"/>
                </a:ext>
              </a:extLst>
            </p:cNvPr>
            <p:cNvGrpSpPr/>
            <p:nvPr/>
          </p:nvGrpSpPr>
          <p:grpSpPr>
            <a:xfrm>
              <a:off x="1047750" y="4461305"/>
              <a:ext cx="8230114" cy="1387045"/>
              <a:chOff x="1047750" y="4461305"/>
              <a:chExt cx="8230114" cy="1387045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F181464F-6B94-378B-D4C2-39C00E99F394}"/>
                  </a:ext>
                </a:extLst>
              </p:cNvPr>
              <p:cNvSpPr/>
              <p:nvPr/>
            </p:nvSpPr>
            <p:spPr>
              <a:xfrm>
                <a:off x="1047750" y="4461305"/>
                <a:ext cx="8230114" cy="138704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085DE5E8-5E54-7C17-99EF-68EB41D287B8}"/>
                  </a:ext>
                </a:extLst>
              </p:cNvPr>
              <p:cNvSpPr txBox="1"/>
              <p:nvPr/>
            </p:nvSpPr>
            <p:spPr>
              <a:xfrm>
                <a:off x="1142999" y="4571999"/>
                <a:ext cx="7400925" cy="954107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 b="1">
                    <a:latin typeface="Google Sans Text"/>
                    <a:ea typeface="Calibri"/>
                    <a:cs typeface="Calibri"/>
                  </a:rPr>
                  <a:t>2.   Forward-Fill + Back-Fill</a:t>
                </a:r>
                <a:endParaRPr lang="en-US" sz="2800" b="1">
                  <a:latin typeface="Google Sans Text"/>
                </a:endParaRPr>
              </a:p>
              <a:p>
                <a:pPr marL="457200" indent="-457200" algn="l">
                  <a:buAutoNum type="arabicPeriod"/>
                </a:pPr>
                <a:endParaRPr lang="en-US" sz="2800" b="1">
                  <a:latin typeface="Google Sans Text"/>
                  <a:ea typeface="Calibri"/>
                  <a:cs typeface="Calibri"/>
                </a:endParaRPr>
              </a:p>
            </p:txBody>
          </p:sp>
        </p:grp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FDD8822E-BD0E-901D-3F77-B8A99D8B0CC5}"/>
                </a:ext>
              </a:extLst>
            </p:cNvPr>
            <p:cNvSpPr txBox="1"/>
            <p:nvPr/>
          </p:nvSpPr>
          <p:spPr>
            <a:xfrm>
              <a:off x="1000124" y="4943474"/>
              <a:ext cx="7972425" cy="138499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latin typeface="Google Sans Text"/>
                  <a:ea typeface="Calibri"/>
                  <a:cs typeface="Calibri"/>
                </a:rPr>
                <a:t> Minor NAs in CPI (7 </a:t>
              </a:r>
              <a:r>
                <a:rPr lang="en-US" sz="2800" err="1">
                  <a:latin typeface="Google Sans Text"/>
                  <a:ea typeface="Calibri"/>
                  <a:cs typeface="Calibri"/>
                </a:rPr>
                <a:t>obs</a:t>
              </a:r>
              <a:r>
                <a:rPr lang="en-US" sz="2800">
                  <a:latin typeface="Google Sans Text"/>
                  <a:ea typeface="Calibri"/>
                  <a:cs typeface="Calibri"/>
                </a:rPr>
                <a:t>), 91-Day T-Bill (1 </a:t>
              </a:r>
              <a:r>
                <a:rPr lang="en-US" sz="2800" err="1">
                  <a:latin typeface="Google Sans Text"/>
                  <a:ea typeface="Calibri"/>
                  <a:cs typeface="Calibri"/>
                </a:rPr>
                <a:t>obs</a:t>
              </a:r>
              <a:r>
                <a:rPr lang="en-US" sz="2800">
                  <a:latin typeface="Google Sans Text"/>
                  <a:ea typeface="Calibri"/>
                  <a:cs typeface="Calibri"/>
                </a:rPr>
                <a:t>), WPI (1 </a:t>
              </a:r>
              <a:r>
                <a:rPr lang="en-US" sz="2800" err="1">
                  <a:latin typeface="Google Sans Text"/>
                  <a:ea typeface="Calibri"/>
                  <a:cs typeface="Calibri"/>
                </a:rPr>
                <a:t>obs</a:t>
              </a:r>
              <a:r>
                <a:rPr lang="en-US" sz="2800">
                  <a:latin typeface="Google Sans Text"/>
                  <a:ea typeface="Calibri"/>
                  <a:cs typeface="Calibri"/>
                </a:rPr>
                <a:t>) filled by carry-forward method.</a:t>
              </a:r>
              <a:endParaRPr lang="en-US" sz="2800">
                <a:latin typeface="Google Sans Text"/>
              </a:endParaRPr>
            </a:p>
            <a:p>
              <a:pPr marL="457200" indent="-457200" algn="l">
                <a:buFont typeface="Wingdings"/>
                <a:buChar char="Ø"/>
              </a:pPr>
              <a:endParaRPr lang="en-US" sz="2800">
                <a:latin typeface="Google Sans Text"/>
                <a:ea typeface="Calibri"/>
                <a:cs typeface="Calibri"/>
              </a:endParaRP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8DE85AE-EA1C-245E-F1C0-6CD3BB312999}"/>
              </a:ext>
            </a:extLst>
          </p:cNvPr>
          <p:cNvGrpSpPr/>
          <p:nvPr/>
        </p:nvGrpSpPr>
        <p:grpSpPr>
          <a:xfrm>
            <a:off x="9707707" y="8343900"/>
            <a:ext cx="8258174" cy="1907136"/>
            <a:chOff x="1038224" y="4457700"/>
            <a:chExt cx="7925666" cy="186557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22CD2A08-23A4-AF24-1F57-B1918599B58A}"/>
                </a:ext>
              </a:extLst>
            </p:cNvPr>
            <p:cNvGrpSpPr/>
            <p:nvPr/>
          </p:nvGrpSpPr>
          <p:grpSpPr>
            <a:xfrm>
              <a:off x="1047750" y="4457700"/>
              <a:ext cx="7867650" cy="1390650"/>
              <a:chOff x="1047750" y="4457700"/>
              <a:chExt cx="7867650" cy="1390650"/>
            </a:xfrm>
          </p:grpSpPr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68DD271C-3423-2B36-3F53-620BA4BB8063}"/>
                  </a:ext>
                </a:extLst>
              </p:cNvPr>
              <p:cNvSpPr/>
              <p:nvPr/>
            </p:nvSpPr>
            <p:spPr>
              <a:xfrm>
                <a:off x="1047750" y="4457700"/>
                <a:ext cx="7867650" cy="139065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6305C243-308C-B379-4143-2598D861D19D}"/>
                  </a:ext>
                </a:extLst>
              </p:cNvPr>
              <p:cNvSpPr txBox="1"/>
              <p:nvPr/>
            </p:nvSpPr>
            <p:spPr>
              <a:xfrm>
                <a:off x="1142999" y="4488872"/>
                <a:ext cx="7400925" cy="52322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r>
                  <a:rPr lang="en-US" sz="2800" b="1">
                    <a:latin typeface="Google Sans Text"/>
                    <a:ea typeface="Calibri"/>
                    <a:cs typeface="Calibri"/>
                  </a:rPr>
                  <a:t>4.  Standardization (Z-Score)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2EB24B2-A0F5-68F9-396B-AB8B46DC2F14}"/>
                </a:ext>
              </a:extLst>
            </p:cNvPr>
            <p:cNvSpPr txBox="1"/>
            <p:nvPr/>
          </p:nvSpPr>
          <p:spPr>
            <a:xfrm>
              <a:off x="1038224" y="4917497"/>
              <a:ext cx="7925666" cy="1405776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2800">
                  <a:latin typeface="Google Sans Text"/>
                  <a:ea typeface="Calibri"/>
                  <a:cs typeface="Calibri"/>
                </a:rPr>
                <a:t>Before PCA, all </a:t>
              </a:r>
              <a:r>
                <a:rPr lang="en-US" sz="2800" err="1">
                  <a:latin typeface="Google Sans Text"/>
                  <a:ea typeface="Calibri"/>
                  <a:cs typeface="Calibri"/>
                </a:rPr>
                <a:t>X</a:t>
              </a:r>
              <a:r>
                <a:rPr lang="en-US" sz="2800" baseline="-25000" err="1">
                  <a:latin typeface="Google Sans Text"/>
                  <a:ea typeface="Calibri"/>
                  <a:cs typeface="Calibri"/>
                </a:rPr>
                <a:t>t</a:t>
              </a:r>
              <a:r>
                <a:rPr lang="en-US" sz="2800">
                  <a:latin typeface="Google Sans Text"/>
                  <a:ea typeface="Calibri"/>
                  <a:cs typeface="Calibri"/>
                </a:rPr>
                <a:t> variables </a:t>
              </a:r>
              <a:r>
                <a:rPr lang="en-US" sz="2800" err="1">
                  <a:latin typeface="Google Sans Text"/>
                  <a:ea typeface="Calibri"/>
                  <a:cs typeface="Calibri"/>
                </a:rPr>
                <a:t>standardised</a:t>
              </a:r>
              <a:r>
                <a:rPr lang="en-US" sz="2800">
                  <a:latin typeface="Google Sans Text"/>
                  <a:ea typeface="Calibri"/>
                  <a:cs typeface="Calibri"/>
                </a:rPr>
                <a:t> to mean 0, std 1 , essential for PCA scale sensitivity.</a:t>
              </a:r>
              <a:endParaRPr lang="en-US" sz="2800">
                <a:latin typeface="Google Sans Text"/>
              </a:endParaRPr>
            </a:p>
            <a:p>
              <a:pPr marL="457200" indent="-457200" algn="l">
                <a:buFont typeface="Wingdings"/>
                <a:buChar char="Ø"/>
              </a:pPr>
              <a:endParaRPr lang="en-US" sz="2800">
                <a:latin typeface="Google Sans Text"/>
                <a:ea typeface="Calibri"/>
                <a:cs typeface="Calibr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21748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BFC296F3-E17B-FCD7-6C5D-31C30B80DB51}"/>
              </a:ext>
            </a:extLst>
          </p:cNvPr>
          <p:cNvSpPr/>
          <p:nvPr/>
        </p:nvSpPr>
        <p:spPr>
          <a:xfrm flipH="1">
            <a:off x="-3213" y="-450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69867" y="59376"/>
            <a:ext cx="1645920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553390" y="1690452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1565C0"/>
                </a:solidFill>
              </a:rPr>
              <a:t>      </a:t>
            </a:r>
            <a:r>
              <a:rPr lang="en-US" sz="2400" b="1"/>
              <a:t>Implementation Steps: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31520" y="2322576"/>
            <a:ext cx="548640" cy="548640"/>
          </a:xfrm>
          <a:prstGeom prst="ellipse">
            <a:avLst/>
          </a:prstGeom>
          <a:solidFill>
            <a:srgbClr val="9BBB59"/>
          </a:solidFill>
          <a:ln>
            <a:solidFill>
              <a:srgbClr val="9BBB59"/>
            </a:solidFill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2322576"/>
            <a:ext cx="548640" cy="548640"/>
          </a:xfrm>
          <a:prstGeom prst="rect">
            <a:avLst/>
          </a:prstGeom>
          <a:solidFill>
            <a:srgbClr val="9BBB59"/>
          </a:solidFill>
          <a:ln>
            <a:solidFill>
              <a:srgbClr val="9BBB59"/>
            </a:solidFill>
          </a:ln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1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1463040" y="2319132"/>
            <a:ext cx="694944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err="1">
                <a:solidFill>
                  <a:srgbClr val="1A2B3C"/>
                </a:solidFill>
              </a:rPr>
              <a:t>Standardised</a:t>
            </a:r>
            <a:r>
              <a:rPr lang="en-US" sz="2400">
                <a:solidFill>
                  <a:srgbClr val="1A2B3C"/>
                </a:solidFill>
              </a:rPr>
              <a:t>  </a:t>
            </a:r>
            <a:r>
              <a:rPr lang="en-US" sz="2400" err="1">
                <a:solidFill>
                  <a:srgbClr val="1A2B3C"/>
                </a:solidFill>
              </a:rPr>
              <a:t>X</a:t>
            </a:r>
            <a:r>
              <a:rPr lang="en-US" sz="2400" baseline="-25000" err="1">
                <a:solidFill>
                  <a:srgbClr val="1A2B3C"/>
                </a:solidFill>
              </a:rPr>
              <a:t>t</a:t>
            </a:r>
            <a:r>
              <a:rPr lang="en-US" sz="2400">
                <a:solidFill>
                  <a:srgbClr val="1A2B3C"/>
                </a:solidFill>
              </a:rPr>
              <a:t> (Z-score: mean=0, std=1) using only the training set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3090672"/>
            <a:ext cx="548640" cy="54864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3090672"/>
            <a:ext cx="548640" cy="548640"/>
          </a:xfrm>
          <a:prstGeom prst="rect">
            <a:avLst/>
          </a:prstGeom>
          <a:solidFill>
            <a:srgbClr val="9BBB59"/>
          </a:solidFill>
          <a:ln>
            <a:solidFill>
              <a:srgbClr val="9BBB59"/>
            </a:solidFill>
          </a:ln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2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1463040" y="3072384"/>
            <a:ext cx="694944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rgbClr val="1A2B3C"/>
                </a:solidFill>
              </a:rPr>
              <a:t>Applied PCA on </a:t>
            </a:r>
            <a:r>
              <a:rPr lang="en-US" sz="2400" err="1">
                <a:solidFill>
                  <a:srgbClr val="1A2B3C"/>
                </a:solidFill>
              </a:rPr>
              <a:t>standardised</a:t>
            </a:r>
            <a:r>
              <a:rPr lang="en-US" sz="2400">
                <a:solidFill>
                  <a:srgbClr val="1A2B3C"/>
                </a:solidFill>
              </a:rPr>
              <a:t> </a:t>
            </a:r>
            <a:r>
              <a:rPr lang="en-US" sz="2400" err="1">
                <a:solidFill>
                  <a:srgbClr val="1A2B3C"/>
                </a:solidFill>
              </a:rPr>
              <a:t>X</a:t>
            </a:r>
            <a:r>
              <a:rPr lang="en-US" sz="2400" baseline="-25000" err="1">
                <a:solidFill>
                  <a:srgbClr val="1A2B3C"/>
                </a:solidFill>
              </a:rPr>
              <a:t>t</a:t>
            </a:r>
            <a:r>
              <a:rPr lang="en-US" sz="2400">
                <a:solidFill>
                  <a:srgbClr val="1A2B3C"/>
                </a:solidFill>
              </a:rPr>
              <a:t> — extracted all components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9535709" y="2314173"/>
            <a:ext cx="548640" cy="548640"/>
          </a:xfrm>
          <a:prstGeom prst="rect">
            <a:avLst/>
          </a:prstGeom>
          <a:solidFill>
            <a:srgbClr val="9BBB59"/>
          </a:solidFill>
          <a:ln>
            <a:solidFill>
              <a:srgbClr val="9BBB59"/>
            </a:solidFill>
          </a:ln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3</a:t>
            </a:r>
            <a:endParaRPr lang="en-US" sz="1800"/>
          </a:p>
        </p:txBody>
      </p:sp>
      <p:sp>
        <p:nvSpPr>
          <p:cNvPr id="13" name="Text 11"/>
          <p:cNvSpPr/>
          <p:nvPr/>
        </p:nvSpPr>
        <p:spPr>
          <a:xfrm>
            <a:off x="10514364" y="2264994"/>
            <a:ext cx="694944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solidFill>
                  <a:srgbClr val="1A2B3C"/>
                </a:solidFill>
              </a:rPr>
              <a:t>Selected 12 factors where cumulative variance ≥ 80%</a:t>
            </a:r>
            <a:endParaRPr lang="en-US" sz="2400">
              <a:ea typeface="Calibri"/>
              <a:cs typeface="Calibri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9535709" y="3191595"/>
            <a:ext cx="548640" cy="548640"/>
          </a:xfrm>
          <a:prstGeom prst="rect">
            <a:avLst/>
          </a:prstGeom>
          <a:solidFill>
            <a:srgbClr val="9BBB59"/>
          </a:solidFill>
          <a:ln>
            <a:solidFill>
              <a:srgbClr val="9BBB59"/>
            </a:solidFill>
          </a:ln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</a:rPr>
              <a:t>4</a:t>
            </a:r>
            <a:endParaRPr lang="en-US" sz="1800"/>
          </a:p>
        </p:txBody>
      </p:sp>
      <p:sp>
        <p:nvSpPr>
          <p:cNvPr id="16" name="Text 14"/>
          <p:cNvSpPr/>
          <p:nvPr/>
        </p:nvSpPr>
        <p:spPr>
          <a:xfrm>
            <a:off x="10514364" y="3187549"/>
            <a:ext cx="6949440" cy="6583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>
                <a:solidFill>
                  <a:srgbClr val="1A2B3C"/>
                </a:solidFill>
              </a:rPr>
              <a:t>Interpreting factors economically using factor loadings.</a:t>
            </a:r>
            <a:endParaRPr lang="en-US" sz="2400">
              <a:solidFill>
                <a:srgbClr val="1A2B3C"/>
              </a:solidFill>
              <a:ea typeface="Calibri"/>
              <a:cs typeface="Calibri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5486400"/>
            <a:ext cx="168249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b="1">
              <a:solidFill>
                <a:srgbClr val="1565C0"/>
              </a:solidFill>
              <a:ea typeface="Calibri"/>
              <a:cs typeface="Calibri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D8D120-BFFE-8EBC-BD71-D5226078F17C}"/>
              </a:ext>
            </a:extLst>
          </p:cNvPr>
          <p:cNvGrpSpPr/>
          <p:nvPr/>
        </p:nvGrpSpPr>
        <p:grpSpPr>
          <a:xfrm>
            <a:off x="-184150" y="-920689"/>
            <a:ext cx="17638470" cy="2454007"/>
            <a:chOff x="-184150" y="-920689"/>
            <a:chExt cx="17638470" cy="2454007"/>
          </a:xfrm>
        </p:grpSpPr>
        <p:grpSp>
          <p:nvGrpSpPr>
            <p:cNvPr id="23" name="Group 42">
              <a:extLst>
                <a:ext uri="{FF2B5EF4-FFF2-40B4-BE49-F238E27FC236}">
                  <a16:creationId xmlns:a16="http://schemas.microsoft.com/office/drawing/2014/main" id="{5A0F6C4F-9D72-0397-5149-78D2D429CD10}"/>
                </a:ext>
              </a:extLst>
            </p:cNvPr>
            <p:cNvGrpSpPr/>
            <p:nvPr/>
          </p:nvGrpSpPr>
          <p:grpSpPr>
            <a:xfrm>
              <a:off x="-184150" y="-920689"/>
              <a:ext cx="14643282" cy="2304655"/>
              <a:chOff x="101600" y="-38100"/>
              <a:chExt cx="12226854" cy="1651661"/>
            </a:xfrm>
          </p:grpSpPr>
          <p:sp>
            <p:nvSpPr>
              <p:cNvPr id="21" name="Freeform 43">
                <a:extLst>
                  <a:ext uri="{FF2B5EF4-FFF2-40B4-BE49-F238E27FC236}">
                    <a16:creationId xmlns:a16="http://schemas.microsoft.com/office/drawing/2014/main" id="{AC62865C-6E70-6CA3-85CB-499E9C1DA461}"/>
                  </a:ext>
                </a:extLst>
              </p:cNvPr>
              <p:cNvSpPr/>
              <p:nvPr/>
            </p:nvSpPr>
            <p:spPr>
              <a:xfrm>
                <a:off x="1375798" y="1003961"/>
                <a:ext cx="1095265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0952656" h="609600">
                    <a:moveTo>
                      <a:pt x="203200" y="0"/>
                    </a:moveTo>
                    <a:lnTo>
                      <a:pt x="10952656" y="0"/>
                    </a:lnTo>
                    <a:lnTo>
                      <a:pt x="1074945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6656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44">
                <a:extLst>
                  <a:ext uri="{FF2B5EF4-FFF2-40B4-BE49-F238E27FC236}">
                    <a16:creationId xmlns:a16="http://schemas.microsoft.com/office/drawing/2014/main" id="{C8E9A160-2905-38A2-F67E-23244BB5E05E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0749456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25" name="Freeform 52">
              <a:extLst>
                <a:ext uri="{FF2B5EF4-FFF2-40B4-BE49-F238E27FC236}">
                  <a16:creationId xmlns:a16="http://schemas.microsoft.com/office/drawing/2014/main" id="{FFA3E9E5-7E2F-C743-701C-63065A47BCD5}"/>
                </a:ext>
              </a:extLst>
            </p:cNvPr>
            <p:cNvSpPr/>
            <p:nvPr/>
          </p:nvSpPr>
          <p:spPr>
            <a:xfrm>
              <a:off x="793955" y="385145"/>
              <a:ext cx="978931" cy="1148173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 lIns="91440" tIns="45720" rIns="91440" bIns="45720" anchor="t"/>
            <a:lstStyle/>
            <a:p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27" name="Freeform 46">
              <a:extLst>
                <a:ext uri="{FF2B5EF4-FFF2-40B4-BE49-F238E27FC236}">
                  <a16:creationId xmlns:a16="http://schemas.microsoft.com/office/drawing/2014/main" id="{F74470FC-65D6-479A-945B-36760AEEEE65}"/>
                </a:ext>
              </a:extLst>
            </p:cNvPr>
            <p:cNvSpPr/>
            <p:nvPr/>
          </p:nvSpPr>
          <p:spPr>
            <a:xfrm>
              <a:off x="14459603" y="507466"/>
              <a:ext cx="1085307" cy="909371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49">
              <a:extLst>
                <a:ext uri="{FF2B5EF4-FFF2-40B4-BE49-F238E27FC236}">
                  <a16:creationId xmlns:a16="http://schemas.microsoft.com/office/drawing/2014/main" id="{608D7D0B-9E48-C992-247C-1BCFFE3AF8FE}"/>
                </a:ext>
              </a:extLst>
            </p:cNvPr>
            <p:cNvSpPr/>
            <p:nvPr/>
          </p:nvSpPr>
          <p:spPr>
            <a:xfrm>
              <a:off x="15544910" y="507466"/>
              <a:ext cx="1909410" cy="909371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3A7C84B-E14E-7384-950E-F1FCBD4AB4A8}"/>
                </a:ext>
              </a:extLst>
            </p:cNvPr>
            <p:cNvSpPr txBox="1"/>
            <p:nvPr/>
          </p:nvSpPr>
          <p:spPr>
            <a:xfrm>
              <a:off x="1845444" y="586200"/>
              <a:ext cx="7512046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4800">
                  <a:solidFill>
                    <a:schemeClr val="bg1"/>
                  </a:solidFill>
                  <a:latin typeface="League Gothic"/>
                  <a:ea typeface="Calibri"/>
                  <a:cs typeface="Calibri"/>
                </a:rPr>
                <a:t>PCA – FACTOR EXTRACTION</a:t>
              </a: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C4C7CCDB-D90A-C379-792E-397269B765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359" r="135"/>
          <a:stretch>
            <a:fillRect/>
          </a:stretch>
        </p:blipFill>
        <p:spPr>
          <a:xfrm>
            <a:off x="1025903" y="4182821"/>
            <a:ext cx="15449630" cy="5736506"/>
          </a:xfrm>
          <a:prstGeom prst="rect">
            <a:avLst/>
          </a:prstGeom>
        </p:spPr>
      </p:pic>
      <p:sp>
        <p:nvSpPr>
          <p:cNvPr id="28" name="TextBox 53">
            <a:extLst>
              <a:ext uri="{FF2B5EF4-FFF2-40B4-BE49-F238E27FC236}">
                <a16:creationId xmlns:a16="http://schemas.microsoft.com/office/drawing/2014/main" id="{3C2EFB9A-CAC8-75C3-5F7C-8417AB39DF3E}"/>
              </a:ext>
            </a:extLst>
          </p:cNvPr>
          <p:cNvSpPr txBox="1"/>
          <p:nvPr/>
        </p:nvSpPr>
        <p:spPr>
          <a:xfrm>
            <a:off x="928816" y="265204"/>
            <a:ext cx="750131" cy="143784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  <a:endParaRPr lang="en-US" sz="3000" b="1" u="none" strike="noStrike">
              <a:solidFill>
                <a:srgbClr val="F0F8A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3C44A791-491E-DA62-5FF5-57D0DFB34E19}"/>
              </a:ext>
            </a:extLst>
          </p:cNvPr>
          <p:cNvSpPr/>
          <p:nvPr/>
        </p:nvSpPr>
        <p:spPr>
          <a:xfrm flipH="1">
            <a:off x="-3213" y="-450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4F406D-0C1F-791D-6124-F2525AB21B8B}"/>
              </a:ext>
            </a:extLst>
          </p:cNvPr>
          <p:cNvSpPr txBox="1"/>
          <p:nvPr/>
        </p:nvSpPr>
        <p:spPr>
          <a:xfrm>
            <a:off x="903205" y="694773"/>
            <a:ext cx="16211393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solidFill>
                  <a:srgbClr val="1565C0"/>
                </a:solidFill>
                <a:ea typeface="Calibri"/>
                <a:cs typeface="Calibri"/>
              </a:rPr>
              <a:t>:</a:t>
            </a:r>
            <a:endParaRPr lang="en-US" sz="3200">
              <a:ea typeface="Calibri"/>
              <a:cs typeface="Calibri"/>
            </a:endParaRPr>
          </a:p>
          <a:p>
            <a:pPr algn="l"/>
            <a:endParaRPr lang="en-US" sz="3200">
              <a:ea typeface="Calibri"/>
              <a:cs typeface="Calibri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6F674B5-BB36-02F9-676F-99FDA94816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3257182"/>
              </p:ext>
            </p:extLst>
          </p:nvPr>
        </p:nvGraphicFramePr>
        <p:xfrm>
          <a:off x="699524" y="1766454"/>
          <a:ext cx="16905234" cy="8076587"/>
        </p:xfrm>
        <a:graphic>
          <a:graphicData uri="http://schemas.openxmlformats.org/drawingml/2006/table">
            <a:tbl>
              <a:tblPr firstRow="1" firstCol="1" bandRow="1">
                <a:tableStyleId>{8799B23B-EC83-4686-B30A-512413B5E67A}</a:tableStyleId>
              </a:tblPr>
              <a:tblGrid>
                <a:gridCol w="2909453">
                  <a:extLst>
                    <a:ext uri="{9D8B030D-6E8A-4147-A177-3AD203B41FA5}">
                      <a16:colId xmlns:a16="http://schemas.microsoft.com/office/drawing/2014/main" val="4240705954"/>
                    </a:ext>
                  </a:extLst>
                </a:gridCol>
                <a:gridCol w="5689021">
                  <a:extLst>
                    <a:ext uri="{9D8B030D-6E8A-4147-A177-3AD203B41FA5}">
                      <a16:colId xmlns:a16="http://schemas.microsoft.com/office/drawing/2014/main" val="3535556392"/>
                    </a:ext>
                  </a:extLst>
                </a:gridCol>
                <a:gridCol w="2779568">
                  <a:extLst>
                    <a:ext uri="{9D8B030D-6E8A-4147-A177-3AD203B41FA5}">
                      <a16:colId xmlns:a16="http://schemas.microsoft.com/office/drawing/2014/main" val="3365000496"/>
                    </a:ext>
                  </a:extLst>
                </a:gridCol>
                <a:gridCol w="5527192">
                  <a:extLst>
                    <a:ext uri="{9D8B030D-6E8A-4147-A177-3AD203B41FA5}">
                      <a16:colId xmlns:a16="http://schemas.microsoft.com/office/drawing/2014/main" val="2816603688"/>
                    </a:ext>
                  </a:extLst>
                </a:gridCol>
              </a:tblGrid>
              <a:tr h="6461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</a:rPr>
                        <a:t>Factor</a:t>
                      </a:r>
                    </a:p>
                  </a:txBody>
                  <a:tcPr marL="68580" marR="68580" marT="0" marB="0" anchor="ctr"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</a:rPr>
                        <a:t>Name</a:t>
                      </a:r>
                    </a:p>
                  </a:txBody>
                  <a:tcPr marL="68580" marR="68580" marT="0" marB="0" anchor="ctr"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</a:rPr>
                        <a:t>Variance (%)</a:t>
                      </a:r>
                    </a:p>
                  </a:txBody>
                  <a:tcPr marL="68580" marR="68580" marT="0" marB="0" anchor="ctr"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>
                          <a:solidFill>
                            <a:schemeClr val="bg1"/>
                          </a:solidFill>
                          <a:effectLst/>
                        </a:rPr>
                        <a:t>Key Variables</a:t>
                      </a:r>
                    </a:p>
                  </a:txBody>
                  <a:tcPr marL="68580" marR="68580" marT="0" marB="0" anchor="ctr"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460422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Factor 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</a:rPr>
                        <a:t> Financial Tightness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15.91%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364-Day T-Bill, 91-Day T-Bill, MSF Rate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33132443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</a:rPr>
                        <a:t>Inflation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11.13%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CPI, Primary Articles, Reserve Money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40890985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</a:rPr>
                        <a:t>Input Cost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10.21%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WPI, Primary Articles, Fuel &amp; Power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690432892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</a:rPr>
                        <a:t>Exchange Rate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7.64%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INR-USD, INR-EUR, Call Money Rate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45033513"/>
                  </a:ext>
                </a:extLst>
              </a:tr>
              <a:tr h="4845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Trade &amp; External Demand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7.06%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Imports, Exports, CRR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616814127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Bank Deposit Rate &amp; Credit Cycle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6.04%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Term Deposit Rate, GBC growth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62125047"/>
                  </a:ext>
                </a:extLst>
              </a:tr>
              <a:tr h="484595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Regulatory Liquidity (SLR)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4.71%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SLR, Broad Money 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119180837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Real Activity &amp; Money Supply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4.01%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IIP, Broad Money, Deposits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24505104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Lending Rate &amp; Currency Differential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3.63%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Base Rate, Exports, INR-EUR (−)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844052214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Term Premium &amp; Euro Exposure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3.47%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TD Rate &gt;1yr, INR-EUR, Base Rate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673935684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Banking Sector Health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3.33%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Base Rate, Broad Money, CD Ratio (−)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08277801"/>
                  </a:ext>
                </a:extLst>
              </a:tr>
              <a:tr h="646127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  <a:ea typeface="Calibri"/>
                          <a:cs typeface="Calibri"/>
                        </a:rPr>
                        <a:t>Factor </a:t>
                      </a: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Savings Rate &amp; Retail Credit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000000"/>
                          </a:solidFill>
                          <a:effectLst/>
                        </a:rPr>
                        <a:t>3.11%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</a:rPr>
                        <a:t>Savings Deposit Rate, Imports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82895392"/>
                  </a:ext>
                </a:extLst>
              </a:tr>
            </a:tbl>
          </a:graphicData>
        </a:graphic>
      </p:graphicFrame>
      <p:grpSp>
        <p:nvGrpSpPr>
          <p:cNvPr id="15" name="Group 14">
            <a:extLst>
              <a:ext uri="{FF2B5EF4-FFF2-40B4-BE49-F238E27FC236}">
                <a16:creationId xmlns:a16="http://schemas.microsoft.com/office/drawing/2014/main" id="{EB520E5E-C023-B6C4-FCA8-B1D621A130BD}"/>
              </a:ext>
            </a:extLst>
          </p:cNvPr>
          <p:cNvGrpSpPr/>
          <p:nvPr/>
        </p:nvGrpSpPr>
        <p:grpSpPr>
          <a:xfrm>
            <a:off x="-204932" y="-920689"/>
            <a:ext cx="17638470" cy="2454007"/>
            <a:chOff x="-184150" y="-920689"/>
            <a:chExt cx="17638470" cy="2454007"/>
          </a:xfrm>
        </p:grpSpPr>
        <p:grpSp>
          <p:nvGrpSpPr>
            <p:cNvPr id="8" name="Group 42">
              <a:extLst>
                <a:ext uri="{FF2B5EF4-FFF2-40B4-BE49-F238E27FC236}">
                  <a16:creationId xmlns:a16="http://schemas.microsoft.com/office/drawing/2014/main" id="{52C09699-D0D6-BD89-F678-2B2CC8984BAD}"/>
                </a:ext>
              </a:extLst>
            </p:cNvPr>
            <p:cNvGrpSpPr/>
            <p:nvPr/>
          </p:nvGrpSpPr>
          <p:grpSpPr>
            <a:xfrm>
              <a:off x="-184150" y="-920689"/>
              <a:ext cx="14643282" cy="2304655"/>
              <a:chOff x="101600" y="-38100"/>
              <a:chExt cx="12226854" cy="1651661"/>
            </a:xfrm>
          </p:grpSpPr>
          <p:sp>
            <p:nvSpPr>
              <p:cNvPr id="13" name="Freeform 43">
                <a:extLst>
                  <a:ext uri="{FF2B5EF4-FFF2-40B4-BE49-F238E27FC236}">
                    <a16:creationId xmlns:a16="http://schemas.microsoft.com/office/drawing/2014/main" id="{6D02167A-14FD-4416-7FB9-F7C08B52515A}"/>
                  </a:ext>
                </a:extLst>
              </p:cNvPr>
              <p:cNvSpPr/>
              <p:nvPr/>
            </p:nvSpPr>
            <p:spPr>
              <a:xfrm>
                <a:off x="1375798" y="1003961"/>
                <a:ext cx="1095265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0952656" h="609600">
                    <a:moveTo>
                      <a:pt x="203200" y="0"/>
                    </a:moveTo>
                    <a:lnTo>
                      <a:pt x="10952656" y="0"/>
                    </a:lnTo>
                    <a:lnTo>
                      <a:pt x="1074945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6656B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4" name="TextBox 44">
                <a:extLst>
                  <a:ext uri="{FF2B5EF4-FFF2-40B4-BE49-F238E27FC236}">
                    <a16:creationId xmlns:a16="http://schemas.microsoft.com/office/drawing/2014/main" id="{F15E83FC-10D4-73D8-C940-605384BF1A8B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0749456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9" name="Freeform 52">
              <a:extLst>
                <a:ext uri="{FF2B5EF4-FFF2-40B4-BE49-F238E27FC236}">
                  <a16:creationId xmlns:a16="http://schemas.microsoft.com/office/drawing/2014/main" id="{7A9C7DF0-862A-D24B-F1FB-A102DE47BCEB}"/>
                </a:ext>
              </a:extLst>
            </p:cNvPr>
            <p:cNvSpPr/>
            <p:nvPr/>
          </p:nvSpPr>
          <p:spPr>
            <a:xfrm>
              <a:off x="793955" y="385145"/>
              <a:ext cx="978931" cy="1148173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 lIns="91440" tIns="45720" rIns="91440" bIns="45720" anchor="t"/>
            <a:lstStyle/>
            <a:p>
              <a:endParaRPr lang="en-US">
                <a:solidFill>
                  <a:schemeClr val="bg1"/>
                </a:solidFill>
                <a:ea typeface="Calibri"/>
                <a:cs typeface="Calibri"/>
              </a:endParaRPr>
            </a:p>
          </p:txBody>
        </p:sp>
        <p:sp>
          <p:nvSpPr>
            <p:cNvPr id="10" name="Freeform 46">
              <a:extLst>
                <a:ext uri="{FF2B5EF4-FFF2-40B4-BE49-F238E27FC236}">
                  <a16:creationId xmlns:a16="http://schemas.microsoft.com/office/drawing/2014/main" id="{EC3906C8-4B12-0B7D-1333-6C01802731AA}"/>
                </a:ext>
              </a:extLst>
            </p:cNvPr>
            <p:cNvSpPr/>
            <p:nvPr/>
          </p:nvSpPr>
          <p:spPr>
            <a:xfrm>
              <a:off x="14459603" y="507466"/>
              <a:ext cx="1085307" cy="909371"/>
            </a:xfrm>
            <a:custGeom>
              <a:avLst/>
              <a:gdLst/>
              <a:ahLst/>
              <a:cxnLst/>
              <a:rect l="l" t="t" r="r" b="b"/>
              <a:pathLst>
                <a:path w="869980" h="609600">
                  <a:moveTo>
                    <a:pt x="203200" y="0"/>
                  </a:moveTo>
                  <a:lnTo>
                    <a:pt x="869980" y="0"/>
                  </a:lnTo>
                  <a:lnTo>
                    <a:pt x="6667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9BBB59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49">
              <a:extLst>
                <a:ext uri="{FF2B5EF4-FFF2-40B4-BE49-F238E27FC236}">
                  <a16:creationId xmlns:a16="http://schemas.microsoft.com/office/drawing/2014/main" id="{5E4F676D-14AA-D949-861F-3BC4386AFDAC}"/>
                </a:ext>
              </a:extLst>
            </p:cNvPr>
            <p:cNvSpPr/>
            <p:nvPr/>
          </p:nvSpPr>
          <p:spPr>
            <a:xfrm>
              <a:off x="15544910" y="507466"/>
              <a:ext cx="1909410" cy="909371"/>
            </a:xfrm>
            <a:custGeom>
              <a:avLst/>
              <a:gdLst/>
              <a:ahLst/>
              <a:cxnLst/>
              <a:rect l="l" t="t" r="r" b="b"/>
              <a:pathLst>
                <a:path w="1530580" h="609600">
                  <a:moveTo>
                    <a:pt x="203200" y="0"/>
                  </a:moveTo>
                  <a:lnTo>
                    <a:pt x="1530580" y="0"/>
                  </a:lnTo>
                  <a:lnTo>
                    <a:pt x="132738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75B06F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D177C95-B7E2-C47C-E1F5-AF4E9EA96E37}"/>
                </a:ext>
              </a:extLst>
            </p:cNvPr>
            <p:cNvSpPr txBox="1"/>
            <p:nvPr/>
          </p:nvSpPr>
          <p:spPr>
            <a:xfrm>
              <a:off x="1845444" y="586200"/>
              <a:ext cx="7512046" cy="830997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4800">
                  <a:solidFill>
                    <a:schemeClr val="bg1"/>
                  </a:solidFill>
                  <a:latin typeface="League Gothic"/>
                  <a:ea typeface="Calibri"/>
                  <a:cs typeface="Calibri"/>
                </a:rPr>
                <a:t>FACTOR INTERPRETATIONS</a:t>
              </a:r>
            </a:p>
          </p:txBody>
        </p:sp>
      </p:grpSp>
      <p:sp>
        <p:nvSpPr>
          <p:cNvPr id="17" name="TextBox 53">
            <a:extLst>
              <a:ext uri="{FF2B5EF4-FFF2-40B4-BE49-F238E27FC236}">
                <a16:creationId xmlns:a16="http://schemas.microsoft.com/office/drawing/2014/main" id="{C5D88E5A-38B2-9FAC-EF92-A6744B3CB8D6}"/>
              </a:ext>
            </a:extLst>
          </p:cNvPr>
          <p:cNvSpPr txBox="1"/>
          <p:nvPr/>
        </p:nvSpPr>
        <p:spPr>
          <a:xfrm>
            <a:off x="887252" y="306767"/>
            <a:ext cx="750131" cy="143784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  <a:endParaRPr lang="en-US" sz="3000" b="1" u="none" strike="noStrike">
              <a:solidFill>
                <a:srgbClr val="F0F8A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1089039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C78337B4-F5D5-CB8E-2876-0F35C230F339}"/>
              </a:ext>
            </a:extLst>
          </p:cNvPr>
          <p:cNvSpPr/>
          <p:nvPr/>
        </p:nvSpPr>
        <p:spPr>
          <a:xfrm flipH="1">
            <a:off x="-3213" y="1281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3225338" y="4688378"/>
            <a:ext cx="420624" cy="3657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114842" y="4688378"/>
            <a:ext cx="420624" cy="3657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528445" y="4146928"/>
            <a:ext cx="2468880" cy="1280160"/>
          </a:xfrm>
          <a:prstGeom prst="rect">
            <a:avLst/>
          </a:prstGeom>
          <a:solidFill>
            <a:schemeClr val="accent6">
              <a:lumMod val="75000"/>
            </a:scheme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9004346" y="4619105"/>
            <a:ext cx="420624" cy="3657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11893850" y="4619105"/>
            <a:ext cx="420624" cy="3657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12314474" y="4144587"/>
            <a:ext cx="246888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</a:rPr>
              <a:t>VAR(p)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14731400" y="4567151"/>
            <a:ext cx="420624" cy="365760"/>
          </a:xfrm>
          <a:prstGeom prst="rect">
            <a:avLst/>
          </a:prstGeom>
          <a:solidFill>
            <a:srgbClr val="0D2137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75841A6-2D80-18A2-E267-F23DB26CABED}"/>
              </a:ext>
            </a:extLst>
          </p:cNvPr>
          <p:cNvGrpSpPr/>
          <p:nvPr/>
        </p:nvGrpSpPr>
        <p:grpSpPr>
          <a:xfrm>
            <a:off x="408391" y="6680063"/>
            <a:ext cx="8321040" cy="2377440"/>
            <a:chOff x="640080" y="4023360"/>
            <a:chExt cx="8321040" cy="2377440"/>
          </a:xfrm>
        </p:grpSpPr>
        <p:sp>
          <p:nvSpPr>
            <p:cNvPr id="32" name="Shape 30"/>
            <p:cNvSpPr/>
            <p:nvPr/>
          </p:nvSpPr>
          <p:spPr>
            <a:xfrm>
              <a:off x="640080" y="4023360"/>
              <a:ext cx="8321040" cy="2377440"/>
            </a:xfrm>
            <a:prstGeom prst="rect">
              <a:avLst/>
            </a:prstGeom>
            <a:solidFill>
              <a:srgbClr val="FFFFFF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Shape 31"/>
            <p:cNvSpPr/>
            <p:nvPr/>
          </p:nvSpPr>
          <p:spPr>
            <a:xfrm>
              <a:off x="640080" y="4023360"/>
              <a:ext cx="128016" cy="2377440"/>
            </a:xfrm>
            <a:prstGeom prst="rect">
              <a:avLst/>
            </a:prstGeom>
            <a:solidFill>
              <a:srgbClr val="9BBB59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Text 33"/>
            <p:cNvSpPr/>
            <p:nvPr/>
          </p:nvSpPr>
          <p:spPr>
            <a:xfrm>
              <a:off x="932688" y="4206240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3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6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20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6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5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</a:rPr>
                <a:t>1</a:t>
              </a:r>
              <a:endParaRPr lang="en-US" sz="2000"/>
            </a:p>
          </p:txBody>
        </p:sp>
        <p:sp>
          <p:nvSpPr>
            <p:cNvPr id="36" name="Text 34"/>
            <p:cNvSpPr/>
            <p:nvPr/>
          </p:nvSpPr>
          <p:spPr>
            <a:xfrm>
              <a:off x="1773936" y="4206240"/>
              <a:ext cx="69860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3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6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20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6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5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2800" b="1">
                  <a:solidFill>
                    <a:srgbClr val="1565C0"/>
                  </a:solidFill>
                </a:rPr>
                <a:t>Combine Factors + Observed Vars</a:t>
              </a:r>
              <a:endParaRPr lang="en-US" sz="2800"/>
            </a:p>
          </p:txBody>
        </p:sp>
        <p:sp>
          <p:nvSpPr>
            <p:cNvPr id="37" name="Text 35"/>
            <p:cNvSpPr/>
            <p:nvPr/>
          </p:nvSpPr>
          <p:spPr>
            <a:xfrm>
              <a:off x="969264" y="4937760"/>
              <a:ext cx="77724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3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6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20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6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5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400" b="1">
                  <a:solidFill>
                    <a:srgbClr val="1A2B3C"/>
                  </a:solidFill>
                </a:rPr>
                <a:t> </a:t>
              </a:r>
              <a:r>
                <a:rPr lang="en-US" sz="2800" b="1">
                  <a:solidFill>
                    <a:srgbClr val="1A2B3C"/>
                  </a:solidFill>
                </a:rPr>
                <a:t>Z</a:t>
              </a:r>
              <a:r>
                <a:rPr lang="en-US" sz="2800" b="1" baseline="-25000">
                  <a:solidFill>
                    <a:srgbClr val="1A2B3C"/>
                  </a:solidFill>
                </a:rPr>
                <a:t>t</a:t>
              </a:r>
              <a:r>
                <a:rPr lang="en-US" sz="2800" b="1">
                  <a:solidFill>
                    <a:srgbClr val="1A2B3C"/>
                  </a:solidFill>
                </a:rPr>
                <a:t> = [F</a:t>
              </a:r>
              <a:r>
                <a:rPr lang="en-US" sz="2800" b="1" baseline="-25000">
                  <a:solidFill>
                    <a:srgbClr val="1A2B3C"/>
                  </a:solidFill>
                </a:rPr>
                <a:t>1</a:t>
              </a:r>
              <a:r>
                <a:rPr lang="en-US" sz="2800" b="1">
                  <a:solidFill>
                    <a:srgbClr val="1A2B3C"/>
                  </a:solidFill>
                </a:rPr>
                <a:t>t, F</a:t>
              </a:r>
              <a:r>
                <a:rPr lang="en-US" sz="2800" b="1" baseline="-25000">
                  <a:solidFill>
                    <a:srgbClr val="1A2B3C"/>
                  </a:solidFill>
                </a:rPr>
                <a:t>2t</a:t>
              </a:r>
              <a:r>
                <a:rPr lang="en-US" sz="2800" b="1">
                  <a:solidFill>
                    <a:srgbClr val="1A2B3C"/>
                  </a:solidFill>
                </a:rPr>
                <a:t>, ..., F</a:t>
              </a:r>
              <a:r>
                <a:rPr lang="en-US" sz="2800" b="1" baseline="-25000">
                  <a:solidFill>
                    <a:srgbClr val="1A2B3C"/>
                  </a:solidFill>
                </a:rPr>
                <a:t>12t</a:t>
              </a:r>
              <a:r>
                <a:rPr lang="en-US" sz="2800" b="1">
                  <a:solidFill>
                    <a:srgbClr val="1A2B3C"/>
                  </a:solidFill>
                </a:rPr>
                <a:t>, log Gross Credit, Repo Rate]. The input to the VAR model.</a:t>
              </a:r>
              <a:endParaRPr lang="en-US" sz="2800" b="1">
                <a:ea typeface="Calibri"/>
                <a:cs typeface="Calibri"/>
              </a:endParaRPr>
            </a:p>
          </p:txBody>
        </p:sp>
      </p:grpSp>
      <p:sp>
        <p:nvSpPr>
          <p:cNvPr id="41" name="Text 39"/>
          <p:cNvSpPr/>
          <p:nvPr/>
        </p:nvSpPr>
        <p:spPr>
          <a:xfrm>
            <a:off x="9802368" y="42062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0643616" y="4206240"/>
            <a:ext cx="69860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800" b="1">
              <a:solidFill>
                <a:srgbClr val="1565C0"/>
              </a:solidFill>
              <a:ea typeface="Calibri"/>
              <a:cs typeface="Calibri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9564904" y="6766560"/>
            <a:ext cx="8321040" cy="2377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9844999" y="6949440"/>
            <a:ext cx="658368" cy="658368"/>
          </a:xfrm>
          <a:prstGeom prst="ellipse">
            <a:avLst/>
          </a:prstGeom>
          <a:solidFill>
            <a:srgbClr val="9BBB59"/>
          </a:solidFill>
          <a:ln/>
        </p:spPr>
        <p:txBody>
          <a:bodyPr/>
          <a:lstStyle/>
          <a:p>
            <a:endParaRPr lang="en-IN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547B36A-8371-8CED-0750-9AD33EFA084E}"/>
              </a:ext>
            </a:extLst>
          </p:cNvPr>
          <p:cNvGrpSpPr/>
          <p:nvPr/>
        </p:nvGrpSpPr>
        <p:grpSpPr>
          <a:xfrm>
            <a:off x="9567837" y="6766560"/>
            <a:ext cx="8183528" cy="2377440"/>
            <a:chOff x="640080" y="6766560"/>
            <a:chExt cx="8183528" cy="2377440"/>
          </a:xfrm>
        </p:grpSpPr>
        <p:sp>
          <p:nvSpPr>
            <p:cNvPr id="45" name="Shape 43"/>
            <p:cNvSpPr/>
            <p:nvPr/>
          </p:nvSpPr>
          <p:spPr>
            <a:xfrm>
              <a:off x="640080" y="6766560"/>
              <a:ext cx="128016" cy="2377440"/>
            </a:xfrm>
            <a:prstGeom prst="rect">
              <a:avLst/>
            </a:prstGeom>
            <a:solidFill>
              <a:srgbClr val="36656B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Text 45"/>
            <p:cNvSpPr/>
            <p:nvPr/>
          </p:nvSpPr>
          <p:spPr>
            <a:xfrm>
              <a:off x="932688" y="6949440"/>
              <a:ext cx="658368" cy="6583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3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6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20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6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5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r>
                <a:rPr lang="en-US" sz="2000" b="1">
                  <a:solidFill>
                    <a:srgbClr val="FFFFFF"/>
                  </a:solidFill>
                  <a:ea typeface="Calibri"/>
                  <a:cs typeface="Calibri"/>
                </a:rPr>
                <a:t>2</a:t>
              </a:r>
            </a:p>
          </p:txBody>
        </p:sp>
        <p:sp>
          <p:nvSpPr>
            <p:cNvPr id="48" name="Text 46"/>
            <p:cNvSpPr/>
            <p:nvPr/>
          </p:nvSpPr>
          <p:spPr>
            <a:xfrm>
              <a:off x="1837592" y="7208277"/>
              <a:ext cx="6986016" cy="58521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3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6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20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6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5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2800" b="1">
                  <a:solidFill>
                    <a:srgbClr val="1565C0"/>
                  </a:solidFill>
                </a:rPr>
                <a:t>Lag Length Selection (AIC)</a:t>
              </a:r>
              <a:endParaRPr lang="en-US" sz="2800">
                <a:solidFill>
                  <a:srgbClr val="000000"/>
                </a:solidFill>
              </a:endParaRPr>
            </a:p>
            <a:p>
              <a:pPr marL="0" indent="0">
                <a:buNone/>
              </a:pPr>
              <a:endParaRPr lang="en-US" sz="2800" b="1">
                <a:solidFill>
                  <a:srgbClr val="1565C0"/>
                </a:solidFill>
                <a:ea typeface="Calibri"/>
                <a:cs typeface="Calibri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969264" y="7680960"/>
              <a:ext cx="7772400" cy="1371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>
              <a:lvl1pPr marL="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3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76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20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64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4008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5200" algn="l" defTabSz="1828800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 rtl="0"/>
              <a:r>
                <a:rPr lang="en-US" sz="2800" b="1" i="0" u="none" strike="noStrike" baseline="0">
                  <a:solidFill>
                    <a:srgbClr val="1A2B3C"/>
                  </a:solidFill>
                  <a:latin typeface="Calibri"/>
                  <a:ea typeface="Segoe UI"/>
                  <a:cs typeface="Segoe UI"/>
                </a:rPr>
                <a:t>AIC : Lag 4 </a:t>
              </a:r>
              <a:r>
                <a:rPr lang="en-US" sz="2800" b="0" i="0" u="none" strike="noStrike" baseline="0">
                  <a:solidFill>
                    <a:srgbClr val="1A2B3C"/>
                  </a:solidFill>
                  <a:latin typeface="Calibri"/>
                  <a:ea typeface="Segoe UI"/>
                  <a:cs typeface="Segoe UI"/>
                </a:rPr>
                <a:t>(AIC = −131)</a:t>
              </a:r>
              <a:r>
                <a:rPr lang="en-US" sz="2800" b="0" i="0">
                  <a:solidFill>
                    <a:srgbClr val="000000"/>
                  </a:solidFill>
                  <a:latin typeface="Calibri"/>
                  <a:ea typeface="Segoe UI"/>
                  <a:cs typeface="Segoe UI"/>
                </a:rPr>
                <a:t>​</a:t>
              </a:r>
            </a:p>
            <a:p>
              <a:pPr algn="l" rtl="0"/>
              <a:r>
                <a:rPr lang="en-US" sz="2800" b="0" i="0" u="none" strike="noStrike" baseline="0">
                  <a:solidFill>
                    <a:srgbClr val="1A2B3C"/>
                  </a:solidFill>
                  <a:latin typeface="Calibri"/>
                  <a:ea typeface="Segoe UI"/>
                  <a:cs typeface="Segoe UI"/>
                </a:rPr>
                <a:t>Lag 4 gives max eigenvalue = 0.958</a:t>
              </a:r>
              <a:r>
                <a:rPr lang="en-US" sz="2800" b="0" i="0">
                  <a:solidFill>
                    <a:srgbClr val="000000"/>
                  </a:solidFill>
                  <a:latin typeface="Calibri"/>
                  <a:ea typeface="Segoe UI"/>
                  <a:cs typeface="Segoe UI"/>
                </a:rPr>
                <a:t>​</a:t>
              </a:r>
              <a:endParaRPr lang="en-US" sz="2800" b="1">
                <a:solidFill>
                  <a:srgbClr val="1A2B3C"/>
                </a:solidFill>
                <a:ea typeface="Calibri"/>
                <a:cs typeface="Calibri"/>
              </a:endParaRPr>
            </a:p>
          </p:txBody>
        </p:sp>
      </p:grpSp>
      <p:sp>
        <p:nvSpPr>
          <p:cNvPr id="53" name="Text 51"/>
          <p:cNvSpPr/>
          <p:nvPr/>
        </p:nvSpPr>
        <p:spPr>
          <a:xfrm>
            <a:off x="9802368" y="694944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sz="2000" b="1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9838944" y="768096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b="1">
              <a:solidFill>
                <a:srgbClr val="1A2B3C"/>
              </a:solidFill>
              <a:ea typeface="Calibri"/>
              <a:cs typeface="Calibri"/>
            </a:endParaRPr>
          </a:p>
        </p:txBody>
      </p:sp>
      <p:grpSp>
        <p:nvGrpSpPr>
          <p:cNvPr id="59" name="Group 42">
            <a:extLst>
              <a:ext uri="{FF2B5EF4-FFF2-40B4-BE49-F238E27FC236}">
                <a16:creationId xmlns:a16="http://schemas.microsoft.com/office/drawing/2014/main" id="{A686A339-1317-17B3-26E5-573F3C1A4BA5}"/>
              </a:ext>
            </a:extLst>
          </p:cNvPr>
          <p:cNvGrpSpPr/>
          <p:nvPr/>
        </p:nvGrpSpPr>
        <p:grpSpPr>
          <a:xfrm>
            <a:off x="-184150" y="-920689"/>
            <a:ext cx="14643282" cy="2304655"/>
            <a:chOff x="101600" y="-38100"/>
            <a:chExt cx="12226854" cy="1651661"/>
          </a:xfrm>
        </p:grpSpPr>
        <p:sp>
          <p:nvSpPr>
            <p:cNvPr id="57" name="Freeform 43">
              <a:extLst>
                <a:ext uri="{FF2B5EF4-FFF2-40B4-BE49-F238E27FC236}">
                  <a16:creationId xmlns:a16="http://schemas.microsoft.com/office/drawing/2014/main" id="{D717C70A-67B7-CB79-0588-2A6C5B79B3AD}"/>
                </a:ext>
              </a:extLst>
            </p:cNvPr>
            <p:cNvSpPr/>
            <p:nvPr/>
          </p:nvSpPr>
          <p:spPr>
            <a:xfrm>
              <a:off x="1375798" y="1003961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TextBox 44">
              <a:extLst>
                <a:ext uri="{FF2B5EF4-FFF2-40B4-BE49-F238E27FC236}">
                  <a16:creationId xmlns:a16="http://schemas.microsoft.com/office/drawing/2014/main" id="{C2F09F0A-2B6C-44E5-FB7D-5BDCC0DC555B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1" name="Freeform 52">
            <a:extLst>
              <a:ext uri="{FF2B5EF4-FFF2-40B4-BE49-F238E27FC236}">
                <a16:creationId xmlns:a16="http://schemas.microsoft.com/office/drawing/2014/main" id="{7F03D0C0-45DF-89E6-FC0E-2941DB873232}"/>
              </a:ext>
            </a:extLst>
          </p:cNvPr>
          <p:cNvSpPr/>
          <p:nvPr/>
        </p:nvSpPr>
        <p:spPr>
          <a:xfrm>
            <a:off x="793955" y="385145"/>
            <a:ext cx="978931" cy="1148173"/>
          </a:xfrm>
          <a:custGeom>
            <a:avLst/>
            <a:gdLst/>
            <a:ahLst/>
            <a:cxnLst/>
            <a:rect l="l" t="t" r="r" b="b"/>
            <a:pathLst>
              <a:path w="189191" h="208294">
                <a:moveTo>
                  <a:pt x="94595" y="0"/>
                </a:moveTo>
                <a:lnTo>
                  <a:pt x="94595" y="0"/>
                </a:lnTo>
                <a:cubicBezTo>
                  <a:pt x="146839" y="0"/>
                  <a:pt x="189191" y="42352"/>
                  <a:pt x="189191" y="94595"/>
                </a:cubicBezTo>
                <a:lnTo>
                  <a:pt x="189191" y="113698"/>
                </a:lnTo>
                <a:cubicBezTo>
                  <a:pt x="189191" y="138787"/>
                  <a:pt x="179225" y="162847"/>
                  <a:pt x="161484" y="180587"/>
                </a:cubicBezTo>
                <a:cubicBezTo>
                  <a:pt x="143744" y="198327"/>
                  <a:pt x="119684" y="208294"/>
                  <a:pt x="94595" y="208294"/>
                </a:cubicBezTo>
                <a:lnTo>
                  <a:pt x="94595" y="208294"/>
                </a:lnTo>
                <a:cubicBezTo>
                  <a:pt x="69507" y="208294"/>
                  <a:pt x="45446" y="198327"/>
                  <a:pt x="27706" y="180587"/>
                </a:cubicBezTo>
                <a:cubicBezTo>
                  <a:pt x="9966" y="162847"/>
                  <a:pt x="0" y="138787"/>
                  <a:pt x="0" y="113698"/>
                </a:cubicBezTo>
                <a:lnTo>
                  <a:pt x="0" y="94595"/>
                </a:lnTo>
                <a:cubicBezTo>
                  <a:pt x="0" y="69507"/>
                  <a:pt x="9966" y="45446"/>
                  <a:pt x="27706" y="27706"/>
                </a:cubicBezTo>
                <a:cubicBezTo>
                  <a:pt x="45446" y="9966"/>
                  <a:pt x="69507" y="0"/>
                  <a:pt x="94595" y="0"/>
                </a:cubicBezTo>
                <a:close/>
              </a:path>
            </a:pathLst>
          </a:custGeom>
          <a:solidFill>
            <a:srgbClr val="75B06F"/>
          </a:solidFill>
          <a:ln cap="rnd">
            <a:noFill/>
            <a:prstDash val="solid"/>
            <a:round/>
          </a:ln>
        </p:spPr>
        <p:txBody>
          <a:bodyPr lIns="91440" tIns="45720" rIns="91440" bIns="45720" anchor="t"/>
          <a:lstStyle/>
          <a:p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63" name="Freeform 46">
            <a:extLst>
              <a:ext uri="{FF2B5EF4-FFF2-40B4-BE49-F238E27FC236}">
                <a16:creationId xmlns:a16="http://schemas.microsoft.com/office/drawing/2014/main" id="{52012D19-7C5F-171A-6FF4-C7A8082A8330}"/>
              </a:ext>
            </a:extLst>
          </p:cNvPr>
          <p:cNvSpPr/>
          <p:nvPr/>
        </p:nvSpPr>
        <p:spPr>
          <a:xfrm>
            <a:off x="14459603" y="507466"/>
            <a:ext cx="1085307" cy="909371"/>
          </a:xfrm>
          <a:custGeom>
            <a:avLst/>
            <a:gdLst/>
            <a:ahLst/>
            <a:cxnLst/>
            <a:rect l="l" t="t" r="r" b="b"/>
            <a:pathLst>
              <a:path w="869980" h="609600">
                <a:moveTo>
                  <a:pt x="203200" y="0"/>
                </a:moveTo>
                <a:lnTo>
                  <a:pt x="869980" y="0"/>
                </a:lnTo>
                <a:lnTo>
                  <a:pt x="666780" y="609600"/>
                </a:lnTo>
                <a:lnTo>
                  <a:pt x="0" y="609600"/>
                </a:lnTo>
                <a:lnTo>
                  <a:pt x="203200" y="0"/>
                </a:lnTo>
                <a:close/>
              </a:path>
            </a:pathLst>
          </a:custGeom>
          <a:solidFill>
            <a:srgbClr val="9BBB59"/>
          </a:solidFill>
        </p:spPr>
        <p:txBody>
          <a:bodyPr/>
          <a:lstStyle/>
          <a:p>
            <a:endParaRPr lang="en-IN"/>
          </a:p>
        </p:txBody>
      </p:sp>
      <p:sp>
        <p:nvSpPr>
          <p:cNvPr id="65" name="Freeform 49">
            <a:extLst>
              <a:ext uri="{FF2B5EF4-FFF2-40B4-BE49-F238E27FC236}">
                <a16:creationId xmlns:a16="http://schemas.microsoft.com/office/drawing/2014/main" id="{E4E178D8-BE4E-A0A7-ADEC-A08A38E8566C}"/>
              </a:ext>
            </a:extLst>
          </p:cNvPr>
          <p:cNvSpPr/>
          <p:nvPr/>
        </p:nvSpPr>
        <p:spPr>
          <a:xfrm>
            <a:off x="15544910" y="507466"/>
            <a:ext cx="1909410" cy="909371"/>
          </a:xfrm>
          <a:custGeom>
            <a:avLst/>
            <a:gdLst/>
            <a:ahLst/>
            <a:cxnLst/>
            <a:rect l="l" t="t" r="r" b="b"/>
            <a:pathLst>
              <a:path w="1530580" h="609600">
                <a:moveTo>
                  <a:pt x="203200" y="0"/>
                </a:moveTo>
                <a:lnTo>
                  <a:pt x="1530580" y="0"/>
                </a:lnTo>
                <a:lnTo>
                  <a:pt x="1327380" y="609600"/>
                </a:lnTo>
                <a:lnTo>
                  <a:pt x="0" y="609600"/>
                </a:lnTo>
                <a:lnTo>
                  <a:pt x="203200" y="0"/>
                </a:lnTo>
                <a:close/>
              </a:path>
            </a:pathLst>
          </a:custGeom>
          <a:solidFill>
            <a:srgbClr val="75B06F"/>
          </a:solidFill>
        </p:spPr>
        <p:txBody>
          <a:bodyPr/>
          <a:lstStyle/>
          <a:p>
            <a:endParaRPr lang="en-IN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BAFD02-0771-0073-A795-28DF4F0BC3EF}"/>
              </a:ext>
            </a:extLst>
          </p:cNvPr>
          <p:cNvSpPr txBox="1"/>
          <p:nvPr/>
        </p:nvSpPr>
        <p:spPr>
          <a:xfrm>
            <a:off x="1887938" y="587129"/>
            <a:ext cx="9288468" cy="83099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chemeClr val="bg1"/>
                </a:solidFill>
                <a:latin typeface="League Gothic"/>
                <a:ea typeface="Calibri"/>
                <a:cs typeface="Calibri"/>
              </a:rPr>
              <a:t>FAVAR MODEL – BUILDING THE VAR</a:t>
            </a:r>
            <a:endParaRPr lang="en-US" sz="4800">
              <a:solidFill>
                <a:schemeClr val="bg1"/>
              </a:solidFill>
              <a:latin typeface="League Gothic"/>
            </a:endParaRPr>
          </a:p>
        </p:txBody>
      </p:sp>
      <p:sp>
        <p:nvSpPr>
          <p:cNvPr id="56" name="TextBox 53">
            <a:extLst>
              <a:ext uri="{FF2B5EF4-FFF2-40B4-BE49-F238E27FC236}">
                <a16:creationId xmlns:a16="http://schemas.microsoft.com/office/drawing/2014/main" id="{3DF383E0-F2C7-32F3-3CCE-45B1D1E73C98}"/>
              </a:ext>
            </a:extLst>
          </p:cNvPr>
          <p:cNvSpPr txBox="1"/>
          <p:nvPr/>
        </p:nvSpPr>
        <p:spPr>
          <a:xfrm>
            <a:off x="908034" y="244422"/>
            <a:ext cx="750131" cy="143784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  <a:endParaRPr lang="en-US" sz="3000" b="1" u="none" strike="noStrike">
              <a:solidFill>
                <a:srgbClr val="F0F8A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793674" y="6878389"/>
            <a:ext cx="658368" cy="658368"/>
          </a:xfrm>
          <a:prstGeom prst="ellipse">
            <a:avLst/>
          </a:prstGeom>
          <a:solidFill>
            <a:srgbClr val="36656B"/>
          </a:solidFill>
          <a:ln/>
        </p:spPr>
        <p:txBody>
          <a:bodyPr lIns="91440" tIns="45720" rIns="91440" bIns="45720" anchor="t"/>
          <a:lstStyle/>
          <a:p>
            <a:r>
              <a:rPr lang="en-IN" sz="2400">
                <a:solidFill>
                  <a:schemeClr val="bg1"/>
                </a:solidFill>
                <a:ea typeface="Calibri"/>
                <a:cs typeface="Calibri"/>
              </a:rPr>
              <a:t>1</a:t>
            </a:r>
            <a:endParaRPr lang="en-IN" sz="240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424970" y="4144587"/>
            <a:ext cx="246888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>
                <a:solidFill>
                  <a:srgbClr val="FFFFFF"/>
                </a:solidFill>
              </a:rPr>
              <a:t>+ </a:t>
            </a:r>
            <a:r>
              <a:rPr lang="en-US" sz="3200" b="1" err="1">
                <a:solidFill>
                  <a:srgbClr val="FFFFFF"/>
                </a:solidFill>
              </a:rPr>
              <a:t>Y_t</a:t>
            </a:r>
            <a:endParaRPr lang="en-US" sz="3200">
              <a:ea typeface="Calibri"/>
              <a:cs typeface="Calibri"/>
            </a:endParaRPr>
          </a:p>
        </p:txBody>
      </p:sp>
      <p:grpSp>
        <p:nvGrpSpPr>
          <p:cNvPr id="68" name="Group 67">
            <a:extLst>
              <a:ext uri="{FF2B5EF4-FFF2-40B4-BE49-F238E27FC236}">
                <a16:creationId xmlns:a16="http://schemas.microsoft.com/office/drawing/2014/main" id="{2E464E3A-B705-C727-E346-C853638FC074}"/>
              </a:ext>
            </a:extLst>
          </p:cNvPr>
          <p:cNvGrpSpPr/>
          <p:nvPr/>
        </p:nvGrpSpPr>
        <p:grpSpPr>
          <a:xfrm>
            <a:off x="687654" y="4213860"/>
            <a:ext cx="16916400" cy="1857385"/>
            <a:chOff x="687654" y="4213860"/>
            <a:chExt cx="16916400" cy="1857385"/>
          </a:xfrm>
        </p:grpSpPr>
        <p:sp>
          <p:nvSpPr>
            <p:cNvPr id="4" name="Shape 2"/>
            <p:cNvSpPr/>
            <p:nvPr/>
          </p:nvSpPr>
          <p:spPr>
            <a:xfrm>
              <a:off x="773776" y="4213860"/>
              <a:ext cx="2468880" cy="1280160"/>
            </a:xfrm>
            <a:prstGeom prst="rect">
              <a:avLst/>
            </a:prstGeom>
            <a:solidFill>
              <a:srgbClr val="9BBB59"/>
            </a:solidFill>
            <a:ln/>
            <a:effectLst>
              <a:outerShdw blurRad="101600" dist="38100" dir="8100000" algn="bl" rotWithShape="0">
                <a:srgbClr val="000000">
                  <a:alpha val="12000"/>
                </a:srgbClr>
              </a:outerShdw>
            </a:effectLst>
          </p:spPr>
          <p:txBody>
            <a:bodyPr/>
            <a:lstStyle/>
            <a:p>
              <a:endParaRPr lang="en-IN"/>
            </a:p>
          </p:txBody>
        </p: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16FC859B-A23D-9C43-340C-B519EF2364DD}"/>
                </a:ext>
              </a:extLst>
            </p:cNvPr>
            <p:cNvGrpSpPr/>
            <p:nvPr/>
          </p:nvGrpSpPr>
          <p:grpSpPr>
            <a:xfrm>
              <a:off x="687654" y="4224157"/>
              <a:ext cx="16916400" cy="1847088"/>
              <a:chOff x="548640" y="1737360"/>
              <a:chExt cx="16916400" cy="1847088"/>
            </a:xfrm>
          </p:grpSpPr>
          <p:sp>
            <p:nvSpPr>
              <p:cNvPr id="5" name="Text 3"/>
              <p:cNvSpPr/>
              <p:nvPr/>
            </p:nvSpPr>
            <p:spPr>
              <a:xfrm>
                <a:off x="548640" y="1737360"/>
                <a:ext cx="2468880" cy="128016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800" b="1" dirty="0" err="1">
                    <a:solidFill>
                      <a:srgbClr val="FFFFFF"/>
                    </a:solidFill>
                  </a:rPr>
                  <a:t>X</a:t>
                </a:r>
                <a:r>
                  <a:rPr lang="en-US" sz="2800" b="1" baseline="-25000" dirty="0" err="1">
                    <a:solidFill>
                      <a:srgbClr val="FFFFFF"/>
                    </a:solidFill>
                  </a:rPr>
                  <a:t>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 (40 vars)</a:t>
                </a:r>
                <a:endParaRPr lang="en-US" sz="2000" dirty="0">
                  <a:ea typeface="Calibri" panose="020F0502020204030204"/>
                  <a:cs typeface="Calibri" panose="020F0502020204030204"/>
                </a:endParaRPr>
              </a:p>
            </p:txBody>
          </p:sp>
          <p:sp>
            <p:nvSpPr>
              <p:cNvPr id="6" name="Text 4"/>
              <p:cNvSpPr/>
              <p:nvPr/>
            </p:nvSpPr>
            <p:spPr>
              <a:xfrm>
                <a:off x="548640" y="3072384"/>
                <a:ext cx="2468880" cy="512064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07D8B"/>
                    </a:solidFill>
                  </a:rPr>
                  <a:t>Large Panel</a:t>
                </a:r>
                <a:endParaRPr lang="en-US" sz="1800" b="1">
                  <a:ea typeface="Calibri"/>
                  <a:cs typeface="Calibri"/>
                </a:endParaRPr>
              </a:p>
            </p:txBody>
          </p:sp>
          <p:sp>
            <p:nvSpPr>
              <p:cNvPr id="9" name="Shape 7"/>
              <p:cNvSpPr/>
              <p:nvPr/>
            </p:nvSpPr>
            <p:spPr>
              <a:xfrm>
                <a:off x="3524735" y="1737360"/>
                <a:ext cx="2468880" cy="1280160"/>
              </a:xfrm>
              <a:prstGeom prst="rect">
                <a:avLst/>
              </a:prstGeom>
              <a:solidFill>
                <a:srgbClr val="36656B"/>
              </a:solidFill>
              <a:ln/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8" name="Text 6"/>
              <p:cNvSpPr/>
              <p:nvPr/>
            </p:nvSpPr>
            <p:spPr>
              <a:xfrm>
                <a:off x="3017520" y="2157984"/>
                <a:ext cx="420624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600">
                    <a:solidFill>
                      <a:srgbClr val="FFFFFF"/>
                    </a:solidFill>
                  </a:rPr>
                  <a:t>▶</a:t>
                </a:r>
                <a:endParaRPr lang="en-US" sz="1600"/>
              </a:p>
            </p:txBody>
          </p:sp>
          <p:sp>
            <p:nvSpPr>
              <p:cNvPr id="11" name="Text 9"/>
              <p:cNvSpPr/>
              <p:nvPr/>
            </p:nvSpPr>
            <p:spPr>
              <a:xfrm>
                <a:off x="3438144" y="3072384"/>
                <a:ext cx="2468880" cy="512064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600" b="1">
                    <a:solidFill>
                      <a:srgbClr val="607D8B"/>
                    </a:solidFill>
                  </a:rPr>
                  <a:t>Dimensionality Reduction</a:t>
                </a:r>
                <a:endParaRPr lang="en-US" sz="1600" b="1">
                  <a:ea typeface="Calibri"/>
                  <a:cs typeface="Calibri"/>
                </a:endParaRPr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5907024" y="2157984"/>
                <a:ext cx="420624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600">
                    <a:solidFill>
                      <a:srgbClr val="FFFFFF"/>
                    </a:solidFill>
                  </a:rPr>
                  <a:t>▶</a:t>
                </a:r>
                <a:endParaRPr lang="en-US" sz="1600"/>
              </a:p>
            </p:txBody>
          </p:sp>
          <p:sp>
            <p:nvSpPr>
              <p:cNvPr id="15" name="Text 13"/>
              <p:cNvSpPr/>
              <p:nvPr/>
            </p:nvSpPr>
            <p:spPr>
              <a:xfrm>
                <a:off x="6327648" y="1737360"/>
                <a:ext cx="2468880" cy="1280160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2800" b="1">
                    <a:solidFill>
                      <a:srgbClr val="FFFFFF"/>
                    </a:solidFill>
                  </a:rPr>
                  <a:t>F</a:t>
                </a:r>
                <a:r>
                  <a:rPr lang="en-US" sz="2800" b="1" baseline="-25000">
                    <a:solidFill>
                      <a:srgbClr val="FFFFFF"/>
                    </a:solidFill>
                  </a:rPr>
                  <a:t>t</a:t>
                </a:r>
                <a:r>
                  <a:rPr lang="en-US" sz="2800" b="1" dirty="0">
                    <a:solidFill>
                      <a:srgbClr val="FFFFFF"/>
                    </a:solidFill>
                  </a:rPr>
                  <a:t> (12 factors)</a:t>
                </a:r>
                <a:endParaRPr lang="en-US" sz="2800" dirty="0">
                  <a:ea typeface="Calibri"/>
                  <a:cs typeface="Calibri"/>
                </a:endParaRPr>
              </a:p>
            </p:txBody>
          </p:sp>
          <p:sp>
            <p:nvSpPr>
              <p:cNvPr id="16" name="Text 14"/>
              <p:cNvSpPr/>
              <p:nvPr/>
            </p:nvSpPr>
            <p:spPr>
              <a:xfrm>
                <a:off x="6327648" y="3072384"/>
                <a:ext cx="2468880" cy="512064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07D8B"/>
                    </a:solidFill>
                  </a:rPr>
                  <a:t>Latent Factors</a:t>
                </a:r>
                <a:endParaRPr lang="en-US" sz="1800" b="1">
                  <a:ea typeface="Calibri"/>
                  <a:cs typeface="Calibri"/>
                </a:endParaRPr>
              </a:p>
            </p:txBody>
          </p:sp>
          <p:sp>
            <p:nvSpPr>
              <p:cNvPr id="19" name="Shape 17"/>
              <p:cNvSpPr/>
              <p:nvPr/>
            </p:nvSpPr>
            <p:spPr>
              <a:xfrm>
                <a:off x="9217152" y="1737360"/>
                <a:ext cx="2468880" cy="1280160"/>
              </a:xfrm>
              <a:prstGeom prst="rect">
                <a:avLst/>
              </a:prstGeom>
              <a:solidFill>
                <a:srgbClr val="9BBB59"/>
              </a:solidFill>
              <a:ln/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8865801" y="2123348"/>
                <a:ext cx="420624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600">
                    <a:solidFill>
                      <a:srgbClr val="FFFFFF"/>
                    </a:solidFill>
                  </a:rPr>
                  <a:t>▶</a:t>
                </a:r>
                <a:endParaRPr lang="en-US" sz="1600"/>
              </a:p>
            </p:txBody>
          </p:sp>
          <p:sp>
            <p:nvSpPr>
              <p:cNvPr id="21" name="Text 19"/>
              <p:cNvSpPr/>
              <p:nvPr/>
            </p:nvSpPr>
            <p:spPr>
              <a:xfrm>
                <a:off x="9217152" y="3072384"/>
                <a:ext cx="2468880" cy="512064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07D8B"/>
                    </a:solidFill>
                  </a:rPr>
                  <a:t>Credit, Repo, CPI</a:t>
                </a:r>
                <a:endParaRPr lang="en-US" sz="1800" b="1">
                  <a:ea typeface="Calibri"/>
                  <a:cs typeface="Calibri"/>
                </a:endParaRPr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11755305" y="2123348"/>
                <a:ext cx="420624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600">
                    <a:solidFill>
                      <a:srgbClr val="FFFFFF"/>
                    </a:solidFill>
                  </a:rPr>
                  <a:t>▶</a:t>
                </a:r>
                <a:endParaRPr lang="en-US" sz="1600"/>
              </a:p>
            </p:txBody>
          </p:sp>
          <p:sp>
            <p:nvSpPr>
              <p:cNvPr id="24" name="Shape 22"/>
              <p:cNvSpPr/>
              <p:nvPr/>
            </p:nvSpPr>
            <p:spPr>
              <a:xfrm>
                <a:off x="12106656" y="1737360"/>
                <a:ext cx="2468880" cy="1280160"/>
              </a:xfrm>
              <a:prstGeom prst="rect">
                <a:avLst/>
              </a:prstGeom>
              <a:solidFill>
                <a:srgbClr val="36656B"/>
              </a:solidFill>
              <a:ln/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6" name="Text 24"/>
              <p:cNvSpPr/>
              <p:nvPr/>
            </p:nvSpPr>
            <p:spPr>
              <a:xfrm>
                <a:off x="12106656" y="3072384"/>
                <a:ext cx="2468880" cy="512064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07D8B"/>
                    </a:solidFill>
                  </a:rPr>
                  <a:t>Lag by AIC/BIC</a:t>
                </a:r>
                <a:endParaRPr lang="en-US" sz="1800" b="1">
                  <a:ea typeface="Calibri"/>
                  <a:cs typeface="Calibri"/>
                </a:endParaRPr>
              </a:p>
            </p:txBody>
          </p:sp>
          <p:sp>
            <p:nvSpPr>
              <p:cNvPr id="28" name="Text 26"/>
              <p:cNvSpPr/>
              <p:nvPr/>
            </p:nvSpPr>
            <p:spPr>
              <a:xfrm>
                <a:off x="14592854" y="2054075"/>
                <a:ext cx="420624" cy="43891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600">
                    <a:solidFill>
                      <a:srgbClr val="FFFFFF"/>
                    </a:solidFill>
                  </a:rPr>
                  <a:t>▶</a:t>
                </a:r>
                <a:endParaRPr lang="en-US" sz="1600"/>
              </a:p>
            </p:txBody>
          </p:sp>
          <p:sp>
            <p:nvSpPr>
              <p:cNvPr id="29" name="Shape 27"/>
              <p:cNvSpPr/>
              <p:nvPr/>
            </p:nvSpPr>
            <p:spPr>
              <a:xfrm>
                <a:off x="14996160" y="1737360"/>
                <a:ext cx="2468880" cy="1280160"/>
              </a:xfrm>
              <a:prstGeom prst="rect">
                <a:avLst/>
              </a:prstGeom>
              <a:solidFill>
                <a:schemeClr val="accent6">
                  <a:lumMod val="75000"/>
                </a:schemeClr>
              </a:solidFill>
              <a:ln/>
              <a:effectLst>
                <a:outerShdw blurRad="101600" dist="38100" dir="8100000" algn="bl" rotWithShape="0">
                  <a:srgbClr val="000000">
                    <a:alpha val="12000"/>
                  </a:srgbClr>
                </a:outerShdw>
              </a:effectLst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1" name="Text 29"/>
              <p:cNvSpPr/>
              <p:nvPr/>
            </p:nvSpPr>
            <p:spPr>
              <a:xfrm>
                <a:off x="14996160" y="3072384"/>
                <a:ext cx="2468880" cy="512064"/>
              </a:xfrm>
              <a:prstGeom prst="rect">
                <a:avLst/>
              </a:prstGeom>
              <a:noFill/>
              <a:ln/>
            </p:spPr>
            <p:txBody>
              <a:bodyPr wrap="square" lIns="91440" tIns="45720" rIns="91440" bIns="45720" rtlCol="0" anchor="ctr"/>
              <a:lstStyle>
                <a:lvl1pPr marL="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914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828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2743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36576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45720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54864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64008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7315200" algn="l" defTabSz="1828800" rtl="0" eaLnBrk="1" latinLnBrk="0" hangingPunct="1">
                  <a:defRPr sz="36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r>
                  <a:rPr lang="en-US" sz="1800" b="1">
                    <a:solidFill>
                      <a:srgbClr val="607D8B"/>
                    </a:solidFill>
                  </a:rPr>
                  <a:t>Credit Growth</a:t>
                </a:r>
                <a:endParaRPr lang="en-US" sz="1800" b="1">
                  <a:ea typeface="Calibri"/>
                  <a:cs typeface="Calibri"/>
                </a:endParaRPr>
              </a:p>
            </p:txBody>
          </p:sp>
        </p:grpSp>
      </p:grpSp>
      <p:sp>
        <p:nvSpPr>
          <p:cNvPr id="10" name="Text 8"/>
          <p:cNvSpPr/>
          <p:nvPr/>
        </p:nvSpPr>
        <p:spPr>
          <a:xfrm>
            <a:off x="3663280" y="4144587"/>
            <a:ext cx="246888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>
                <a:solidFill>
                  <a:srgbClr val="FFFFFF"/>
                </a:solidFill>
              </a:rPr>
              <a:t>PCA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5152024" y="4213860"/>
            <a:ext cx="2468880" cy="12801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800" b="1">
                <a:solidFill>
                  <a:srgbClr val="FFFFFF"/>
                </a:solidFill>
              </a:rPr>
              <a:t>Forecast</a:t>
            </a:r>
            <a:endParaRPr lang="en-US" sz="2800">
              <a:ea typeface="Calibri"/>
              <a:cs typeface="Calibri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216B7EE-D82C-1DED-6D4B-874E6AFE303D}"/>
              </a:ext>
            </a:extLst>
          </p:cNvPr>
          <p:cNvSpPr txBox="1"/>
          <p:nvPr/>
        </p:nvSpPr>
        <p:spPr>
          <a:xfrm>
            <a:off x="10139795" y="4597977"/>
            <a:ext cx="137679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 err="1">
                <a:solidFill>
                  <a:schemeClr val="bg1"/>
                </a:solidFill>
                <a:ea typeface="Calibri"/>
                <a:cs typeface="Calibri"/>
              </a:rPr>
              <a:t>Y</a:t>
            </a:r>
            <a:r>
              <a:rPr lang="en-US" sz="2800" b="1" baseline="-25000" err="1">
                <a:solidFill>
                  <a:schemeClr val="bg1"/>
                </a:solidFill>
                <a:ea typeface="Calibri"/>
                <a:cs typeface="Calibri"/>
              </a:rPr>
              <a:t>t</a:t>
            </a:r>
            <a:endParaRPr lang="en-US" sz="2800" b="1" baseline="-25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B8916D8-A5C8-946B-A19D-66760980E119}"/>
              </a:ext>
            </a:extLst>
          </p:cNvPr>
          <p:cNvSpPr txBox="1"/>
          <p:nvPr/>
        </p:nvSpPr>
        <p:spPr>
          <a:xfrm>
            <a:off x="12754840" y="4615295"/>
            <a:ext cx="137679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800" b="1">
                <a:solidFill>
                  <a:schemeClr val="bg1"/>
                </a:solidFill>
                <a:ea typeface="Calibri"/>
                <a:cs typeface="Calibri"/>
              </a:rPr>
              <a:t>VAR(p)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3D3D2186-0FA4-4E9F-DFA0-83D9C13F6D10}"/>
              </a:ext>
            </a:extLst>
          </p:cNvPr>
          <p:cNvSpPr txBox="1"/>
          <p:nvPr/>
        </p:nvSpPr>
        <p:spPr>
          <a:xfrm>
            <a:off x="935181" y="2208068"/>
            <a:ext cx="5351318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ea typeface="Calibri"/>
                <a:cs typeface="Calibri"/>
              </a:rPr>
              <a:t>Flow of the Model</a:t>
            </a:r>
          </a:p>
        </p:txBody>
      </p:sp>
      <p:sp>
        <p:nvSpPr>
          <p:cNvPr id="74" name="Flowchart: Alternate Process 73">
            <a:extLst>
              <a:ext uri="{FF2B5EF4-FFF2-40B4-BE49-F238E27FC236}">
                <a16:creationId xmlns:a16="http://schemas.microsoft.com/office/drawing/2014/main" id="{CA01E96F-7397-C05D-09DB-9AF3B715F772}"/>
              </a:ext>
            </a:extLst>
          </p:cNvPr>
          <p:cNvSpPr/>
          <p:nvPr/>
        </p:nvSpPr>
        <p:spPr>
          <a:xfrm>
            <a:off x="796635" y="2199409"/>
            <a:ext cx="3633353" cy="612647"/>
          </a:xfrm>
          <a:prstGeom prst="flowChartAlternateProcess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5D33AFF5-5BD7-AAF4-7F9E-54C40A09DF4F}"/>
              </a:ext>
            </a:extLst>
          </p:cNvPr>
          <p:cNvSpPr/>
          <p:nvPr/>
        </p:nvSpPr>
        <p:spPr>
          <a:xfrm flipH="1">
            <a:off x="-3213" y="-450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3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914400" y="0"/>
            <a:ext cx="16459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600"/>
          </a:p>
        </p:txBody>
      </p:sp>
      <p:sp>
        <p:nvSpPr>
          <p:cNvPr id="19" name="Text 17"/>
          <p:cNvSpPr/>
          <p:nvPr/>
        </p:nvSpPr>
        <p:spPr>
          <a:xfrm>
            <a:off x="13203936" y="5138928"/>
            <a:ext cx="420624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rgbClr val="1A2B3C"/>
              </a:solidFill>
              <a:ea typeface="Calibri"/>
              <a:cs typeface="Calibri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13203936" y="5907024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500"/>
          </a:p>
        </p:txBody>
      </p:sp>
      <p:sp>
        <p:nvSpPr>
          <p:cNvPr id="23" name="Text 21"/>
          <p:cNvSpPr/>
          <p:nvPr/>
        </p:nvSpPr>
        <p:spPr>
          <a:xfrm>
            <a:off x="11704320" y="6565392"/>
            <a:ext cx="128016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400" b="1">
                <a:solidFill>
                  <a:srgbClr val="FFFFFF"/>
                </a:solidFill>
              </a:rPr>
              <a:t>R²</a:t>
            </a:r>
            <a:endParaRPr lang="en-US" sz="2400"/>
          </a:p>
        </p:txBody>
      </p:sp>
      <p:sp>
        <p:nvSpPr>
          <p:cNvPr id="24" name="Text 22"/>
          <p:cNvSpPr/>
          <p:nvPr/>
        </p:nvSpPr>
        <p:spPr>
          <a:xfrm>
            <a:off x="13203936" y="6748272"/>
            <a:ext cx="420624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>
              <a:solidFill>
                <a:srgbClr val="1A2B3C"/>
              </a:solidFill>
              <a:ea typeface="Calibri"/>
              <a:cs typeface="Calibri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13203936" y="7516368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500"/>
          </a:p>
        </p:txBody>
      </p:sp>
      <p:sp>
        <p:nvSpPr>
          <p:cNvPr id="28" name="Text 26"/>
          <p:cNvSpPr/>
          <p:nvPr/>
        </p:nvSpPr>
        <p:spPr>
          <a:xfrm>
            <a:off x="914400" y="7955280"/>
            <a:ext cx="3657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828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743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36576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45720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4864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64008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7315200" algn="l" defTabSz="1828800" rtl="0" eaLnBrk="1" latinLnBrk="0" hangingPunct="1">
              <a:defRPr sz="3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b="1">
              <a:solidFill>
                <a:srgbClr val="2E7D32"/>
              </a:solidFill>
              <a:ea typeface="Calibri"/>
              <a:cs typeface="Calibri"/>
            </a:endParaRPr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B298B10-7FCD-F71A-40AC-C86ED094C289}"/>
              </a:ext>
            </a:extLst>
          </p:cNvPr>
          <p:cNvGrpSpPr/>
          <p:nvPr/>
        </p:nvGrpSpPr>
        <p:grpSpPr>
          <a:xfrm>
            <a:off x="360920" y="194541"/>
            <a:ext cx="16545910" cy="1087340"/>
            <a:chOff x="966916" y="348331"/>
            <a:chExt cx="16230600" cy="1007856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6F267175-0882-0774-51BB-BBFA252BF822}"/>
                </a:ext>
              </a:extLst>
            </p:cNvPr>
            <p:cNvGrpSpPr/>
            <p:nvPr/>
          </p:nvGrpSpPr>
          <p:grpSpPr>
            <a:xfrm>
              <a:off x="1187123" y="550086"/>
              <a:ext cx="16010393" cy="775707"/>
              <a:chOff x="1187123" y="550086"/>
              <a:chExt cx="16010393" cy="775707"/>
            </a:xfrm>
          </p:grpSpPr>
          <p:grpSp>
            <p:nvGrpSpPr>
              <p:cNvPr id="35" name="Group 42">
                <a:extLst>
                  <a:ext uri="{FF2B5EF4-FFF2-40B4-BE49-F238E27FC236}">
                    <a16:creationId xmlns:a16="http://schemas.microsoft.com/office/drawing/2014/main" id="{F1F417A4-ABBE-BCEA-4C57-BADD35DBB5DD}"/>
                  </a:ext>
                </a:extLst>
              </p:cNvPr>
              <p:cNvGrpSpPr/>
              <p:nvPr/>
            </p:nvGrpSpPr>
            <p:grpSpPr>
              <a:xfrm>
                <a:off x="1187123" y="550086"/>
                <a:ext cx="13117261" cy="775707"/>
                <a:chOff x="0" y="-38100"/>
                <a:chExt cx="10952656" cy="647700"/>
              </a:xfrm>
            </p:grpSpPr>
            <p:sp>
              <p:nvSpPr>
                <p:cNvPr id="42" name="Freeform 43">
                  <a:extLst>
                    <a:ext uri="{FF2B5EF4-FFF2-40B4-BE49-F238E27FC236}">
                      <a16:creationId xmlns:a16="http://schemas.microsoft.com/office/drawing/2014/main" id="{A7895261-2C0D-4A50-5B6B-46D30EA1812D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52656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2656" h="609600">
                      <a:moveTo>
                        <a:pt x="203200" y="0"/>
                      </a:moveTo>
                      <a:lnTo>
                        <a:pt x="10952656" y="0"/>
                      </a:lnTo>
                      <a:lnTo>
                        <a:pt x="10749456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36656B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3" name="TextBox 44">
                  <a:extLst>
                    <a:ext uri="{FF2B5EF4-FFF2-40B4-BE49-F238E27FC236}">
                      <a16:creationId xmlns:a16="http://schemas.microsoft.com/office/drawing/2014/main" id="{4821F2AC-9E24-05C3-14C0-2C1EF964DDD2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0749456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36" name="Group 45">
                <a:extLst>
                  <a:ext uri="{FF2B5EF4-FFF2-40B4-BE49-F238E27FC236}">
                    <a16:creationId xmlns:a16="http://schemas.microsoft.com/office/drawing/2014/main" id="{1F9FE0F9-B293-F639-0D02-E8B63224FE7B}"/>
                  </a:ext>
                </a:extLst>
              </p:cNvPr>
              <p:cNvGrpSpPr/>
              <p:nvPr/>
            </p:nvGrpSpPr>
            <p:grpSpPr>
              <a:xfrm>
                <a:off x="14322527" y="550086"/>
                <a:ext cx="1041917" cy="775707"/>
                <a:chOff x="0" y="-38100"/>
                <a:chExt cx="869980" cy="647700"/>
              </a:xfrm>
            </p:grpSpPr>
            <p:sp>
              <p:nvSpPr>
                <p:cNvPr id="40" name="Freeform 46">
                  <a:extLst>
                    <a:ext uri="{FF2B5EF4-FFF2-40B4-BE49-F238E27FC236}">
                      <a16:creationId xmlns:a16="http://schemas.microsoft.com/office/drawing/2014/main" id="{160EDBEC-E947-E24A-FEC6-A714E387AF9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699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80" h="609600">
                      <a:moveTo>
                        <a:pt x="203200" y="0"/>
                      </a:moveTo>
                      <a:lnTo>
                        <a:pt x="869980" y="0"/>
                      </a:lnTo>
                      <a:lnTo>
                        <a:pt x="6667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9BBB59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41" name="TextBox 47">
                  <a:extLst>
                    <a:ext uri="{FF2B5EF4-FFF2-40B4-BE49-F238E27FC236}">
                      <a16:creationId xmlns:a16="http://schemas.microsoft.com/office/drawing/2014/main" id="{ED43E7B7-E0A0-7331-F0F6-CA86ECB24F00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6667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37" name="Group 48">
                <a:extLst>
                  <a:ext uri="{FF2B5EF4-FFF2-40B4-BE49-F238E27FC236}">
                    <a16:creationId xmlns:a16="http://schemas.microsoft.com/office/drawing/2014/main" id="{3006ADFA-FAB6-5C57-A64E-E657214B9F98}"/>
                  </a:ext>
                </a:extLst>
              </p:cNvPr>
              <p:cNvGrpSpPr/>
              <p:nvPr/>
            </p:nvGrpSpPr>
            <p:grpSpPr>
              <a:xfrm>
                <a:off x="15364444" y="550086"/>
                <a:ext cx="1833072" cy="775707"/>
                <a:chOff x="0" y="-38100"/>
                <a:chExt cx="1530580" cy="647700"/>
              </a:xfrm>
            </p:grpSpPr>
            <p:sp>
              <p:nvSpPr>
                <p:cNvPr id="38" name="Freeform 49">
                  <a:extLst>
                    <a:ext uri="{FF2B5EF4-FFF2-40B4-BE49-F238E27FC236}">
                      <a16:creationId xmlns:a16="http://schemas.microsoft.com/office/drawing/2014/main" id="{5FEDC60E-BD81-DA4E-FB58-F7719D5227D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5305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580" h="609600">
                      <a:moveTo>
                        <a:pt x="203200" y="0"/>
                      </a:moveTo>
                      <a:lnTo>
                        <a:pt x="1530580" y="0"/>
                      </a:lnTo>
                      <a:lnTo>
                        <a:pt x="13273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75B06F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9" name="TextBox 50">
                  <a:extLst>
                    <a:ext uri="{FF2B5EF4-FFF2-40B4-BE49-F238E27FC236}">
                      <a16:creationId xmlns:a16="http://schemas.microsoft.com/office/drawing/2014/main" id="{F56B6E62-9060-0160-5EFB-7F1EF17FE4DA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3273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</p:grpSp>
        <p:grpSp>
          <p:nvGrpSpPr>
            <p:cNvPr id="32" name="Group 51">
              <a:extLst>
                <a:ext uri="{FF2B5EF4-FFF2-40B4-BE49-F238E27FC236}">
                  <a16:creationId xmlns:a16="http://schemas.microsoft.com/office/drawing/2014/main" id="{C25C41E3-2881-983F-C76A-16A226CB50DB}"/>
                </a:ext>
              </a:extLst>
            </p:cNvPr>
            <p:cNvGrpSpPr/>
            <p:nvPr/>
          </p:nvGrpSpPr>
          <p:grpSpPr>
            <a:xfrm>
              <a:off x="966916" y="348331"/>
              <a:ext cx="718334" cy="1007856"/>
              <a:chOff x="0" y="-57150"/>
              <a:chExt cx="189191" cy="265444"/>
            </a:xfrm>
          </p:grpSpPr>
          <p:sp>
            <p:nvSpPr>
              <p:cNvPr id="33" name="Freeform 52">
                <a:extLst>
                  <a:ext uri="{FF2B5EF4-FFF2-40B4-BE49-F238E27FC236}">
                    <a16:creationId xmlns:a16="http://schemas.microsoft.com/office/drawing/2014/main" id="{33640AB3-0773-38A2-3F20-87F2685C8398}"/>
                  </a:ext>
                </a:extLst>
              </p:cNvPr>
              <p:cNvSpPr/>
              <p:nvPr/>
            </p:nvSpPr>
            <p:spPr>
              <a:xfrm>
                <a:off x="0" y="0"/>
                <a:ext cx="189191" cy="208294"/>
              </a:xfrm>
              <a:custGeom>
                <a:avLst/>
                <a:gdLst/>
                <a:ahLst/>
                <a:cxnLst/>
                <a:rect l="l" t="t" r="r" b="b"/>
                <a:pathLst>
                  <a:path w="189191" h="208294">
                    <a:moveTo>
                      <a:pt x="94595" y="0"/>
                    </a:moveTo>
                    <a:lnTo>
                      <a:pt x="94595" y="0"/>
                    </a:lnTo>
                    <a:cubicBezTo>
                      <a:pt x="146839" y="0"/>
                      <a:pt x="189191" y="42352"/>
                      <a:pt x="189191" y="94595"/>
                    </a:cubicBezTo>
                    <a:lnTo>
                      <a:pt x="189191" y="113698"/>
                    </a:lnTo>
                    <a:cubicBezTo>
                      <a:pt x="189191" y="138787"/>
                      <a:pt x="179225" y="162847"/>
                      <a:pt x="161484" y="180587"/>
                    </a:cubicBezTo>
                    <a:cubicBezTo>
                      <a:pt x="143744" y="198327"/>
                      <a:pt x="119684" y="208294"/>
                      <a:pt x="94595" y="208294"/>
                    </a:cubicBezTo>
                    <a:lnTo>
                      <a:pt x="94595" y="208294"/>
                    </a:lnTo>
                    <a:cubicBezTo>
                      <a:pt x="69507" y="208294"/>
                      <a:pt x="45446" y="198327"/>
                      <a:pt x="27706" y="180587"/>
                    </a:cubicBezTo>
                    <a:cubicBezTo>
                      <a:pt x="9966" y="162847"/>
                      <a:pt x="0" y="138787"/>
                      <a:pt x="0" y="113698"/>
                    </a:cubicBezTo>
                    <a:lnTo>
                      <a:pt x="0" y="94595"/>
                    </a:lnTo>
                    <a:cubicBezTo>
                      <a:pt x="0" y="69507"/>
                      <a:pt x="9966" y="45446"/>
                      <a:pt x="27706" y="27706"/>
                    </a:cubicBezTo>
                    <a:cubicBezTo>
                      <a:pt x="45446" y="9966"/>
                      <a:pt x="69507" y="0"/>
                      <a:pt x="94595" y="0"/>
                    </a:cubicBezTo>
                    <a:close/>
                  </a:path>
                </a:pathLst>
              </a:custGeom>
              <a:solidFill>
                <a:srgbClr val="75B06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34" name="TextBox 53">
                <a:extLst>
                  <a:ext uri="{FF2B5EF4-FFF2-40B4-BE49-F238E27FC236}">
                    <a16:creationId xmlns:a16="http://schemas.microsoft.com/office/drawing/2014/main" id="{CFFC917D-A3F3-4EC2-6D20-187A20342B6D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189191" cy="265444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endParaRPr lang="en-US" sz="4000" b="1" i="1">
                  <a:solidFill>
                    <a:schemeClr val="bg1"/>
                  </a:solidFill>
                  <a:ea typeface="Calibri"/>
                  <a:cs typeface="Calibri"/>
                </a:endParaRPr>
              </a:p>
            </p:txBody>
          </p:sp>
        </p:grp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8F440F9D-BEBE-4650-4B15-34D6BAB3A03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42" t="-1419" r="179" b="1419"/>
          <a:stretch>
            <a:fillRect/>
          </a:stretch>
        </p:blipFill>
        <p:spPr>
          <a:xfrm>
            <a:off x="908006" y="1615378"/>
            <a:ext cx="15144233" cy="5904351"/>
          </a:xfrm>
          <a:prstGeom prst="rect">
            <a:avLst/>
          </a:prstGeom>
        </p:spPr>
      </p:pic>
      <p:sp>
        <p:nvSpPr>
          <p:cNvPr id="49" name="TextBox 53">
            <a:extLst>
              <a:ext uri="{FF2B5EF4-FFF2-40B4-BE49-F238E27FC236}">
                <a16:creationId xmlns:a16="http://schemas.microsoft.com/office/drawing/2014/main" id="{66853347-68A2-75F2-1BC4-75105377757B}"/>
              </a:ext>
            </a:extLst>
          </p:cNvPr>
          <p:cNvSpPr txBox="1"/>
          <p:nvPr/>
        </p:nvSpPr>
        <p:spPr>
          <a:xfrm>
            <a:off x="367707" y="265204"/>
            <a:ext cx="750131" cy="1437843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marL="0" lvl="0" indent="0" algn="ctr">
              <a:lnSpc>
                <a:spcPts val="4200"/>
              </a:lnSpc>
              <a:spcBef>
                <a:spcPct val="0"/>
              </a:spcBef>
            </a:pPr>
            <a:r>
              <a:rPr lang="en-US" sz="3000" b="1">
                <a:solidFill>
                  <a:srgbClr val="F0F8A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05</a:t>
            </a:r>
            <a:endParaRPr lang="en-US" sz="3000" b="1" u="none" strike="noStrike">
              <a:solidFill>
                <a:srgbClr val="F0F8A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graphicFrame>
        <p:nvGraphicFramePr>
          <p:cNvPr id="50" name="Table 49">
            <a:extLst>
              <a:ext uri="{FF2B5EF4-FFF2-40B4-BE49-F238E27FC236}">
                <a16:creationId xmlns:a16="http://schemas.microsoft.com/office/drawing/2014/main" id="{F63E36FC-9DCD-A0F7-6956-A930B7D548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879457"/>
              </p:ext>
            </p:extLst>
          </p:nvPr>
        </p:nvGraphicFramePr>
        <p:xfrm>
          <a:off x="3493311" y="8218927"/>
          <a:ext cx="11312919" cy="15537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395828">
                  <a:extLst>
                    <a:ext uri="{9D8B030D-6E8A-4147-A177-3AD203B41FA5}">
                      <a16:colId xmlns:a16="http://schemas.microsoft.com/office/drawing/2014/main" val="274183652"/>
                    </a:ext>
                  </a:extLst>
                </a:gridCol>
                <a:gridCol w="4067354">
                  <a:extLst>
                    <a:ext uri="{9D8B030D-6E8A-4147-A177-3AD203B41FA5}">
                      <a16:colId xmlns:a16="http://schemas.microsoft.com/office/drawing/2014/main" val="1023332666"/>
                    </a:ext>
                  </a:extLst>
                </a:gridCol>
                <a:gridCol w="2849737">
                  <a:extLst>
                    <a:ext uri="{9D8B030D-6E8A-4147-A177-3AD203B41FA5}">
                      <a16:colId xmlns:a16="http://schemas.microsoft.com/office/drawing/2014/main" val="3444491366"/>
                    </a:ext>
                  </a:extLst>
                </a:gridCol>
              </a:tblGrid>
              <a:tr h="7110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chemeClr val="bg1"/>
                          </a:solidFill>
                          <a:effectLst/>
                        </a:rPr>
                        <a:t>Variable</a:t>
                      </a:r>
                      <a:endParaRPr lang="en-US" sz="240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RMSE (Rs. Cr)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400" b="1">
                          <a:solidFill>
                            <a:srgbClr val="FFFFFF"/>
                          </a:solidFill>
                          <a:effectLst/>
                        </a:rPr>
                        <a:t>MAPE</a:t>
                      </a:r>
                      <a:endParaRPr lang="en-US" sz="2400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0871692"/>
                  </a:ext>
                </a:extLst>
              </a:tr>
              <a:tr h="8427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solidFill>
                            <a:schemeClr val="tx1"/>
                          </a:solidFill>
                          <a:effectLst/>
                        </a:rPr>
                        <a:t>GROSS BANK CREDIT</a:t>
                      </a: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800" b="1" i="0" u="none" strike="noStrike" noProof="0">
                          <a:effectLst/>
                          <a:latin typeface="Calibri"/>
                          <a:ea typeface="Calibri"/>
                          <a:cs typeface="Calibri"/>
                        </a:rPr>
                        <a:t>163,341 </a:t>
                      </a:r>
                      <a:endParaRPr lang="en-US" sz="2800" b="1"/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800" b="1">
                          <a:solidFill>
                            <a:srgbClr val="1B5E20"/>
                          </a:solidFill>
                          <a:effectLst/>
                        </a:rPr>
                        <a:t>1.48%</a:t>
                      </a:r>
                      <a:endParaRPr lang="en-US" sz="2800" b="1">
                        <a:effectLst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401090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77608305-E81F-45AE-33F3-665493BFC092}"/>
              </a:ext>
            </a:extLst>
          </p:cNvPr>
          <p:cNvSpPr txBox="1"/>
          <p:nvPr/>
        </p:nvSpPr>
        <p:spPr>
          <a:xfrm>
            <a:off x="1443559" y="455351"/>
            <a:ext cx="9263653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800">
                <a:solidFill>
                  <a:srgbClr val="FFFFFF"/>
                </a:solidFill>
                <a:latin typeface="League Gothic"/>
              </a:rPr>
              <a:t>FORECAST ACCURACY </a:t>
            </a:r>
            <a:endParaRPr lang="en-US" sz="4800">
              <a:latin typeface="League Gothic"/>
            </a:endParaRPr>
          </a:p>
          <a:p>
            <a:pPr algn="l"/>
            <a:endParaRPr lang="en-US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58939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1D67C00-AC4B-EA3A-33A8-6D89F68D9C86}"/>
              </a:ext>
            </a:extLst>
          </p:cNvPr>
          <p:cNvGrpSpPr/>
          <p:nvPr/>
        </p:nvGrpSpPr>
        <p:grpSpPr>
          <a:xfrm>
            <a:off x="1061108" y="66021"/>
            <a:ext cx="15507011" cy="1600429"/>
            <a:chOff x="166505" y="383079"/>
            <a:chExt cx="15507011" cy="1309485"/>
          </a:xfrm>
        </p:grpSpPr>
        <p:grpSp>
          <p:nvGrpSpPr>
            <p:cNvPr id="11" name="Group 42">
              <a:extLst>
                <a:ext uri="{FF2B5EF4-FFF2-40B4-BE49-F238E27FC236}">
                  <a16:creationId xmlns:a16="http://schemas.microsoft.com/office/drawing/2014/main" id="{34CB572E-E190-45FA-A103-256102117E73}"/>
                </a:ext>
              </a:extLst>
            </p:cNvPr>
            <p:cNvGrpSpPr/>
            <p:nvPr/>
          </p:nvGrpSpPr>
          <p:grpSpPr>
            <a:xfrm>
              <a:off x="774925" y="648339"/>
              <a:ext cx="12021886" cy="775707"/>
              <a:chOff x="0" y="-38100"/>
              <a:chExt cx="10952656" cy="647700"/>
            </a:xfrm>
          </p:grpSpPr>
          <p:sp>
            <p:nvSpPr>
              <p:cNvPr id="22" name="Freeform 43">
                <a:extLst>
                  <a:ext uri="{FF2B5EF4-FFF2-40B4-BE49-F238E27FC236}">
                    <a16:creationId xmlns:a16="http://schemas.microsoft.com/office/drawing/2014/main" id="{8C975EA1-6DC8-933E-FDBE-7A6EF24090F7}"/>
                  </a:ext>
                </a:extLst>
              </p:cNvPr>
              <p:cNvSpPr/>
              <p:nvPr/>
            </p:nvSpPr>
            <p:spPr>
              <a:xfrm>
                <a:off x="0" y="0"/>
                <a:ext cx="1095265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0952656" h="609600">
                    <a:moveTo>
                      <a:pt x="203200" y="0"/>
                    </a:moveTo>
                    <a:lnTo>
                      <a:pt x="10952656" y="0"/>
                    </a:lnTo>
                    <a:lnTo>
                      <a:pt x="1074945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6656B"/>
              </a:solidFill>
            </p:spPr>
            <p:txBody>
              <a:bodyPr lIns="91440" tIns="45720" rIns="91440" bIns="45720" anchor="t"/>
              <a:lstStyle/>
              <a:p>
                <a:endParaRPr lang="en-IN"/>
              </a:p>
            </p:txBody>
          </p:sp>
          <p:sp>
            <p:nvSpPr>
              <p:cNvPr id="23" name="TextBox 44">
                <a:extLst>
                  <a:ext uri="{FF2B5EF4-FFF2-40B4-BE49-F238E27FC236}">
                    <a16:creationId xmlns:a16="http://schemas.microsoft.com/office/drawing/2014/main" id="{A3617D68-6733-43F4-746A-7B656D18FF3C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0749456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2" name="Group 51">
              <a:extLst>
                <a:ext uri="{FF2B5EF4-FFF2-40B4-BE49-F238E27FC236}">
                  <a16:creationId xmlns:a16="http://schemas.microsoft.com/office/drawing/2014/main" id="{6A3D8434-5BD9-8969-4000-05723374BF25}"/>
                </a:ext>
              </a:extLst>
            </p:cNvPr>
            <p:cNvGrpSpPr/>
            <p:nvPr/>
          </p:nvGrpSpPr>
          <p:grpSpPr>
            <a:xfrm>
              <a:off x="166505" y="383079"/>
              <a:ext cx="1199530" cy="1309485"/>
              <a:chOff x="-45132" y="-65513"/>
              <a:chExt cx="276994" cy="344885"/>
            </a:xfrm>
          </p:grpSpPr>
          <p:sp>
            <p:nvSpPr>
              <p:cNvPr id="20" name="Freeform 52">
                <a:extLst>
                  <a:ext uri="{FF2B5EF4-FFF2-40B4-BE49-F238E27FC236}">
                    <a16:creationId xmlns:a16="http://schemas.microsoft.com/office/drawing/2014/main" id="{F596EA57-6590-F9F1-DEA3-FCB0390CB2C8}"/>
                  </a:ext>
                </a:extLst>
              </p:cNvPr>
              <p:cNvSpPr/>
              <p:nvPr/>
            </p:nvSpPr>
            <p:spPr>
              <a:xfrm>
                <a:off x="0" y="0"/>
                <a:ext cx="189191" cy="208294"/>
              </a:xfrm>
              <a:custGeom>
                <a:avLst/>
                <a:gdLst/>
                <a:ahLst/>
                <a:cxnLst/>
                <a:rect l="l" t="t" r="r" b="b"/>
                <a:pathLst>
                  <a:path w="189191" h="208294">
                    <a:moveTo>
                      <a:pt x="94595" y="0"/>
                    </a:moveTo>
                    <a:lnTo>
                      <a:pt x="94595" y="0"/>
                    </a:lnTo>
                    <a:cubicBezTo>
                      <a:pt x="146839" y="0"/>
                      <a:pt x="189191" y="42352"/>
                      <a:pt x="189191" y="94595"/>
                    </a:cubicBezTo>
                    <a:lnTo>
                      <a:pt x="189191" y="113698"/>
                    </a:lnTo>
                    <a:cubicBezTo>
                      <a:pt x="189191" y="138787"/>
                      <a:pt x="179225" y="162847"/>
                      <a:pt x="161484" y="180587"/>
                    </a:cubicBezTo>
                    <a:cubicBezTo>
                      <a:pt x="143744" y="198327"/>
                      <a:pt x="119684" y="208294"/>
                      <a:pt x="94595" y="208294"/>
                    </a:cubicBezTo>
                    <a:lnTo>
                      <a:pt x="94595" y="208294"/>
                    </a:lnTo>
                    <a:cubicBezTo>
                      <a:pt x="69507" y="208294"/>
                      <a:pt x="45446" y="198327"/>
                      <a:pt x="27706" y="180587"/>
                    </a:cubicBezTo>
                    <a:cubicBezTo>
                      <a:pt x="9966" y="162847"/>
                      <a:pt x="0" y="138787"/>
                      <a:pt x="0" y="113698"/>
                    </a:cubicBezTo>
                    <a:lnTo>
                      <a:pt x="0" y="94595"/>
                    </a:lnTo>
                    <a:cubicBezTo>
                      <a:pt x="0" y="69507"/>
                      <a:pt x="9966" y="45446"/>
                      <a:pt x="27706" y="27706"/>
                    </a:cubicBezTo>
                    <a:cubicBezTo>
                      <a:pt x="45446" y="9966"/>
                      <a:pt x="69507" y="0"/>
                      <a:pt x="94595" y="0"/>
                    </a:cubicBezTo>
                    <a:close/>
                  </a:path>
                </a:pathLst>
              </a:custGeom>
              <a:solidFill>
                <a:srgbClr val="75B06F"/>
              </a:solidFill>
              <a:ln cap="rnd">
                <a:noFill/>
                <a:prstDash val="solid"/>
                <a:round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1" name="TextBox 53">
                <a:extLst>
                  <a:ext uri="{FF2B5EF4-FFF2-40B4-BE49-F238E27FC236}">
                    <a16:creationId xmlns:a16="http://schemas.microsoft.com/office/drawing/2014/main" id="{8D7C8FFF-E059-89F3-337E-BD83640A6528}"/>
                  </a:ext>
                </a:extLst>
              </p:cNvPr>
              <p:cNvSpPr txBox="1"/>
              <p:nvPr/>
            </p:nvSpPr>
            <p:spPr>
              <a:xfrm>
                <a:off x="-45132" y="-65513"/>
                <a:ext cx="276994" cy="3448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4200"/>
                  </a:lnSpc>
                  <a:spcBef>
                    <a:spcPct val="0"/>
                  </a:spcBef>
                </a:pPr>
                <a:endParaRPr lang="en-US" sz="3000" b="1" u="none" strike="noStrike">
                  <a:solidFill>
                    <a:srgbClr val="F0F8A4"/>
                  </a:solidFill>
                  <a:latin typeface="Montserrat Bold"/>
                  <a:ea typeface="Montserrat Bold"/>
                  <a:cs typeface="Montserrat Bold"/>
                </a:endParaRPr>
              </a:p>
            </p:txBody>
          </p:sp>
        </p:grpSp>
        <p:grpSp>
          <p:nvGrpSpPr>
            <p:cNvPr id="13" name="Group 48">
              <a:extLst>
                <a:ext uri="{FF2B5EF4-FFF2-40B4-BE49-F238E27FC236}">
                  <a16:creationId xmlns:a16="http://schemas.microsoft.com/office/drawing/2014/main" id="{EDE03EBC-707B-ED44-EFAC-5C083E3B70B7}"/>
                </a:ext>
              </a:extLst>
            </p:cNvPr>
            <p:cNvGrpSpPr/>
            <p:nvPr/>
          </p:nvGrpSpPr>
          <p:grpSpPr>
            <a:xfrm>
              <a:off x="13840444" y="645336"/>
              <a:ext cx="1833072" cy="775707"/>
              <a:chOff x="0" y="-38100"/>
              <a:chExt cx="1530580" cy="647700"/>
            </a:xfrm>
          </p:grpSpPr>
          <p:sp>
            <p:nvSpPr>
              <p:cNvPr id="18" name="Freeform 49">
                <a:extLst>
                  <a:ext uri="{FF2B5EF4-FFF2-40B4-BE49-F238E27FC236}">
                    <a16:creationId xmlns:a16="http://schemas.microsoft.com/office/drawing/2014/main" id="{63CBD8B1-5BA6-4D9E-2142-E7E12F83BEB0}"/>
                  </a:ext>
                </a:extLst>
              </p:cNvPr>
              <p:cNvSpPr/>
              <p:nvPr/>
            </p:nvSpPr>
            <p:spPr>
              <a:xfrm>
                <a:off x="0" y="0"/>
                <a:ext cx="15305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530580" h="609600">
                    <a:moveTo>
                      <a:pt x="203200" y="0"/>
                    </a:moveTo>
                    <a:lnTo>
                      <a:pt x="1530580" y="0"/>
                    </a:lnTo>
                    <a:lnTo>
                      <a:pt x="13273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75B06F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9" name="TextBox 50">
                <a:extLst>
                  <a:ext uri="{FF2B5EF4-FFF2-40B4-BE49-F238E27FC236}">
                    <a16:creationId xmlns:a16="http://schemas.microsoft.com/office/drawing/2014/main" id="{D9E7EB2C-8A34-370E-59C0-275ECCDCC3DF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13273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4" name="Group 45">
              <a:extLst>
                <a:ext uri="{FF2B5EF4-FFF2-40B4-BE49-F238E27FC236}">
                  <a16:creationId xmlns:a16="http://schemas.microsoft.com/office/drawing/2014/main" id="{8EB8CAA9-4551-73DA-AFBD-F66FF13BB3AD}"/>
                </a:ext>
              </a:extLst>
            </p:cNvPr>
            <p:cNvGrpSpPr/>
            <p:nvPr/>
          </p:nvGrpSpPr>
          <p:grpSpPr>
            <a:xfrm>
              <a:off x="12798527" y="645336"/>
              <a:ext cx="1041917" cy="775707"/>
              <a:chOff x="0" y="-38100"/>
              <a:chExt cx="869980" cy="647700"/>
            </a:xfrm>
          </p:grpSpPr>
          <p:sp>
            <p:nvSpPr>
              <p:cNvPr id="16" name="Freeform 46">
                <a:extLst>
                  <a:ext uri="{FF2B5EF4-FFF2-40B4-BE49-F238E27FC236}">
                    <a16:creationId xmlns:a16="http://schemas.microsoft.com/office/drawing/2014/main" id="{422F4726-82A7-8C85-1743-4B887622FFAA}"/>
                  </a:ext>
                </a:extLst>
              </p:cNvPr>
              <p:cNvSpPr/>
              <p:nvPr/>
            </p:nvSpPr>
            <p:spPr>
              <a:xfrm>
                <a:off x="0" y="0"/>
                <a:ext cx="869980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869980" h="609600">
                    <a:moveTo>
                      <a:pt x="203200" y="0"/>
                    </a:moveTo>
                    <a:lnTo>
                      <a:pt x="869980" y="0"/>
                    </a:lnTo>
                    <a:lnTo>
                      <a:pt x="666780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DAD887"/>
              </a:solidFill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17" name="TextBox 47">
                <a:extLst>
                  <a:ext uri="{FF2B5EF4-FFF2-40B4-BE49-F238E27FC236}">
                    <a16:creationId xmlns:a16="http://schemas.microsoft.com/office/drawing/2014/main" id="{5E49AE1D-603A-0295-C7CA-D8F31899E22C}"/>
                  </a:ext>
                </a:extLst>
              </p:cNvPr>
              <p:cNvSpPr txBox="1"/>
              <p:nvPr/>
            </p:nvSpPr>
            <p:spPr>
              <a:xfrm>
                <a:off x="101600" y="-38100"/>
                <a:ext cx="666780" cy="64770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22E7D01-D7BC-1DCE-C37A-DA056469177B}"/>
                </a:ext>
              </a:extLst>
            </p:cNvPr>
            <p:cNvSpPr txBox="1"/>
            <p:nvPr/>
          </p:nvSpPr>
          <p:spPr>
            <a:xfrm>
              <a:off x="1340037" y="659279"/>
              <a:ext cx="12719050" cy="83102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sz="6000">
                  <a:solidFill>
                    <a:schemeClr val="bg1"/>
                  </a:solidFill>
                  <a:latin typeface="League Gothic"/>
                </a:rPr>
                <a:t>COMPARISON</a:t>
              </a:r>
              <a:r>
                <a:rPr lang="en-US" sz="5400">
                  <a:solidFill>
                    <a:schemeClr val="bg1"/>
                  </a:solidFill>
                  <a:latin typeface="League Gothic"/>
                </a:rPr>
                <a:t> </a:t>
              </a:r>
            </a:p>
          </p:txBody>
        </p:sp>
      </p:grp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99F094DA-B884-270D-00E6-F9A32EEA5B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8418387"/>
              </p:ext>
            </p:extLst>
          </p:nvPr>
        </p:nvGraphicFramePr>
        <p:xfrm>
          <a:off x="2015041" y="2574918"/>
          <a:ext cx="14264640" cy="4840230"/>
        </p:xfrm>
        <a:graphic>
          <a:graphicData uri="http://schemas.openxmlformats.org/drawingml/2006/table">
            <a:tbl>
              <a:tblPr firstRow="1" bandRow="1">
                <a:tableStyleId>{69C7853C-536D-4A76-A0AE-DD22124D55A5}</a:tableStyleId>
              </a:tblPr>
              <a:tblGrid>
                <a:gridCol w="4754880">
                  <a:extLst>
                    <a:ext uri="{9D8B030D-6E8A-4147-A177-3AD203B41FA5}">
                      <a16:colId xmlns:a16="http://schemas.microsoft.com/office/drawing/2014/main" val="3262504179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1803059389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1372431400"/>
                    </a:ext>
                  </a:extLst>
                </a:gridCol>
              </a:tblGrid>
              <a:tr h="806705">
                <a:tc>
                  <a:txBody>
                    <a:bodyPr/>
                    <a:lstStyle/>
                    <a:p>
                      <a:pPr algn="ctr"/>
                      <a:r>
                        <a:rPr lang="en-US" sz="4000" dirty="0"/>
                        <a:t>METHODS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RMSE (Rs Crore)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rgbClr val="36656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4000"/>
                        <a:t>MAPE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rgbClr val="3665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763723"/>
                  </a:ext>
                </a:extLst>
              </a:tr>
              <a:tr h="806705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HOLTS 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latin typeface="Calibri"/>
                          <a:ea typeface="Calibri"/>
                          <a:cs typeface="Calibri"/>
                        </a:rPr>
                        <a:t>1408,776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latin typeface="Calibri"/>
                          <a:ea typeface="Calibri"/>
                          <a:cs typeface="Calibri"/>
                        </a:rPr>
                        <a:t>14.66%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730297"/>
                  </a:ext>
                </a:extLst>
              </a:tr>
              <a:tr h="806705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solidFill>
                            <a:schemeClr val="tx1"/>
                          </a:solidFill>
                          <a:latin typeface="Calibri"/>
                          <a:ea typeface="Calibri"/>
                          <a:cs typeface="Calibri"/>
                        </a:rPr>
                        <a:t>ARIMA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latin typeface="Calibri"/>
                          <a:ea typeface="Calibri"/>
                          <a:cs typeface="Calibri"/>
                        </a:rPr>
                        <a:t>309,724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latin typeface="Calibri"/>
                          <a:ea typeface="Calibri"/>
                          <a:cs typeface="Calibri"/>
                        </a:rPr>
                        <a:t>3.289%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8027424"/>
                  </a:ext>
                </a:extLst>
              </a:tr>
              <a:tr h="806705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latin typeface="Calibri"/>
                          <a:ea typeface="Calibri"/>
                          <a:cs typeface="Calibri"/>
                        </a:rPr>
                        <a:t>VECM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latin typeface="Calibri"/>
                          <a:ea typeface="Calibri"/>
                          <a:cs typeface="Calibri"/>
                        </a:rPr>
                        <a:t>383,269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latin typeface="Calibri"/>
                          <a:ea typeface="Calibri"/>
                          <a:cs typeface="Calibri"/>
                        </a:rPr>
                        <a:t>4.08%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872245"/>
                  </a:ext>
                </a:extLst>
              </a:tr>
              <a:tr h="806705">
                <a:tc>
                  <a:txBody>
                    <a:bodyPr/>
                    <a:lstStyle/>
                    <a:p>
                      <a:pPr algn="ctr"/>
                      <a:r>
                        <a:rPr lang="en-US" sz="3200" b="1" i="0">
                          <a:solidFill>
                            <a:srgbClr val="36656B"/>
                          </a:solidFill>
                          <a:latin typeface="Calibri"/>
                          <a:ea typeface="Calibri"/>
                          <a:cs typeface="Calibri"/>
                        </a:rPr>
                        <a:t>ARIMAX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i="0">
                          <a:solidFill>
                            <a:srgbClr val="36656B"/>
                          </a:solidFill>
                          <a:latin typeface="Calibri"/>
                          <a:ea typeface="Calibri"/>
                          <a:cs typeface="Calibri"/>
                        </a:rPr>
                        <a:t>98,001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1" i="0">
                          <a:solidFill>
                            <a:srgbClr val="36656B"/>
                          </a:solidFill>
                          <a:latin typeface="Calibri"/>
                          <a:ea typeface="Calibri"/>
                          <a:cs typeface="Calibri"/>
                        </a:rPr>
                        <a:t>0.8910%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5785257"/>
                  </a:ext>
                </a:extLst>
              </a:tr>
              <a:tr h="806705"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latin typeface="Calibri"/>
                          <a:ea typeface="Calibri"/>
                          <a:cs typeface="Calibri"/>
                        </a:rPr>
                        <a:t>FAVAR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>
                          <a:latin typeface="Calibri"/>
                          <a:ea typeface="Calibri"/>
                          <a:cs typeface="Calibri"/>
                        </a:rPr>
                        <a:t>163,341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b="0" i="0" dirty="0">
                          <a:latin typeface="Calibri"/>
                          <a:ea typeface="Calibri"/>
                          <a:cs typeface="Calibri"/>
                        </a:rPr>
                        <a:t>1.4%</a:t>
                      </a:r>
                    </a:p>
                  </a:txBody>
                  <a:tcPr anchor="ctr">
                    <a:lnL w="9525">
                      <a:solidFill>
                        <a:schemeClr val="tx1"/>
                      </a:solidFill>
                    </a:lnL>
                    <a:lnR w="9525">
                      <a:solidFill>
                        <a:schemeClr val="tx1"/>
                      </a:solidFill>
                    </a:lnR>
                    <a:lnT w="9525">
                      <a:solidFill>
                        <a:schemeClr val="tx1"/>
                      </a:solidFill>
                    </a:lnT>
                    <a:lnB w="9525">
                      <a:solidFill>
                        <a:schemeClr val="tx1"/>
                      </a:solidFill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0421537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1D97811-6180-4C54-E3E1-E53E45E5C39D}"/>
              </a:ext>
            </a:extLst>
          </p:cNvPr>
          <p:cNvSpPr txBox="1"/>
          <p:nvPr/>
        </p:nvSpPr>
        <p:spPr>
          <a:xfrm>
            <a:off x="334027" y="8108626"/>
            <a:ext cx="176094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>
                <a:solidFill>
                  <a:srgbClr val="222222"/>
                </a:solidFill>
                <a:ea typeface="+mn-lt"/>
                <a:cs typeface="+mn-lt"/>
              </a:rPr>
              <a:t>ARIMAX</a:t>
            </a:r>
            <a:r>
              <a:rPr lang="en-US" sz="4000">
                <a:solidFill>
                  <a:srgbClr val="222222"/>
                </a:solidFill>
                <a:ea typeface="+mn-lt"/>
                <a:cs typeface="+mn-lt"/>
              </a:rPr>
              <a:t> is the best-fit model for forecasting credit demand in this analysis</a:t>
            </a:r>
            <a:endParaRPr lang="en-US" sz="4000">
              <a:ea typeface="Calibri"/>
              <a:cs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413E52-2937-C81A-E291-8E30A401A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AD3EA944-C264-C53E-9F4C-1B5FF0ADF684}"/>
              </a:ext>
            </a:extLst>
          </p:cNvPr>
          <p:cNvSpPr/>
          <p:nvPr/>
        </p:nvSpPr>
        <p:spPr>
          <a:xfrm flipH="1">
            <a:off x="0" y="21566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1B7307-7FF6-5112-AE7C-5A46C33FBE8D}"/>
              </a:ext>
            </a:extLst>
          </p:cNvPr>
          <p:cNvSpPr txBox="1"/>
          <p:nvPr/>
        </p:nvSpPr>
        <p:spPr>
          <a:xfrm>
            <a:off x="798554" y="1948614"/>
            <a:ext cx="16867236" cy="747897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lvl="0" indent="-571500">
              <a:buFont typeface="Wingdings"/>
              <a:buChar char="v"/>
            </a:pPr>
            <a:r>
              <a:rPr lang="en-US" sz="4000" b="1"/>
              <a:t>Unmodelled Structural Breaks</a:t>
            </a:r>
            <a:br>
              <a:rPr lang="en-US" sz="4000"/>
            </a:br>
            <a:r>
              <a:rPr lang="en-US" sz="4000"/>
              <a:t>Events like demonetization and COVID-19 were not built into the models, so predictions become less accurate during such sudden changes.</a:t>
            </a:r>
            <a:endParaRPr lang="en-US" sz="4000">
              <a:ea typeface="Calibri"/>
              <a:cs typeface="Calibri"/>
            </a:endParaRPr>
          </a:p>
          <a:p>
            <a:pPr marL="571500" indent="-571500">
              <a:buFont typeface="Wingdings"/>
              <a:buChar char="v"/>
            </a:pPr>
            <a:endParaRPr lang="en-US" sz="4000"/>
          </a:p>
          <a:p>
            <a:pPr marL="571500" lvl="0" indent="-571500">
              <a:buFont typeface="Wingdings"/>
              <a:buChar char="v"/>
            </a:pPr>
            <a:r>
              <a:rPr lang="en-US" sz="4000" b="1"/>
              <a:t>Limited Sample Size (N = 115)</a:t>
            </a:r>
            <a:br>
              <a:rPr lang="en-US" sz="4000"/>
            </a:br>
            <a:r>
              <a:rPr lang="en-US" sz="4000"/>
              <a:t>The data has only 115 observations, which limits how much information the models can learn.</a:t>
            </a:r>
            <a:endParaRPr lang="en-US" sz="4000">
              <a:ea typeface="Calibri"/>
              <a:cs typeface="Calibri"/>
            </a:endParaRPr>
          </a:p>
          <a:p>
            <a:pPr marL="571500" indent="-571500">
              <a:buFont typeface="Wingdings"/>
              <a:buChar char="v"/>
            </a:pPr>
            <a:endParaRPr lang="en-US" sz="4000"/>
          </a:p>
          <a:p>
            <a:pPr marL="571500" indent="-571500">
              <a:buFont typeface="Wingdings"/>
              <a:buChar char="v"/>
            </a:pPr>
            <a:r>
              <a:rPr lang="en-US" sz="4000" b="1"/>
              <a:t>Dependence on Past Data and Subjective Factor Interpretation</a:t>
            </a:r>
            <a:endParaRPr lang="en-US" sz="4000">
              <a:ea typeface="Calibri"/>
              <a:cs typeface="Calibri"/>
            </a:endParaRPr>
          </a:p>
          <a:p>
            <a:pPr lvl="1"/>
            <a:r>
              <a:rPr lang="en-US" sz="4000"/>
              <a:t>Models depend a lot on past data, so they struggle to predict new or unexpected situations, and in factor-based methods like PCA and FAVAR, the interpretation of factors is subjective and may not always be fully accurate.</a:t>
            </a:r>
            <a:endParaRPr lang="en-US" sz="3600">
              <a:ea typeface="Calibri"/>
              <a:cs typeface="Calibri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354B653-CE3A-633E-2C68-793F90E2AA5A}"/>
              </a:ext>
            </a:extLst>
          </p:cNvPr>
          <p:cNvGrpSpPr/>
          <p:nvPr/>
        </p:nvGrpSpPr>
        <p:grpSpPr>
          <a:xfrm>
            <a:off x="833566" y="413596"/>
            <a:ext cx="16545910" cy="869674"/>
            <a:chOff x="966916" y="550086"/>
            <a:chExt cx="16230600" cy="80610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F8DD0595-AE79-9754-6C33-F83F3FBEA7FE}"/>
                </a:ext>
              </a:extLst>
            </p:cNvPr>
            <p:cNvGrpSpPr/>
            <p:nvPr/>
          </p:nvGrpSpPr>
          <p:grpSpPr>
            <a:xfrm>
              <a:off x="1187123" y="550086"/>
              <a:ext cx="16010393" cy="775707"/>
              <a:chOff x="1187123" y="550086"/>
              <a:chExt cx="16010393" cy="775707"/>
            </a:xfrm>
          </p:grpSpPr>
          <p:grpSp>
            <p:nvGrpSpPr>
              <p:cNvPr id="28" name="Group 42">
                <a:extLst>
                  <a:ext uri="{FF2B5EF4-FFF2-40B4-BE49-F238E27FC236}">
                    <a16:creationId xmlns:a16="http://schemas.microsoft.com/office/drawing/2014/main" id="{DDFFE41C-CCA0-8F6C-4E4D-8F172750D23F}"/>
                  </a:ext>
                </a:extLst>
              </p:cNvPr>
              <p:cNvGrpSpPr/>
              <p:nvPr/>
            </p:nvGrpSpPr>
            <p:grpSpPr>
              <a:xfrm>
                <a:off x="1187123" y="550086"/>
                <a:ext cx="13117261" cy="775707"/>
                <a:chOff x="0" y="-38100"/>
                <a:chExt cx="10952656" cy="647700"/>
              </a:xfrm>
            </p:grpSpPr>
            <p:sp>
              <p:nvSpPr>
                <p:cNvPr id="35" name="Freeform 43">
                  <a:extLst>
                    <a:ext uri="{FF2B5EF4-FFF2-40B4-BE49-F238E27FC236}">
                      <a16:creationId xmlns:a16="http://schemas.microsoft.com/office/drawing/2014/main" id="{3AE2A4EA-A1A8-CBA2-DFFF-0DAF059542E5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52656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2656" h="609600">
                      <a:moveTo>
                        <a:pt x="203200" y="0"/>
                      </a:moveTo>
                      <a:lnTo>
                        <a:pt x="10952656" y="0"/>
                      </a:lnTo>
                      <a:lnTo>
                        <a:pt x="10749456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36656B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6" name="TextBox 44">
                  <a:extLst>
                    <a:ext uri="{FF2B5EF4-FFF2-40B4-BE49-F238E27FC236}">
                      <a16:creationId xmlns:a16="http://schemas.microsoft.com/office/drawing/2014/main" id="{925C13F4-D89E-23E4-D021-FD6E22B541E0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0749456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29" name="Group 45">
                <a:extLst>
                  <a:ext uri="{FF2B5EF4-FFF2-40B4-BE49-F238E27FC236}">
                    <a16:creationId xmlns:a16="http://schemas.microsoft.com/office/drawing/2014/main" id="{CC8553F8-2B5F-A60D-EBA9-08BA6B222F88}"/>
                  </a:ext>
                </a:extLst>
              </p:cNvPr>
              <p:cNvGrpSpPr/>
              <p:nvPr/>
            </p:nvGrpSpPr>
            <p:grpSpPr>
              <a:xfrm>
                <a:off x="14322527" y="550086"/>
                <a:ext cx="1041917" cy="775707"/>
                <a:chOff x="0" y="-38100"/>
                <a:chExt cx="869980" cy="647700"/>
              </a:xfrm>
            </p:grpSpPr>
            <p:sp>
              <p:nvSpPr>
                <p:cNvPr id="33" name="Freeform 46">
                  <a:extLst>
                    <a:ext uri="{FF2B5EF4-FFF2-40B4-BE49-F238E27FC236}">
                      <a16:creationId xmlns:a16="http://schemas.microsoft.com/office/drawing/2014/main" id="{A62701C5-A21E-716A-98F0-06D974D8501A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699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80" h="609600">
                      <a:moveTo>
                        <a:pt x="203200" y="0"/>
                      </a:moveTo>
                      <a:lnTo>
                        <a:pt x="869980" y="0"/>
                      </a:lnTo>
                      <a:lnTo>
                        <a:pt x="6667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9BBB59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" name="TextBox 47">
                  <a:extLst>
                    <a:ext uri="{FF2B5EF4-FFF2-40B4-BE49-F238E27FC236}">
                      <a16:creationId xmlns:a16="http://schemas.microsoft.com/office/drawing/2014/main" id="{F2C94D92-1C11-E042-9A73-A2883DB5AF65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6667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30" name="Group 48">
                <a:extLst>
                  <a:ext uri="{FF2B5EF4-FFF2-40B4-BE49-F238E27FC236}">
                    <a16:creationId xmlns:a16="http://schemas.microsoft.com/office/drawing/2014/main" id="{12B16B6D-082F-239A-6C3B-C6B115F19396}"/>
                  </a:ext>
                </a:extLst>
              </p:cNvPr>
              <p:cNvGrpSpPr/>
              <p:nvPr/>
            </p:nvGrpSpPr>
            <p:grpSpPr>
              <a:xfrm>
                <a:off x="15364444" y="550086"/>
                <a:ext cx="1833072" cy="775707"/>
                <a:chOff x="0" y="-38100"/>
                <a:chExt cx="1530580" cy="647700"/>
              </a:xfrm>
            </p:grpSpPr>
            <p:sp>
              <p:nvSpPr>
                <p:cNvPr id="31" name="Freeform 49">
                  <a:extLst>
                    <a:ext uri="{FF2B5EF4-FFF2-40B4-BE49-F238E27FC236}">
                      <a16:creationId xmlns:a16="http://schemas.microsoft.com/office/drawing/2014/main" id="{440E9822-7A35-C3BD-7329-988DB64E63A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5305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580" h="609600">
                      <a:moveTo>
                        <a:pt x="203200" y="0"/>
                      </a:moveTo>
                      <a:lnTo>
                        <a:pt x="1530580" y="0"/>
                      </a:lnTo>
                      <a:lnTo>
                        <a:pt x="13273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75B06F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2" name="TextBox 50">
                  <a:extLst>
                    <a:ext uri="{FF2B5EF4-FFF2-40B4-BE49-F238E27FC236}">
                      <a16:creationId xmlns:a16="http://schemas.microsoft.com/office/drawing/2014/main" id="{A08952CC-0DA1-F66D-2BBA-E386CED4B83C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3273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</p:grpSp>
        <p:sp>
          <p:nvSpPr>
            <p:cNvPr id="26" name="Freeform 52">
              <a:extLst>
                <a:ext uri="{FF2B5EF4-FFF2-40B4-BE49-F238E27FC236}">
                  <a16:creationId xmlns:a16="http://schemas.microsoft.com/office/drawing/2014/main" id="{6EBCDA46-0B13-29ED-F57D-3861A6831591}"/>
                </a:ext>
              </a:extLst>
            </p:cNvPr>
            <p:cNvSpPr/>
            <p:nvPr/>
          </p:nvSpPr>
          <p:spPr>
            <a:xfrm>
              <a:off x="966916" y="565322"/>
              <a:ext cx="718334" cy="790865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7DD8711A-DDE4-CA22-C9C6-EC99F440B4BC}"/>
              </a:ext>
            </a:extLst>
          </p:cNvPr>
          <p:cNvSpPr txBox="1"/>
          <p:nvPr/>
        </p:nvSpPr>
        <p:spPr>
          <a:xfrm>
            <a:off x="1880695" y="441112"/>
            <a:ext cx="9144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League Gothic"/>
                <a:ea typeface="Calibri"/>
                <a:cs typeface="Calibri"/>
              </a:rPr>
              <a:t>LIMITATONS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394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DE4A8-0F21-9E69-1CA3-159493593E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8762EBC6-11D5-7D73-E8E3-CF6D62758483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B89CFC-AFBB-EAC1-FE6B-FDF1F9827428}"/>
              </a:ext>
            </a:extLst>
          </p:cNvPr>
          <p:cNvSpPr txBox="1"/>
          <p:nvPr/>
        </p:nvSpPr>
        <p:spPr>
          <a:xfrm>
            <a:off x="819336" y="2031741"/>
            <a:ext cx="16347691" cy="80945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v"/>
            </a:pPr>
            <a:r>
              <a:rPr lang="en-US" sz="4000" b="1">
                <a:ea typeface="+mn-lt"/>
                <a:cs typeface="+mn-lt"/>
              </a:rPr>
              <a:t>Include sudden shocks in models</a:t>
            </a:r>
            <a:br>
              <a:rPr lang="en-US" sz="4000">
                <a:ea typeface="+mn-lt"/>
                <a:cs typeface="+mn-lt"/>
              </a:rPr>
            </a:br>
            <a:r>
              <a:rPr lang="en-US" sz="4000">
                <a:ea typeface="+mn-lt"/>
                <a:cs typeface="+mn-lt"/>
              </a:rPr>
              <a:t> Future models can include things like COVID or demonetization, so predictions do not go wrong during such events.</a:t>
            </a:r>
            <a:endParaRPr lang="en-US">
              <a:ea typeface="Calibri"/>
              <a:cs typeface="Calibri"/>
            </a:endParaRPr>
          </a:p>
          <a:p>
            <a:pPr marL="571500" indent="-571500">
              <a:buFont typeface="Wingdings"/>
              <a:buChar char="v"/>
            </a:pPr>
            <a:endParaRPr lang="en-US" sz="4000">
              <a:ea typeface="+mn-lt"/>
              <a:cs typeface="+mn-lt"/>
            </a:endParaRPr>
          </a:p>
          <a:p>
            <a:pPr marL="571500" indent="-571500">
              <a:buFont typeface="Wingdings"/>
              <a:buChar char="v"/>
            </a:pPr>
            <a:r>
              <a:rPr lang="en-US" sz="4000" b="1">
                <a:ea typeface="+mn-lt"/>
                <a:cs typeface="+mn-lt"/>
              </a:rPr>
              <a:t>Use more and better data</a:t>
            </a:r>
            <a:br>
              <a:rPr lang="en-US" sz="4000">
                <a:ea typeface="+mn-lt"/>
                <a:cs typeface="+mn-lt"/>
              </a:rPr>
            </a:br>
            <a:r>
              <a:rPr lang="en-US" sz="4000">
                <a:ea typeface="+mn-lt"/>
                <a:cs typeface="+mn-lt"/>
              </a:rPr>
              <a:t> Using more data (longer time or more frequent data) can help the model learn better.</a:t>
            </a:r>
            <a:endParaRPr lang="en-US">
              <a:ea typeface="+mn-lt"/>
              <a:cs typeface="+mn-lt"/>
            </a:endParaRPr>
          </a:p>
          <a:p>
            <a:pPr marL="571500" indent="-571500">
              <a:buFont typeface="Wingdings"/>
              <a:buChar char="v"/>
            </a:pPr>
            <a:endParaRPr lang="en-US" sz="4000">
              <a:ea typeface="+mn-lt"/>
              <a:cs typeface="+mn-lt"/>
            </a:endParaRPr>
          </a:p>
          <a:p>
            <a:pPr marL="571500" indent="-571500">
              <a:buFont typeface="Wingdings"/>
              <a:buChar char="v"/>
            </a:pPr>
            <a:r>
              <a:rPr lang="en-US" sz="4000" b="1">
                <a:ea typeface="+mn-lt"/>
                <a:cs typeface="+mn-lt"/>
              </a:rPr>
              <a:t>Use advanced non-linear models</a:t>
            </a:r>
            <a:br>
              <a:rPr lang="en-US" sz="4000">
                <a:ea typeface="+mn-lt"/>
                <a:cs typeface="+mn-lt"/>
              </a:rPr>
            </a:br>
            <a:r>
              <a:rPr lang="en-US" sz="4000">
                <a:ea typeface="+mn-lt"/>
                <a:cs typeface="+mn-lt"/>
              </a:rPr>
              <a:t> Methods like Neural Networks, Random Forest, or XGBoost or Hybrid approaches (like combining ARIMA with machine learning models) can be used to capture complex patterns that simple models miss.</a:t>
            </a:r>
            <a:endParaRPr lang="en-US">
              <a:ea typeface="+mn-lt"/>
              <a:cs typeface="+mn-lt"/>
            </a:endParaRPr>
          </a:p>
          <a:p>
            <a:pPr marL="571500" indent="-571500">
              <a:buFont typeface="Wingdings"/>
              <a:buChar char="v"/>
            </a:pPr>
            <a:endParaRPr lang="en-US" sz="4000">
              <a:ea typeface="Calibri"/>
              <a:cs typeface="Calibri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4E0560B5-B5AC-E9FC-35A5-0C5288274048}"/>
              </a:ext>
            </a:extLst>
          </p:cNvPr>
          <p:cNvGrpSpPr/>
          <p:nvPr/>
        </p:nvGrpSpPr>
        <p:grpSpPr>
          <a:xfrm>
            <a:off x="833566" y="413596"/>
            <a:ext cx="16545910" cy="869674"/>
            <a:chOff x="966916" y="550086"/>
            <a:chExt cx="16230600" cy="80610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74B0A67A-103B-2292-CCBD-3B0EF60254F8}"/>
                </a:ext>
              </a:extLst>
            </p:cNvPr>
            <p:cNvGrpSpPr/>
            <p:nvPr/>
          </p:nvGrpSpPr>
          <p:grpSpPr>
            <a:xfrm>
              <a:off x="1187123" y="550086"/>
              <a:ext cx="16010393" cy="775707"/>
              <a:chOff x="1187123" y="550086"/>
              <a:chExt cx="16010393" cy="775707"/>
            </a:xfrm>
          </p:grpSpPr>
          <p:grpSp>
            <p:nvGrpSpPr>
              <p:cNvPr id="28" name="Group 42">
                <a:extLst>
                  <a:ext uri="{FF2B5EF4-FFF2-40B4-BE49-F238E27FC236}">
                    <a16:creationId xmlns:a16="http://schemas.microsoft.com/office/drawing/2014/main" id="{8DB31AA7-B4A6-1438-4F1B-83E86A24C450}"/>
                  </a:ext>
                </a:extLst>
              </p:cNvPr>
              <p:cNvGrpSpPr/>
              <p:nvPr/>
            </p:nvGrpSpPr>
            <p:grpSpPr>
              <a:xfrm>
                <a:off x="1187123" y="550086"/>
                <a:ext cx="13117261" cy="775707"/>
                <a:chOff x="0" y="-38100"/>
                <a:chExt cx="10952656" cy="647700"/>
              </a:xfrm>
            </p:grpSpPr>
            <p:sp>
              <p:nvSpPr>
                <p:cNvPr id="35" name="Freeform 43">
                  <a:extLst>
                    <a:ext uri="{FF2B5EF4-FFF2-40B4-BE49-F238E27FC236}">
                      <a16:creationId xmlns:a16="http://schemas.microsoft.com/office/drawing/2014/main" id="{8F9296F0-783A-484A-4CC0-607C0763FFC9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52656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2656" h="609600">
                      <a:moveTo>
                        <a:pt x="203200" y="0"/>
                      </a:moveTo>
                      <a:lnTo>
                        <a:pt x="10952656" y="0"/>
                      </a:lnTo>
                      <a:lnTo>
                        <a:pt x="10749456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36656B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6" name="TextBox 44">
                  <a:extLst>
                    <a:ext uri="{FF2B5EF4-FFF2-40B4-BE49-F238E27FC236}">
                      <a16:creationId xmlns:a16="http://schemas.microsoft.com/office/drawing/2014/main" id="{A42A6702-7D86-8291-E5C8-F65B0BB6AD58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0749456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29" name="Group 45">
                <a:extLst>
                  <a:ext uri="{FF2B5EF4-FFF2-40B4-BE49-F238E27FC236}">
                    <a16:creationId xmlns:a16="http://schemas.microsoft.com/office/drawing/2014/main" id="{A5799246-F26F-682B-915A-278E24474BF2}"/>
                  </a:ext>
                </a:extLst>
              </p:cNvPr>
              <p:cNvGrpSpPr/>
              <p:nvPr/>
            </p:nvGrpSpPr>
            <p:grpSpPr>
              <a:xfrm>
                <a:off x="14322527" y="550086"/>
                <a:ext cx="1041917" cy="775707"/>
                <a:chOff x="0" y="-38100"/>
                <a:chExt cx="869980" cy="647700"/>
              </a:xfrm>
            </p:grpSpPr>
            <p:sp>
              <p:nvSpPr>
                <p:cNvPr id="33" name="Freeform 46">
                  <a:extLst>
                    <a:ext uri="{FF2B5EF4-FFF2-40B4-BE49-F238E27FC236}">
                      <a16:creationId xmlns:a16="http://schemas.microsoft.com/office/drawing/2014/main" id="{85CC6519-7E13-3CE7-4271-C968F4670EA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699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80" h="609600">
                      <a:moveTo>
                        <a:pt x="203200" y="0"/>
                      </a:moveTo>
                      <a:lnTo>
                        <a:pt x="869980" y="0"/>
                      </a:lnTo>
                      <a:lnTo>
                        <a:pt x="6667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9BBB59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" name="TextBox 47">
                  <a:extLst>
                    <a:ext uri="{FF2B5EF4-FFF2-40B4-BE49-F238E27FC236}">
                      <a16:creationId xmlns:a16="http://schemas.microsoft.com/office/drawing/2014/main" id="{A2A7990A-41F3-CBB2-81EB-C0CFC694D788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6667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30" name="Group 48">
                <a:extLst>
                  <a:ext uri="{FF2B5EF4-FFF2-40B4-BE49-F238E27FC236}">
                    <a16:creationId xmlns:a16="http://schemas.microsoft.com/office/drawing/2014/main" id="{372627B6-F51E-DCD9-5485-3E8E40B07005}"/>
                  </a:ext>
                </a:extLst>
              </p:cNvPr>
              <p:cNvGrpSpPr/>
              <p:nvPr/>
            </p:nvGrpSpPr>
            <p:grpSpPr>
              <a:xfrm>
                <a:off x="15364444" y="550086"/>
                <a:ext cx="1833072" cy="775707"/>
                <a:chOff x="0" y="-38100"/>
                <a:chExt cx="1530580" cy="647700"/>
              </a:xfrm>
            </p:grpSpPr>
            <p:sp>
              <p:nvSpPr>
                <p:cNvPr id="31" name="Freeform 49">
                  <a:extLst>
                    <a:ext uri="{FF2B5EF4-FFF2-40B4-BE49-F238E27FC236}">
                      <a16:creationId xmlns:a16="http://schemas.microsoft.com/office/drawing/2014/main" id="{1481BB02-FA45-B821-AF09-439FADE06A61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5305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580" h="609600">
                      <a:moveTo>
                        <a:pt x="203200" y="0"/>
                      </a:moveTo>
                      <a:lnTo>
                        <a:pt x="1530580" y="0"/>
                      </a:lnTo>
                      <a:lnTo>
                        <a:pt x="13273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75B06F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2" name="TextBox 50">
                  <a:extLst>
                    <a:ext uri="{FF2B5EF4-FFF2-40B4-BE49-F238E27FC236}">
                      <a16:creationId xmlns:a16="http://schemas.microsoft.com/office/drawing/2014/main" id="{B3603286-CEB4-B6AF-4C93-51574040B908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3273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</p:grpSp>
        <p:sp>
          <p:nvSpPr>
            <p:cNvPr id="26" name="Freeform 52">
              <a:extLst>
                <a:ext uri="{FF2B5EF4-FFF2-40B4-BE49-F238E27FC236}">
                  <a16:creationId xmlns:a16="http://schemas.microsoft.com/office/drawing/2014/main" id="{2DED9840-BB1C-828E-3FFF-7F559ED4509D}"/>
                </a:ext>
              </a:extLst>
            </p:cNvPr>
            <p:cNvSpPr/>
            <p:nvPr/>
          </p:nvSpPr>
          <p:spPr>
            <a:xfrm>
              <a:off x="966916" y="565322"/>
              <a:ext cx="718334" cy="790865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6DAC83D3-84C6-6C53-60BE-FD27136498DD}"/>
              </a:ext>
            </a:extLst>
          </p:cNvPr>
          <p:cNvSpPr txBox="1"/>
          <p:nvPr/>
        </p:nvSpPr>
        <p:spPr>
          <a:xfrm>
            <a:off x="1880695" y="441112"/>
            <a:ext cx="9144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League Gothic"/>
                <a:ea typeface="Calibri"/>
                <a:cs typeface="Calibri"/>
              </a:rPr>
              <a:t>FUTURE SCOPE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8075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78252D-F351-1584-B90B-92A9F3E01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 descr="A white fabric with folds&#10;&#10;AI-generated content may be incorrect.">
            <a:extLst>
              <a:ext uri="{FF2B5EF4-FFF2-40B4-BE49-F238E27FC236}">
                <a16:creationId xmlns:a16="http://schemas.microsoft.com/office/drawing/2014/main" id="{5A9E92FA-B527-AF30-1D27-DF9DFB98111C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B50CCA-F87C-C23F-970A-69BC1A02A5D3}"/>
              </a:ext>
            </a:extLst>
          </p:cNvPr>
          <p:cNvSpPr txBox="1"/>
          <p:nvPr/>
        </p:nvSpPr>
        <p:spPr>
          <a:xfrm>
            <a:off x="923245" y="2301905"/>
            <a:ext cx="16347691" cy="649408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71500" indent="-571500">
              <a:buFont typeface="Wingdings"/>
              <a:buChar char="v"/>
            </a:pPr>
            <a:r>
              <a:rPr lang="en-US" sz="3200" b="1">
                <a:ea typeface="+mn-lt"/>
                <a:cs typeface="+mn-lt"/>
              </a:rPr>
              <a:t>Njenga, J. K. (2024, April 11)</a:t>
            </a:r>
            <a:r>
              <a:rPr lang="en-US" sz="3200">
                <a:ea typeface="+mn-lt"/>
                <a:cs typeface="+mn-lt"/>
              </a:rPr>
              <a:t>. </a:t>
            </a:r>
            <a:r>
              <a:rPr lang="en-US" sz="3200" i="1">
                <a:ea typeface="+mn-lt"/>
                <a:cs typeface="+mn-lt"/>
              </a:rPr>
              <a:t>Domestic credit growth analysis using ARIMA technique: A case study of Kenya</a:t>
            </a:r>
            <a:r>
              <a:rPr lang="en-US" sz="3200">
                <a:ea typeface="+mn-lt"/>
                <a:cs typeface="+mn-lt"/>
              </a:rPr>
              <a:t>. University of Nairobi, Kenya. </a:t>
            </a:r>
            <a:endParaRPr lang="en-US" sz="3200">
              <a:ea typeface="Calibri"/>
              <a:cs typeface="Calibri"/>
            </a:endParaRPr>
          </a:p>
          <a:p>
            <a:pPr marL="571500" indent="-571500">
              <a:buFont typeface="Wingdings"/>
              <a:buChar char="v"/>
            </a:pPr>
            <a:endParaRPr lang="en-US" sz="3200">
              <a:ea typeface="+mn-lt"/>
              <a:cs typeface="+mn-lt"/>
            </a:endParaRPr>
          </a:p>
          <a:p>
            <a:pPr marL="571500" indent="-571500">
              <a:buFont typeface="Wingdings"/>
              <a:buChar char="v"/>
            </a:pPr>
            <a:r>
              <a:rPr lang="en-US" sz="3200" b="1">
                <a:ea typeface="+mn-lt"/>
                <a:cs typeface="+mn-lt"/>
              </a:rPr>
              <a:t>Loves, L., Usman, M., </a:t>
            </a:r>
            <a:r>
              <a:rPr lang="en-US" sz="3200" b="1" err="1">
                <a:ea typeface="+mn-lt"/>
                <a:cs typeface="+mn-lt"/>
              </a:rPr>
              <a:t>Warsono</a:t>
            </a:r>
            <a:r>
              <a:rPr lang="en-US" sz="3200" b="1">
                <a:ea typeface="+mn-lt"/>
                <a:cs typeface="+mn-lt"/>
              </a:rPr>
              <a:t>, W., </a:t>
            </a:r>
            <a:r>
              <a:rPr lang="en-US" sz="3200" b="1" err="1">
                <a:ea typeface="+mn-lt"/>
                <a:cs typeface="+mn-lt"/>
              </a:rPr>
              <a:t>Widiarti</a:t>
            </a:r>
            <a:r>
              <a:rPr lang="en-US" sz="3200" b="1">
                <a:ea typeface="+mn-lt"/>
                <a:cs typeface="+mn-lt"/>
              </a:rPr>
              <a:t>, W., &amp; Russel, E. (2020)</a:t>
            </a:r>
            <a:r>
              <a:rPr lang="en-US" sz="3200">
                <a:ea typeface="+mn-lt"/>
                <a:cs typeface="+mn-lt"/>
              </a:rPr>
              <a:t>. </a:t>
            </a:r>
            <a:r>
              <a:rPr lang="en-US" sz="3200" i="1">
                <a:ea typeface="+mn-lt"/>
                <a:cs typeface="+mn-lt"/>
              </a:rPr>
              <a:t>Modeling multivariate time series by Vector Error Correction Models (VECM): Study of PT Kalbe Farma </a:t>
            </a:r>
            <a:r>
              <a:rPr lang="en-US" sz="3200" i="1" err="1">
                <a:ea typeface="+mn-lt"/>
                <a:cs typeface="+mn-lt"/>
              </a:rPr>
              <a:t>Tbk</a:t>
            </a:r>
            <a:r>
              <a:rPr lang="en-US" sz="3200" i="1">
                <a:ea typeface="+mn-lt"/>
                <a:cs typeface="+mn-lt"/>
              </a:rPr>
              <a:t>. and PT Kimia Farma (Persero) </a:t>
            </a:r>
            <a:r>
              <a:rPr lang="en-US" sz="3200" i="1" err="1">
                <a:ea typeface="+mn-lt"/>
                <a:cs typeface="+mn-lt"/>
              </a:rPr>
              <a:t>Tbk</a:t>
            </a:r>
            <a:r>
              <a:rPr lang="en-US" sz="3200">
                <a:ea typeface="+mn-lt"/>
                <a:cs typeface="+mn-lt"/>
              </a:rPr>
              <a:t>. Universitas Lampung, Indonesia. </a:t>
            </a:r>
            <a:endParaRPr lang="en-US" sz="3200">
              <a:ea typeface="Calibri"/>
              <a:cs typeface="Calibri"/>
            </a:endParaRPr>
          </a:p>
          <a:p>
            <a:pPr marL="571500" indent="-571500">
              <a:buFont typeface="Wingdings"/>
              <a:buChar char="v"/>
            </a:pPr>
            <a:endParaRPr lang="en-US" sz="3200">
              <a:ea typeface="+mn-lt"/>
              <a:cs typeface="+mn-lt"/>
            </a:endParaRPr>
          </a:p>
          <a:p>
            <a:pPr marL="571500" indent="-571500">
              <a:buFont typeface="Wingdings"/>
              <a:buChar char="v"/>
            </a:pPr>
            <a:r>
              <a:rPr lang="en-US" sz="3200" b="1">
                <a:ea typeface="+mn-lt"/>
                <a:cs typeface="+mn-lt"/>
              </a:rPr>
              <a:t>Bernanke, B. S., Boivin, J., &amp; Eliasz, P. (2004, January 1)</a:t>
            </a:r>
            <a:r>
              <a:rPr lang="en-US" sz="3200">
                <a:ea typeface="+mn-lt"/>
                <a:cs typeface="+mn-lt"/>
              </a:rPr>
              <a:t>. </a:t>
            </a:r>
            <a:r>
              <a:rPr lang="en-US" sz="3200" i="1">
                <a:ea typeface="+mn-lt"/>
                <a:cs typeface="+mn-lt"/>
              </a:rPr>
              <a:t>Measuring the effects of monetary policy: A Factor-Augmented Vector Autoregressive (FAVAR) approach</a:t>
            </a:r>
            <a:r>
              <a:rPr lang="en-US" sz="3200">
                <a:ea typeface="+mn-lt"/>
                <a:cs typeface="+mn-lt"/>
              </a:rPr>
              <a:t> (NBER Working Paper No. 10220). National Bureau of Economic Research. </a:t>
            </a:r>
            <a:endParaRPr lang="en-US" sz="3200">
              <a:ea typeface="Calibri"/>
              <a:cs typeface="Calibri"/>
            </a:endParaRPr>
          </a:p>
          <a:p>
            <a:pPr marL="571500" indent="-571500">
              <a:buFont typeface="Wingdings"/>
              <a:buChar char="v"/>
            </a:pPr>
            <a:endParaRPr lang="en-US" sz="3200">
              <a:ea typeface="+mn-lt"/>
              <a:cs typeface="+mn-lt"/>
            </a:endParaRPr>
          </a:p>
          <a:p>
            <a:pPr marL="571500" indent="-571500">
              <a:buFont typeface="Wingdings"/>
              <a:buChar char="v"/>
            </a:pPr>
            <a:r>
              <a:rPr lang="en-US" sz="3200" b="1">
                <a:ea typeface="+mn-lt"/>
                <a:cs typeface="+mn-lt"/>
              </a:rPr>
              <a:t>Szydlo, J. (2023, August 21)</a:t>
            </a:r>
            <a:r>
              <a:rPr lang="en-US" sz="3200">
                <a:ea typeface="+mn-lt"/>
                <a:cs typeface="+mn-lt"/>
              </a:rPr>
              <a:t>. </a:t>
            </a:r>
            <a:r>
              <a:rPr lang="en-US" sz="3200" i="1">
                <a:ea typeface="+mn-lt"/>
                <a:cs typeface="+mn-lt"/>
              </a:rPr>
              <a:t>Forecasting credit dynamics: VAR, VECM or modern Factor-Augmented VAR approach</a:t>
            </a:r>
            <a:r>
              <a:rPr lang="en-US" sz="3200">
                <a:ea typeface="+mn-lt"/>
                <a:cs typeface="+mn-lt"/>
              </a:rPr>
              <a:t>. University of Warwick &amp; Monash University.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C3942CE-6A38-4E42-B7C0-D8D94DCE086F}"/>
              </a:ext>
            </a:extLst>
          </p:cNvPr>
          <p:cNvGrpSpPr/>
          <p:nvPr/>
        </p:nvGrpSpPr>
        <p:grpSpPr>
          <a:xfrm>
            <a:off x="833566" y="434378"/>
            <a:ext cx="16545910" cy="869674"/>
            <a:chOff x="966916" y="550086"/>
            <a:chExt cx="16230600" cy="806101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032D6A4-EF84-09A0-26A9-F61F5416046C}"/>
                </a:ext>
              </a:extLst>
            </p:cNvPr>
            <p:cNvGrpSpPr/>
            <p:nvPr/>
          </p:nvGrpSpPr>
          <p:grpSpPr>
            <a:xfrm>
              <a:off x="1187123" y="550086"/>
              <a:ext cx="16010393" cy="775707"/>
              <a:chOff x="1187123" y="550086"/>
              <a:chExt cx="16010393" cy="775707"/>
            </a:xfrm>
          </p:grpSpPr>
          <p:grpSp>
            <p:nvGrpSpPr>
              <p:cNvPr id="28" name="Group 42">
                <a:extLst>
                  <a:ext uri="{FF2B5EF4-FFF2-40B4-BE49-F238E27FC236}">
                    <a16:creationId xmlns:a16="http://schemas.microsoft.com/office/drawing/2014/main" id="{0B634FEC-7DCA-F116-550E-1D69E8B1822E}"/>
                  </a:ext>
                </a:extLst>
              </p:cNvPr>
              <p:cNvGrpSpPr/>
              <p:nvPr/>
            </p:nvGrpSpPr>
            <p:grpSpPr>
              <a:xfrm>
                <a:off x="1187123" y="550086"/>
                <a:ext cx="13117261" cy="775707"/>
                <a:chOff x="0" y="-38100"/>
                <a:chExt cx="10952656" cy="647700"/>
              </a:xfrm>
            </p:grpSpPr>
            <p:sp>
              <p:nvSpPr>
                <p:cNvPr id="35" name="Freeform 43">
                  <a:extLst>
                    <a:ext uri="{FF2B5EF4-FFF2-40B4-BE49-F238E27FC236}">
                      <a16:creationId xmlns:a16="http://schemas.microsoft.com/office/drawing/2014/main" id="{A7887751-2DBA-BCCB-345E-5DEE15B4BD2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0952656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952656" h="609600">
                      <a:moveTo>
                        <a:pt x="203200" y="0"/>
                      </a:moveTo>
                      <a:lnTo>
                        <a:pt x="10952656" y="0"/>
                      </a:lnTo>
                      <a:lnTo>
                        <a:pt x="10749456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36656B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6" name="TextBox 44">
                  <a:extLst>
                    <a:ext uri="{FF2B5EF4-FFF2-40B4-BE49-F238E27FC236}">
                      <a16:creationId xmlns:a16="http://schemas.microsoft.com/office/drawing/2014/main" id="{2D67F685-8A1E-E3CC-F572-ABD6E67E6A5E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0749456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29" name="Group 45">
                <a:extLst>
                  <a:ext uri="{FF2B5EF4-FFF2-40B4-BE49-F238E27FC236}">
                    <a16:creationId xmlns:a16="http://schemas.microsoft.com/office/drawing/2014/main" id="{A4BD8E5F-7EA9-40D2-578A-C5A7DE447D5B}"/>
                  </a:ext>
                </a:extLst>
              </p:cNvPr>
              <p:cNvGrpSpPr/>
              <p:nvPr/>
            </p:nvGrpSpPr>
            <p:grpSpPr>
              <a:xfrm>
                <a:off x="14322527" y="550086"/>
                <a:ext cx="1041917" cy="775707"/>
                <a:chOff x="0" y="-38100"/>
                <a:chExt cx="869980" cy="647700"/>
              </a:xfrm>
            </p:grpSpPr>
            <p:sp>
              <p:nvSpPr>
                <p:cNvPr id="33" name="Freeform 46">
                  <a:extLst>
                    <a:ext uri="{FF2B5EF4-FFF2-40B4-BE49-F238E27FC236}">
                      <a16:creationId xmlns:a16="http://schemas.microsoft.com/office/drawing/2014/main" id="{1B0B635D-9010-A162-6EA3-44E01275C6B8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8699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69980" h="609600">
                      <a:moveTo>
                        <a:pt x="203200" y="0"/>
                      </a:moveTo>
                      <a:lnTo>
                        <a:pt x="869980" y="0"/>
                      </a:lnTo>
                      <a:lnTo>
                        <a:pt x="6667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9BBB59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4" name="TextBox 47">
                  <a:extLst>
                    <a:ext uri="{FF2B5EF4-FFF2-40B4-BE49-F238E27FC236}">
                      <a16:creationId xmlns:a16="http://schemas.microsoft.com/office/drawing/2014/main" id="{96F78EBC-B84E-CB50-EB7B-9B59D5485DA6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6667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  <p:grpSp>
            <p:nvGrpSpPr>
              <p:cNvPr id="30" name="Group 48">
                <a:extLst>
                  <a:ext uri="{FF2B5EF4-FFF2-40B4-BE49-F238E27FC236}">
                    <a16:creationId xmlns:a16="http://schemas.microsoft.com/office/drawing/2014/main" id="{4E9FF554-62B7-DFA5-2648-E24F838A38C2}"/>
                  </a:ext>
                </a:extLst>
              </p:cNvPr>
              <p:cNvGrpSpPr/>
              <p:nvPr/>
            </p:nvGrpSpPr>
            <p:grpSpPr>
              <a:xfrm>
                <a:off x="15364444" y="550086"/>
                <a:ext cx="1833072" cy="775707"/>
                <a:chOff x="0" y="-38100"/>
                <a:chExt cx="1530580" cy="647700"/>
              </a:xfrm>
            </p:grpSpPr>
            <p:sp>
              <p:nvSpPr>
                <p:cNvPr id="31" name="Freeform 49">
                  <a:extLst>
                    <a:ext uri="{FF2B5EF4-FFF2-40B4-BE49-F238E27FC236}">
                      <a16:creationId xmlns:a16="http://schemas.microsoft.com/office/drawing/2014/main" id="{3D5B89F7-CD0B-D436-A23E-212C5A8A3963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1530580" cy="6096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30580" h="609600">
                      <a:moveTo>
                        <a:pt x="203200" y="0"/>
                      </a:moveTo>
                      <a:lnTo>
                        <a:pt x="1530580" y="0"/>
                      </a:lnTo>
                      <a:lnTo>
                        <a:pt x="1327380" y="609600"/>
                      </a:lnTo>
                      <a:lnTo>
                        <a:pt x="0" y="609600"/>
                      </a:lnTo>
                      <a:lnTo>
                        <a:pt x="203200" y="0"/>
                      </a:lnTo>
                      <a:close/>
                    </a:path>
                  </a:pathLst>
                </a:custGeom>
                <a:solidFill>
                  <a:srgbClr val="75B06F"/>
                </a:solidFill>
              </p:spPr>
              <p:txBody>
                <a:bodyPr/>
                <a:lstStyle/>
                <a:p>
                  <a:endParaRPr lang="en-IN"/>
                </a:p>
              </p:txBody>
            </p:sp>
            <p:sp>
              <p:nvSpPr>
                <p:cNvPr id="32" name="TextBox 50">
                  <a:extLst>
                    <a:ext uri="{FF2B5EF4-FFF2-40B4-BE49-F238E27FC236}">
                      <a16:creationId xmlns:a16="http://schemas.microsoft.com/office/drawing/2014/main" id="{6DEE14F3-E2B2-88BC-4F81-DDD5EEEF1EA4}"/>
                    </a:ext>
                  </a:extLst>
                </p:cNvPr>
                <p:cNvSpPr txBox="1"/>
                <p:nvPr/>
              </p:nvSpPr>
              <p:spPr>
                <a:xfrm>
                  <a:off x="101600" y="-38100"/>
                  <a:ext cx="1327380" cy="647700"/>
                </a:xfrm>
                <a:prstGeom prst="rect">
                  <a:avLst/>
                </a:prstGeom>
              </p:spPr>
              <p:txBody>
                <a:bodyPr lIns="50800" tIns="50800" rIns="50800" bIns="50800" rtlCol="0" anchor="ctr"/>
                <a:lstStyle/>
                <a:p>
                  <a:pPr algn="ctr">
                    <a:lnSpc>
                      <a:spcPts val="2659"/>
                    </a:lnSpc>
                  </a:pPr>
                  <a:endParaRPr/>
                </a:p>
              </p:txBody>
            </p:sp>
          </p:grpSp>
        </p:grpSp>
        <p:sp>
          <p:nvSpPr>
            <p:cNvPr id="26" name="Freeform 52">
              <a:extLst>
                <a:ext uri="{FF2B5EF4-FFF2-40B4-BE49-F238E27FC236}">
                  <a16:creationId xmlns:a16="http://schemas.microsoft.com/office/drawing/2014/main" id="{BF4B68E8-D02E-DBE9-54AA-A5A5734202F6}"/>
                </a:ext>
              </a:extLst>
            </p:cNvPr>
            <p:cNvSpPr/>
            <p:nvPr/>
          </p:nvSpPr>
          <p:spPr>
            <a:xfrm>
              <a:off x="966916" y="565322"/>
              <a:ext cx="718334" cy="790865"/>
            </a:xfrm>
            <a:custGeom>
              <a:avLst/>
              <a:gdLst/>
              <a:ahLst/>
              <a:cxnLst/>
              <a:rect l="l" t="t" r="r" b="b"/>
              <a:pathLst>
                <a:path w="189191" h="208294">
                  <a:moveTo>
                    <a:pt x="94595" y="0"/>
                  </a:moveTo>
                  <a:lnTo>
                    <a:pt x="94595" y="0"/>
                  </a:lnTo>
                  <a:cubicBezTo>
                    <a:pt x="146839" y="0"/>
                    <a:pt x="189191" y="42352"/>
                    <a:pt x="189191" y="94595"/>
                  </a:cubicBezTo>
                  <a:lnTo>
                    <a:pt x="189191" y="113698"/>
                  </a:lnTo>
                  <a:cubicBezTo>
                    <a:pt x="189191" y="138787"/>
                    <a:pt x="179225" y="162847"/>
                    <a:pt x="161484" y="180587"/>
                  </a:cubicBezTo>
                  <a:cubicBezTo>
                    <a:pt x="143744" y="198327"/>
                    <a:pt x="119684" y="208294"/>
                    <a:pt x="94595" y="208294"/>
                  </a:cubicBezTo>
                  <a:lnTo>
                    <a:pt x="94595" y="208294"/>
                  </a:lnTo>
                  <a:cubicBezTo>
                    <a:pt x="69507" y="208294"/>
                    <a:pt x="45446" y="198327"/>
                    <a:pt x="27706" y="180587"/>
                  </a:cubicBezTo>
                  <a:cubicBezTo>
                    <a:pt x="9966" y="162847"/>
                    <a:pt x="0" y="138787"/>
                    <a:pt x="0" y="113698"/>
                  </a:cubicBezTo>
                  <a:lnTo>
                    <a:pt x="0" y="94595"/>
                  </a:lnTo>
                  <a:cubicBezTo>
                    <a:pt x="0" y="69507"/>
                    <a:pt x="9966" y="45446"/>
                    <a:pt x="27706" y="27706"/>
                  </a:cubicBezTo>
                  <a:cubicBezTo>
                    <a:pt x="45446" y="9966"/>
                    <a:pt x="69507" y="0"/>
                    <a:pt x="94595" y="0"/>
                  </a:cubicBezTo>
                  <a:close/>
                </a:path>
              </a:pathLst>
            </a:custGeom>
            <a:solidFill>
              <a:srgbClr val="75B06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1A7E53A4-CE6F-E869-6B8D-AADAE6E99DE6}"/>
              </a:ext>
            </a:extLst>
          </p:cNvPr>
          <p:cNvSpPr txBox="1"/>
          <p:nvPr/>
        </p:nvSpPr>
        <p:spPr>
          <a:xfrm>
            <a:off x="1880695" y="441112"/>
            <a:ext cx="9144000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5400">
                <a:solidFill>
                  <a:schemeClr val="bg1"/>
                </a:solidFill>
                <a:latin typeface="League Gothic"/>
                <a:ea typeface="Calibri"/>
                <a:cs typeface="Calibri"/>
              </a:rPr>
              <a:t>REFERENCES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0355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A5CD4-3296-22F9-1F16-CC41BE69D2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089E887-11FD-69E3-C405-FE6BD1A3285A}"/>
              </a:ext>
            </a:extLst>
          </p:cNvPr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2"/>
            <a:stretch>
              <a:fillRect t="-16666" b="-16666"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79FCBE4-4B83-6CD9-98AD-7B61BCBEEABA}"/>
              </a:ext>
            </a:extLst>
          </p:cNvPr>
          <p:cNvSpPr txBox="1"/>
          <p:nvPr/>
        </p:nvSpPr>
        <p:spPr>
          <a:xfrm>
            <a:off x="1028700" y="4312968"/>
            <a:ext cx="16230600" cy="19073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2836"/>
              </a:lnSpc>
              <a:spcBef>
                <a:spcPct val="0"/>
              </a:spcBef>
            </a:pPr>
            <a:r>
              <a:rPr lang="en-US" sz="19900">
                <a:solidFill>
                  <a:srgbClr val="36656B"/>
                </a:solidFill>
                <a:latin typeface="League Gothic"/>
                <a:ea typeface="League Gothic"/>
                <a:cs typeface="League Gothic"/>
                <a:sym typeface="League Gothic"/>
              </a:rPr>
              <a:t>THANK YOU</a:t>
            </a:r>
          </a:p>
        </p:txBody>
      </p:sp>
      <p:grpSp>
        <p:nvGrpSpPr>
          <p:cNvPr id="3" name="Group 10">
            <a:extLst>
              <a:ext uri="{FF2B5EF4-FFF2-40B4-BE49-F238E27FC236}">
                <a16:creationId xmlns:a16="http://schemas.microsoft.com/office/drawing/2014/main" id="{62D79A79-25E2-26C0-894B-EEDCFDEA2A18}"/>
              </a:ext>
            </a:extLst>
          </p:cNvPr>
          <p:cNvGrpSpPr/>
          <p:nvPr/>
        </p:nvGrpSpPr>
        <p:grpSpPr>
          <a:xfrm rot="5400000">
            <a:off x="-5756050" y="4399194"/>
            <a:ext cx="13117261" cy="730077"/>
            <a:chOff x="0" y="0"/>
            <a:chExt cx="10952656" cy="609600"/>
          </a:xfrm>
        </p:grpSpPr>
        <p:sp>
          <p:nvSpPr>
            <p:cNvPr id="4" name="Freeform 11">
              <a:extLst>
                <a:ext uri="{FF2B5EF4-FFF2-40B4-BE49-F238E27FC236}">
                  <a16:creationId xmlns:a16="http://schemas.microsoft.com/office/drawing/2014/main" id="{63DED425-0A64-719B-87A4-A7E9D04788F5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12">
              <a:extLst>
                <a:ext uri="{FF2B5EF4-FFF2-40B4-BE49-F238E27FC236}">
                  <a16:creationId xmlns:a16="http://schemas.microsoft.com/office/drawing/2014/main" id="{E27A5FC0-DC91-45A5-E8E7-F4292AE084A4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10">
            <a:extLst>
              <a:ext uri="{FF2B5EF4-FFF2-40B4-BE49-F238E27FC236}">
                <a16:creationId xmlns:a16="http://schemas.microsoft.com/office/drawing/2014/main" id="{1EEAF417-E8DE-7DB1-E12F-B2533C886C72}"/>
              </a:ext>
            </a:extLst>
          </p:cNvPr>
          <p:cNvGrpSpPr/>
          <p:nvPr/>
        </p:nvGrpSpPr>
        <p:grpSpPr>
          <a:xfrm rot="5400000">
            <a:off x="-4817274" y="4390011"/>
            <a:ext cx="13117261" cy="505085"/>
            <a:chOff x="0" y="0"/>
            <a:chExt cx="10952656" cy="609600"/>
          </a:xfrm>
        </p:grpSpPr>
        <p:sp>
          <p:nvSpPr>
            <p:cNvPr id="8" name="Freeform 11">
              <a:extLst>
                <a:ext uri="{FF2B5EF4-FFF2-40B4-BE49-F238E27FC236}">
                  <a16:creationId xmlns:a16="http://schemas.microsoft.com/office/drawing/2014/main" id="{50B7A8B3-EC85-31A3-F6CD-63E822428D20}"/>
                </a:ext>
              </a:extLst>
            </p:cNvPr>
            <p:cNvSpPr/>
            <p:nvPr/>
          </p:nvSpPr>
          <p:spPr>
            <a:xfrm>
              <a:off x="0" y="0"/>
              <a:ext cx="10952656" cy="609600"/>
            </a:xfrm>
            <a:custGeom>
              <a:avLst/>
              <a:gdLst/>
              <a:ahLst/>
              <a:cxnLst/>
              <a:rect l="l" t="t" r="r" b="b"/>
              <a:pathLst>
                <a:path w="10952656" h="609600">
                  <a:moveTo>
                    <a:pt x="203200" y="0"/>
                  </a:moveTo>
                  <a:lnTo>
                    <a:pt x="10952656" y="0"/>
                  </a:lnTo>
                  <a:lnTo>
                    <a:pt x="1074945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6656B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12">
              <a:extLst>
                <a:ext uri="{FF2B5EF4-FFF2-40B4-BE49-F238E27FC236}">
                  <a16:creationId xmlns:a16="http://schemas.microsoft.com/office/drawing/2014/main" id="{7109DC6E-A31A-177E-BE4D-AB1C7922EC16}"/>
                </a:ext>
              </a:extLst>
            </p:cNvPr>
            <p:cNvSpPr txBox="1"/>
            <p:nvPr/>
          </p:nvSpPr>
          <p:spPr>
            <a:xfrm>
              <a:off x="101600" y="-38100"/>
              <a:ext cx="10749456" cy="6477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895559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3289</Words>
  <Application>Microsoft Office PowerPoint</Application>
  <PresentationFormat>Custom</PresentationFormat>
  <Paragraphs>725</Paragraphs>
  <Slides>39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39</vt:i4>
      </vt:variant>
    </vt:vector>
  </HeadingPairs>
  <TitlesOfParts>
    <vt:vector size="48" baseType="lpstr">
      <vt:lpstr>League Gothic</vt:lpstr>
      <vt:lpstr>Arial</vt:lpstr>
      <vt:lpstr>Calibri</vt:lpstr>
      <vt:lpstr>Montserrat Bold</vt:lpstr>
      <vt:lpstr>Quattrocento</vt:lpstr>
      <vt:lpstr>Google Sans Text</vt:lpstr>
      <vt:lpstr>Wingdings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Modern Business Forecast Presentation</dc:title>
  <dc:creator>Lenovo</dc:creator>
  <cp:lastModifiedBy>VAIDEHI THAKARE - 86072500043</cp:lastModifiedBy>
  <cp:revision>58</cp:revision>
  <dcterms:created xsi:type="dcterms:W3CDTF">2006-08-16T00:00:00Z</dcterms:created>
  <dcterms:modified xsi:type="dcterms:W3CDTF">2026-04-17T04:35:25Z</dcterms:modified>
  <dc:identifier>DAHD_uiUi0g</dc:identifier>
</cp:coreProperties>
</file>